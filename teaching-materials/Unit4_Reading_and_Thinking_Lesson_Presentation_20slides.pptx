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第1页 | 00:00–00:20 | 20秒</a:t>
            </a:r>
          </a:p>
          <a:p>
            <a:r>
              <a:t>【说课】各位评委老师好。今天我说课的内容是 Unit 4 Reading and Thinking: Listening to How Bodies Talk。我将以“读懂差异、尊重语境、得体交流”为主线，呈现一节从阅读理解走向建议表达的课。</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第2页 | 00:20–00:45 | 25秒</a:t>
            </a:r>
          </a:p>
          <a:p>
            <a:r>
              <a:t>【说课】本次展示分为教材、学情、目标、重难点、过程和反思六个部分。总预算十五分钟，其中设计说明三分四十秒，英文无生试讲九分三十秒，反思与结束一分五十秒。试讲呈现关键阅读片段和教师示范，原课堂仍按四十五分钟安排。</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第3页 | 00:45–01:20 | 35秒</a:t>
            </a:r>
          </a:p>
          <a:p>
            <a:r>
              <a:t>【说课】本课来自人教版高中英语选择性必修第一册，第三十八至三十九页。虽然标题中有 Listening，但这里是一篇阅读语篇，标题通过拟人突出身体也能表达意义。内容围绕文化差异、共同例子和微笑的多种作用展开。教学由标题预测、结构梳理和细节比较，走向给访华朋友 Tim 提建议，帮助学生将阅读信息转化为有语境的交际表达。</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第4页 | 01:20–01:55 | 35秒</a:t>
            </a:r>
          </a:p>
          <a:p>
            <a:r>
              <a:t>【说课】学生通常有手势的生活经验和基本阅读能力，但可能凭直觉判断含义，或者记住国家名称却混淆动作与含义，也可能把个别文化例子当成所有人的规则。我因此提供动作、含义、语境三栏表，以及情境、建议、理由句框。较熟练的学生进一步比较场景和限定表达。学情是备课假设，真实教学中还需用入口回答与任务单检验。</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第5页 | 01:55–02:35 | 40秒</a:t>
            </a:r>
          </a:p>
          <a:p>
            <a:r>
              <a:t>【说课】目标依据课件的三项学习目标展开，并对应英语学科四个维度。语言能力落实为结构理解、细节提取和建议表达；思维品质强调引用文本和限定结论；文化意识强调尊重差异；学习能力通过伙伴核对和修改建议体现。评价证据包括六个段落功能、至少四项准确文化比较、至少四种微笑用途，以及三条带情境和理由的建议，使目标能够被观察和检查。</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第6页 | 02:35–03:10 | 35秒</a:t>
            </a:r>
          </a:p>
          <a:p>
            <a:r>
              <a:t>【说课】重点是根据主题句和例子读懂结构，比较差异与相似性，并将阅读所得用于建议。难点是同时关联动作、含义和语境，避免文化泛化，再形成合适的表达。突破方式是示范一项表格记录、追问文本依据、引导伙伴核验，最后用情境加建议加理由的句框修改过于绝对的表述。</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第7页 | 03:10–03:40 | 30秒</a:t>
            </a:r>
          </a:p>
          <a:p>
            <a:r>
              <a:t>【说课转试讲】完整四十五分钟课堂由 Arouse、Analyse、Arrange、Apply、Assess 和 Assign 贯穿。接下来的英文无生试讲压缩独立阅读与合作准备时间，以短暂停顿和教师示范展示关键引导、证据核对与迁移任务，保留学习链条和评价标准。</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第8页 | 03:40–04:15 | 35秒</a:t>
            </a:r>
          </a:p>
          <a:p>
            <a:r>
              <a:t>【无生试讲｜英语】Good morning, everyone. Watch me without listening to any words.</a:t>
            </a:r>
          </a:p>
          <a:p>
            <a:r>
              <a:t>【操作】教师先挥手，再将双手并拢放在脸颊旁，闭眼，演示“hello”与“sleep”；无需媒体播放。</a:t>
            </a:r>
          </a:p>
          <a:p>
            <a:r>
              <a:t>What did you notice? What might these movements mean?</a:t>
            </a:r>
          </a:p>
          <a:p>
            <a:r>
              <a:t>【操作】停顿2秒后点击呈现观察与解释。</a:t>
            </a:r>
          </a:p>
          <a:p>
            <a:r>
              <a:t>A wave may mean hello here. Hands beside the head may suggest sleep. Our bodies can communicate, too. Today we will read about different meanings, respect cultural differences, and give a visitor useful advice.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第9页 | 04:15–05:00 | 45秒</a:t>
            </a:r>
          </a:p>
          <a:p>
            <a:r>
              <a:t>【无生试讲｜英语】Look at the title: “Listening to How Bodies Talk”. Can bodies really talk with words? Think for a moment.</a:t>
            </a:r>
          </a:p>
          <a:p>
            <a:r>
              <a:t>【操作】停顿2秒，点击呈现 personification。</a:t>
            </a:r>
          </a:p>
          <a:p>
            <a:r>
              <a:t>The writer gives bodies a human action. This is personification. It suggests that movements can communicate ideas and feelings. Which prediction best fits the title and picture: only similarities, or body language in different cultures?</a:t>
            </a:r>
          </a:p>
          <a:p>
            <a:r>
              <a:t>【操作】点击揭示 D，强调预测并非最终结论。</a:t>
            </a:r>
          </a:p>
          <a:p>
            <a:r>
              <a:t>D is our best prediction. Let us read to check it. A prediction starts our reading; the text will provide the evidence.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第10页 | 05:00–06:00 | 60秒</a:t>
            </a:r>
          </a:p>
          <a:p>
            <a:r>
              <a:t>【无生试讲｜英语】Skim the passage and focus on the topic sentences. Match each paragraph to its function.</a:t>
            </a:r>
          </a:p>
          <a:p>
            <a:r>
              <a:t>【操作】停顿2秒；点击呈现六项核对答案。</a:t>
            </a:r>
          </a:p>
          <a:p>
            <a:r>
              <a:t>Our matches are one B, two A, three F, four C, five D, and six E. B summarises paragraph one; it is not the exact opening sentence. Find the supporting ideas about words and body language expressing thoughts and feelings.</a:t>
            </a:r>
          </a:p>
          <a:p>
            <a:r>
              <a:t>Now group the paragraphs. Paragraph one introduces the topic. Paragraphs two to four show cultural differences. Paragraph five gives similarities. Paragraph six explains different uses.</a:t>
            </a:r>
          </a:p>
          <a:p>
            <a:r>
              <a:t>【操作】依次点击显示四部分结构。</a:t>
            </a:r>
          </a:p>
          <a:p>
            <a:r>
              <a:t>Topic sentences and examples work together. We now have a map for detailed reading. Our title prediction is supported, and the passage also explores shared examples and multiple uses.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第11页 | 06:00–07:05 | 65秒</a:t>
            </a:r>
          </a:p>
          <a:p>
            <a:r>
              <a:t>【无生试讲｜英语】Read paragraph two. What can eye contact mean? Record the gesture, meaning, and context together.</a:t>
            </a:r>
          </a:p>
          <a:p>
            <a:r>
              <a:t>【操作】指向第一条原文，停顿2秒后点击示范答案。</a:t>
            </a:r>
          </a:p>
          <a:p>
            <a:r>
              <a:t>In some countries, eye contact displays interest. The passage does not name these countries, so we should not add names. It also gives an example of eye contact between men and women not being socially approved in many Middle Eastern countries. Keep that particular context in your answer.</a:t>
            </a:r>
          </a:p>
          <a:p>
            <a:r>
              <a:t>Now read the sentence about Japan. Looking down when speaking to an older person may demonstrate respect.</a:t>
            </a:r>
          </a:p>
          <a:p>
            <a:r>
              <a:t>【操作】依次点击另外两条表格记录。</a:t>
            </a:r>
          </a:p>
          <a:p>
            <a:r>
              <a:t>Does this mean every person in a country behaves in the same way? No. These are the passage’s cultural examples. Relationships and situations also matter. Accurate reading includes the context and words such as “may”.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第12页 | 07:05–08:00 | 55秒</a:t>
            </a:r>
          </a:p>
          <a:p>
            <a:r>
              <a:t>【无生试讲｜英语】Now scan paragraphs three and four. The same gesture may carry different meanings. Find the OK sign and compare the examples.</a:t>
            </a:r>
          </a:p>
          <a:p>
            <a:r>
              <a:t>【操作】停顿2秒后点击呈现OK表格。</a:t>
            </a:r>
          </a:p>
          <a:p>
            <a:r>
              <a:t>In the passage, it can mean money in Japan and zero in France. It is not considered polite in Brazil and Germany. One gesture does not carry one fixed meaning.</a:t>
            </a:r>
          </a:p>
          <a:p>
            <a:r>
              <a:t>What about yes and no? In the comparison about Bulgaria and southern Albania, shaking the head means yes and nodding means no. Keep both the action and the meaning in your notes.</a:t>
            </a:r>
          </a:p>
          <a:p>
            <a:r>
              <a:t>【操作】点击呈现P4例子。</a:t>
            </a:r>
          </a:p>
          <a:p>
            <a:r>
              <a:t>Kissing a friend on the cheek is a greeting in countries such as France and Russia. Friendship is part of that example. Compare with evidence, rather than guessing from your own habits.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第13页 | 08:00–08:40 | 40秒</a:t>
            </a:r>
          </a:p>
          <a:p>
            <a:r>
              <a:t>【无生试讲｜英语】Are all meanings different? Read paragraph five. Hands together beside the head, with eyes closed, suggest sleep. A hand moving in circles over the stomach after a meal means “I am full” in the example.</a:t>
            </a:r>
          </a:p>
          <a:p>
            <a:r>
              <a:t>【操作】依次点击两项答案。</a:t>
            </a:r>
          </a:p>
          <a:p>
            <a:r>
              <a:t>Look carefully at “Some gestures seem to have the same meaning everywhere.” What does “seem” tell us?</a:t>
            </a:r>
          </a:p>
          <a:p>
            <a:r>
              <a:t>【操作】停顿2秒，点击呈现谨慎结论。</a:t>
            </a:r>
          </a:p>
          <a:p>
            <a:r>
              <a:t>The writer presents broadly shared examples. We should still check the situation before treating a meaning as universal. Differences and similarities can both help us understand one another.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第14页 | 08:40–09:30 | 50秒</a:t>
            </a:r>
          </a:p>
          <a:p>
            <a:r>
              <a:t>【无生试讲｜英语】Read paragraph six. A smile has many uses. Find at least four uses and point to the supporting words.</a:t>
            </a:r>
          </a:p>
          <a:p>
            <a:r>
              <a:t>【操作】停顿2秒后按两类用途点击显示答案。</a:t>
            </a:r>
          </a:p>
          <a:p>
            <a:r>
              <a:t>A smile can help us find friends, break down barriers, apologise, greet someone, ask for help, or start a conversation. It can also help us get through difficult situations, feel happier and stronger, and give comfort to a friend who feels down or lonely.</a:t>
            </a:r>
          </a:p>
          <a:p>
            <a:r>
              <a:t>How does this support the final part of our structure?</a:t>
            </a:r>
          </a:p>
          <a:p>
            <a:r>
              <a:t>【操作】停顿2秒。</a:t>
            </a:r>
          </a:p>
          <a:p>
            <a:r>
              <a:t>One form of body language can serve several purposes. To understand a smile, notice who is smiling, to whom, and in what situation.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第15页 | 09:30–10:25 | 55秒</a:t>
            </a:r>
          </a:p>
          <a:p>
            <a:r>
              <a:t>【无生试讲｜英语】Our friend Tim is visiting China for the first time. Use what you have learnt to give him advice for three situations: meeting people, talking to others, and sitting or standing in a formal setting.</a:t>
            </a:r>
          </a:p>
          <a:p>
            <a:r>
              <a:t>Use this frame: “When you …, you could … because …”. Work with a partner and prepare at least three points. Include a situation and a reason for each.</a:t>
            </a:r>
          </a:p>
          <a:p>
            <a:r>
              <a:t>【操作】点击呈现句框；无生试讲停顿2秒，不等待真实课堂的合作准备时间。</a:t>
            </a:r>
          </a:p>
          <a:p>
            <a:r>
              <a:t>For a first meeting, an appropriate handshake or nod may be a good choice. Follow your host’s lead, because greetings depend on the relationship and setting. Advice should help Tim make a choice, rather than give him an absolute rule for every person in China.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第16页 | 10:25–11:25 | 60秒</a:t>
            </a:r>
          </a:p>
          <a:p>
            <a:r>
              <a:t>【无生试讲｜英语】Here is a short model message for Tim.</a:t>
            </a:r>
          </a:p>
          <a:p>
            <a:r>
              <a:t>【操作】教师示范；依次点击三条建议，不虚构学生已经完成任务。</a:t>
            </a:r>
          </a:p>
          <a:p>
            <a:r>
              <a:t>Hi, Tim. At a first meeting, an appropriate handshake or nod may be suitable because greetings depend on people and settings. Follow your host’s lead. When talking, use comfortable eye contact without staring, because it can help you show attention. In a formal meeting, sit or stand attentively, because it helps you show that you are listening.</a:t>
            </a:r>
          </a:p>
          <a:p>
            <a:r>
              <a:t>Now let us improve this sentence: “Everyone in China always shakes hands.”</a:t>
            </a:r>
          </a:p>
          <a:p>
            <a:r>
              <a:t>【操作】停顿2秒后点击显示修改。</a:t>
            </a:r>
          </a:p>
          <a:p>
            <a:r>
              <a:t>“At a first meeting, an appropriate handshake or nod may be suitable.” What improved? We added a situation and removed an absolute claim. Crossed legs or folded arms alone do not prove disrespect, either. Check the context and revise one sentence in your own message.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第17页 | 11:25–12:20 | 55秒</a:t>
            </a:r>
          </a:p>
          <a:p>
            <a:r>
              <a:t>【无生试讲｜英语】Let us rebuild our reading map. We started with an introduction, compared differences, found similarities, and explored different uses.</a:t>
            </a:r>
          </a:p>
          <a:p>
            <a:r>
              <a:t>【操作】四个分支按顺序点击显示；指向关键词串联内容。</a:t>
            </a:r>
          </a:p>
          <a:p>
            <a:r>
              <a:t>Give one comparison, one shared example, and one use of smiling. For example, the OK sign has different meanings in the passage. Hands beside the head can suggest sleep. A smile can comfort a friend.</a:t>
            </a:r>
          </a:p>
          <a:p>
            <a:r>
              <a:t>What should we do when meanings are unfamiliar? Learn about the culture, understand the situation, and respect differences.</a:t>
            </a:r>
          </a:p>
          <a:p>
            <a:r>
              <a:t>Complete this exit sentence: “Before interpreting a gesture, I should …”.</a:t>
            </a:r>
          </a:p>
          <a:p>
            <a:r>
              <a:t>【操作】停顿2秒后教师给出示范。</a:t>
            </a:r>
          </a:p>
          <a:p>
            <a:r>
              <a:t>“… consider the situation and look for evidence.” This is the principle we can take beyond today’s lesson.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第18页 | 12:20–13:10 | 50秒</a:t>
            </a:r>
          </a:p>
          <a:p>
            <a:r>
              <a:t>【无生试讲｜英语】Before we finish, check our goals. Can you explain the four-part structure, compare examples accurately, identify several uses of smiling, and give Tim three pieces of advice with reasons? Choose one area to improve.</a:t>
            </a:r>
          </a:p>
          <a:p>
            <a:r>
              <a:t>For homework, Level A is to review the passage and organise the cultural differences in a gesture, meaning, and region table. Level B is to find another example of body language and share it next class. For your researched example, record the source and the situation.</a:t>
            </a:r>
          </a:p>
          <a:p>
            <a:r>
              <a:t>【操作】依次显示自评与两项作业，保留原课件A、B要求。</a:t>
            </a:r>
          </a:p>
          <a:p>
            <a:r>
              <a:t>Respect cultural differences, and let sincerity and smiles connect us. Thank you, everyone.</a:t>
            </a:r>
          </a:p>
          <a:p>
            <a:r>
              <a:t>【操作】结束英文课堂身份，下一页恢复中文说课。</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第19页 | 13:10–14:35 | 85秒</a:t>
            </a:r>
          </a:p>
          <a:p>
            <a:r>
              <a:t>【教学反思｜说课】对本次设计与试讲，我从三个方面反思。第一，标题预测、结构图、比较表和建议任务构成连续的学习链条，能帮助阅读由找信息走向运用信息。但是否真正达成，要在真实课堂检查学生能否同时记录动作、含义和语境，并说出依据，而不是只看表格是否填满。第二，文化比较容易被简化成固定标签。后续应检查建议中的 always、everyone 等词，观察学生能否补充人物关系、场合和 may 等限定表达。第三，学生阅读速度与表达基础有差异。需要支持的学生可先使用关键词和句框，较熟练的学生比较不同场景，并解释一次修改。若建议只在重复教师范句，我会增加“这个建议何时不合适”的追问。后续以任务单、修改前后建议和出口句收集证据，再调整支架与时间。这些反思依据设计和无生试讲，不能代替真实课堂的学习成效证据。</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第20页 | 14:35–15:00 | 25秒</a:t>
            </a:r>
          </a:p>
          <a:p>
            <a:r>
              <a:t>【结束】本课以语篇结构帮助学生读准信息，以文本证据帮助他们理解文化差异，再以情境和理由形成得体建议。以上是我的说课与无生试讲，感谢各位评委老师，请批评指正。</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5.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5.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5.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5.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5.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5.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5.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5.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5.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5.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6.xml"/><Relationship Id="rId8" Type="http://schemas.openxmlformats.org/officeDocument/2006/relationships/slide" Target="slide7.xml"/><Relationship Id="rId9" Type="http://schemas.openxmlformats.org/officeDocument/2006/relationships/slide" Target="slide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5.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5.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3.jpg"/><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6.xml"/><Relationship Id="rId8" Type="http://schemas.openxmlformats.org/officeDocument/2006/relationships/slide" Target="slide7.xml"/><Relationship Id="rId9" Type="http://schemas.openxmlformats.org/officeDocument/2006/relationships/slide" Target="slide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5.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5.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5.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5.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9FA"/>
        </a:solidFill>
        <a:effectLst/>
      </p:bgPr>
    </p:bg>
    <p:spTree>
      <p:nvGrpSpPr>
        <p:cNvPr id="1" name=""/>
        <p:cNvGrpSpPr/>
        <p:nvPr/>
      </p:nvGrpSpPr>
      <p:grpSpPr/>
      <p:sp>
        <p:nvSpPr>
          <p:cNvPr id="2" name="Rectangle 1"/>
          <p:cNvSpPr/>
          <p:nvPr/>
        </p:nvSpPr>
        <p:spPr>
          <a:xfrm>
            <a:off x="0" y="0"/>
            <a:ext cx="219456" cy="685800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0" y="0"/>
            <a:ext cx="4425696" cy="6858000"/>
          </a:xfrm>
          <a:prstGeom prst="rect">
            <a:avLst/>
          </a:prstGeom>
          <a:solidFill>
            <a:srgbClr val="E7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58952" y="630936"/>
            <a:ext cx="6858000" cy="393192"/>
          </a:xfrm>
          <a:prstGeom prst="rect">
            <a:avLst/>
          </a:prstGeom>
          <a:noFill/>
        </p:spPr>
        <p:txBody>
          <a:bodyPr wrap="square" lIns="18288" rIns="18288" tIns="9144" bIns="9144">
            <a:spAutoFit/>
          </a:bodyPr>
          <a:lstStyle/>
          <a:p>
            <a:pPr algn="l">
              <a:lnSpc>
                <a:spcPct val="110000"/>
              </a:lnSpc>
              <a:spcAft>
                <a:spcPts val="500"/>
              </a:spcAft>
            </a:pPr>
            <a:r>
              <a:rPr sz="2100" b="1" lang="en-US">
                <a:solidFill>
                  <a:srgbClr val="167D89"/>
                </a:solidFill>
                <a:latin typeface="Arial"/>
                <a:ea typeface="Microsoft YaHei"/>
              </a:rPr>
              <a:t>UNIT 4   BODY LANGUAGE</a:t>
            </a:r>
          </a:p>
        </p:txBody>
      </p:sp>
      <p:sp>
        <p:nvSpPr>
          <p:cNvPr id="5" name="TextBox 4"/>
          <p:cNvSpPr txBox="1"/>
          <p:nvPr/>
        </p:nvSpPr>
        <p:spPr>
          <a:xfrm>
            <a:off x="758952" y="1472184"/>
            <a:ext cx="7315200" cy="1371600"/>
          </a:xfrm>
          <a:prstGeom prst="rect">
            <a:avLst/>
          </a:prstGeom>
          <a:noFill/>
        </p:spPr>
        <p:txBody>
          <a:bodyPr wrap="square" lIns="18288" rIns="18288" tIns="9144" bIns="9144">
            <a:spAutoFit/>
          </a:bodyPr>
          <a:lstStyle/>
          <a:p>
            <a:pPr algn="l">
              <a:lnSpc>
                <a:spcPct val="110000"/>
              </a:lnSpc>
              <a:spcAft>
                <a:spcPts val="500"/>
              </a:spcAft>
            </a:pPr>
            <a:r>
              <a:rPr sz="3800" b="1" lang="zh-CN">
                <a:solidFill>
                  <a:srgbClr val="183A50"/>
                </a:solidFill>
                <a:latin typeface="Microsoft YaHei"/>
                <a:ea typeface="Microsoft YaHei"/>
              </a:rPr>
              <a:t>读懂身体的语言</a:t>
            </a:r>
          </a:p>
          <a:p>
            <a:pPr algn="l">
              <a:lnSpc>
                <a:spcPct val="110000"/>
              </a:lnSpc>
              <a:spcAft>
                <a:spcPts val="500"/>
              </a:spcAft>
            </a:pPr>
            <a:r>
              <a:rPr sz="3800" b="1" lang="zh-CN">
                <a:solidFill>
                  <a:srgbClr val="183A50"/>
                </a:solidFill>
                <a:latin typeface="Microsoft YaHei"/>
                <a:ea typeface="Microsoft YaHei"/>
              </a:rPr>
              <a:t>理解文化的差异</a:t>
            </a:r>
          </a:p>
        </p:txBody>
      </p:sp>
      <p:sp>
        <p:nvSpPr>
          <p:cNvPr id="6" name="TextBox 5"/>
          <p:cNvSpPr txBox="1"/>
          <p:nvPr/>
        </p:nvSpPr>
        <p:spPr>
          <a:xfrm>
            <a:off x="786384" y="3300984"/>
            <a:ext cx="6766560" cy="1033271"/>
          </a:xfrm>
          <a:prstGeom prst="rect">
            <a:avLst/>
          </a:prstGeom>
          <a:noFill/>
        </p:spPr>
        <p:txBody>
          <a:bodyPr wrap="square" lIns="18288" rIns="18288" tIns="9144" bIns="9144">
            <a:spAutoFit/>
          </a:bodyPr>
          <a:lstStyle/>
          <a:p>
            <a:pPr algn="l">
              <a:lnSpc>
                <a:spcPct val="110000"/>
              </a:lnSpc>
              <a:spcAft>
                <a:spcPts val="500"/>
              </a:spcAft>
            </a:pPr>
            <a:r>
              <a:rPr sz="3100" b="1" lang="en-US">
                <a:solidFill>
                  <a:srgbClr val="167D89"/>
                </a:solidFill>
                <a:latin typeface="Arial"/>
                <a:ea typeface="Microsoft YaHei"/>
              </a:rPr>
              <a:t>Listening to</a:t>
            </a:r>
          </a:p>
          <a:p>
            <a:pPr algn="l">
              <a:lnSpc>
                <a:spcPct val="110000"/>
              </a:lnSpc>
              <a:spcAft>
                <a:spcPts val="500"/>
              </a:spcAft>
            </a:pPr>
            <a:r>
              <a:rPr sz="3100" b="1" lang="en-US">
                <a:solidFill>
                  <a:srgbClr val="167D89"/>
                </a:solidFill>
                <a:latin typeface="Arial"/>
                <a:ea typeface="Microsoft YaHei"/>
              </a:rPr>
              <a:t>How Bodies Talk</a:t>
            </a:r>
          </a:p>
        </p:txBody>
      </p:sp>
      <p:sp>
        <p:nvSpPr>
          <p:cNvPr id="7" name="TextBox 6"/>
          <p:cNvSpPr txBox="1"/>
          <p:nvPr/>
        </p:nvSpPr>
        <p:spPr>
          <a:xfrm>
            <a:off x="786384" y="4572000"/>
            <a:ext cx="6675120" cy="429768"/>
          </a:xfrm>
          <a:prstGeom prst="rect">
            <a:avLst/>
          </a:prstGeom>
          <a:noFill/>
        </p:spPr>
        <p:txBody>
          <a:bodyPr wrap="square" lIns="18288" rIns="18288" tIns="9144" bIns="9144">
            <a:spAutoFit/>
          </a:bodyPr>
          <a:lstStyle/>
          <a:p>
            <a:pPr algn="l">
              <a:lnSpc>
                <a:spcPct val="110000"/>
              </a:lnSpc>
              <a:spcAft>
                <a:spcPts val="500"/>
              </a:spcAft>
            </a:pPr>
            <a:r>
              <a:rPr sz="2200" b="0" lang="en-US">
                <a:solidFill>
                  <a:srgbClr val="526B78"/>
                </a:solidFill>
                <a:latin typeface="Arial"/>
                <a:ea typeface="Microsoft YaHei"/>
              </a:rPr>
              <a:t>Reading and Thinking</a:t>
            </a:r>
          </a:p>
        </p:txBody>
      </p:sp>
      <p:sp>
        <p:nvSpPr>
          <p:cNvPr id="8" name="Rectangle 7"/>
          <p:cNvSpPr/>
          <p:nvPr/>
        </p:nvSpPr>
        <p:spPr>
          <a:xfrm>
            <a:off x="786384" y="5422392"/>
            <a:ext cx="6355080" cy="521207"/>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5541264"/>
            <a:ext cx="5943600" cy="274320"/>
          </a:xfrm>
          <a:prstGeom prst="rect">
            <a:avLst/>
          </a:prstGeom>
          <a:noFill/>
        </p:spPr>
        <p:txBody>
          <a:bodyPr wrap="square" lIns="18288" rIns="18288" tIns="9144" bIns="9144">
            <a:spAutoFit/>
          </a:bodyPr>
          <a:lstStyle/>
          <a:p>
            <a:pPr algn="l">
              <a:lnSpc>
                <a:spcPct val="110000"/>
              </a:lnSpc>
              <a:spcAft>
                <a:spcPts val="500"/>
              </a:spcAft>
            </a:pPr>
            <a:r>
              <a:rPr sz="1600" b="1" lang="zh-CN">
                <a:solidFill>
                  <a:srgbClr val="FFFFFF"/>
                </a:solidFill>
                <a:latin typeface="Microsoft YaHei"/>
                <a:ea typeface="Microsoft YaHei"/>
              </a:rPr>
              <a:t>说课与无生试讲  /  20 页  /  15 分钟</a:t>
            </a:r>
          </a:p>
        </p:txBody>
      </p:sp>
      <p:sp>
        <p:nvSpPr>
          <p:cNvPr id="10" name="TextBox 9"/>
          <p:cNvSpPr txBox="1"/>
          <p:nvPr/>
        </p:nvSpPr>
        <p:spPr>
          <a:xfrm>
            <a:off x="795528" y="6254496"/>
            <a:ext cx="6766560" cy="274320"/>
          </a:xfrm>
          <a:prstGeom prst="rect">
            <a:avLst/>
          </a:prstGeom>
          <a:noFill/>
        </p:spPr>
        <p:txBody>
          <a:bodyPr wrap="square" lIns="18288" rIns="18288" tIns="9144" bIns="9144">
            <a:spAutoFit/>
          </a:bodyPr>
          <a:lstStyle/>
          <a:p>
            <a:pPr algn="l">
              <a:lnSpc>
                <a:spcPct val="110000"/>
              </a:lnSpc>
              <a:spcAft>
                <a:spcPts val="500"/>
              </a:spcAft>
            </a:pPr>
            <a:r>
              <a:rPr sz="1200" b="0" lang="zh-CN">
                <a:solidFill>
                  <a:srgbClr val="526B78"/>
                </a:solidFill>
                <a:latin typeface="Microsoft YaHei"/>
                <a:ea typeface="Microsoft YaHei"/>
              </a:rPr>
              <a:t>人教版高中英语 · 选择性必修第一册 · pp. 38–39</a:t>
            </a:r>
          </a:p>
        </p:txBody>
      </p:sp>
      <p:pic>
        <p:nvPicPr>
          <p:cNvPr id="11" name="Picture 10" descr="s1_15.png"/>
          <p:cNvPicPr>
            <a:picLocks noChangeAspect="1"/>
          </p:cNvPicPr>
          <p:nvPr/>
        </p:nvPicPr>
        <p:blipFill>
          <a:blip r:embed="rId2"/>
          <a:srcRect l="150" r="72500" t="45300" b="1200"/>
          <a:stretch>
            <a:fillRect/>
          </a:stretch>
        </p:blipFill>
        <p:spPr>
          <a:xfrm>
            <a:off x="8183879" y="1463040"/>
            <a:ext cx="3630168" cy="3547872"/>
          </a:xfrm>
          <a:prstGeom prst="rect">
            <a:avLst/>
          </a:prstGeom>
        </p:spPr>
      </p:pic>
      <p:sp>
        <p:nvSpPr>
          <p:cNvPr id="12" name="TextBox 11"/>
          <p:cNvSpPr txBox="1"/>
          <p:nvPr/>
        </p:nvSpPr>
        <p:spPr>
          <a:xfrm>
            <a:off x="8247888" y="5349240"/>
            <a:ext cx="3447288" cy="484632"/>
          </a:xfrm>
          <a:prstGeom prst="rect">
            <a:avLst/>
          </a:prstGeom>
          <a:noFill/>
        </p:spPr>
        <p:txBody>
          <a:bodyPr wrap="square" lIns="18288" rIns="18288" tIns="9144" bIns="9144">
            <a:spAutoFit/>
          </a:bodyPr>
          <a:lstStyle/>
          <a:p>
            <a:pPr algn="ctr">
              <a:lnSpc>
                <a:spcPct val="110000"/>
              </a:lnSpc>
              <a:spcAft>
                <a:spcPts val="500"/>
              </a:spcAft>
            </a:pPr>
            <a:r>
              <a:rPr sz="2000" b="1" lang="en-US">
                <a:solidFill>
                  <a:srgbClr val="167D89"/>
                </a:solidFill>
                <a:latin typeface="Arial"/>
                <a:ea typeface="Microsoft YaHei"/>
              </a:rPr>
              <a:t>READ · COMPARE</a:t>
            </a:r>
          </a:p>
        </p:txBody>
      </p:sp>
      <p:sp>
        <p:nvSpPr>
          <p:cNvPr id="13" name="TextBox 12"/>
          <p:cNvSpPr txBox="1"/>
          <p:nvPr/>
        </p:nvSpPr>
        <p:spPr>
          <a:xfrm>
            <a:off x="8183879" y="5843016"/>
            <a:ext cx="3566160" cy="393192"/>
          </a:xfrm>
          <a:prstGeom prst="rect">
            <a:avLst/>
          </a:prstGeom>
          <a:noFill/>
        </p:spPr>
        <p:txBody>
          <a:bodyPr wrap="square" lIns="18288" rIns="18288" tIns="9144" bIns="9144">
            <a:spAutoFit/>
          </a:bodyPr>
          <a:lstStyle/>
          <a:p>
            <a:pPr algn="ctr">
              <a:lnSpc>
                <a:spcPct val="110000"/>
              </a:lnSpc>
              <a:spcAft>
                <a:spcPts val="500"/>
              </a:spcAft>
            </a:pPr>
            <a:r>
              <a:rPr sz="1800" b="1" lang="en-US">
                <a:solidFill>
                  <a:srgbClr val="183A50"/>
                </a:solidFill>
                <a:latin typeface="Arial"/>
                <a:ea typeface="Microsoft YaHei"/>
              </a:rPr>
              <a:t>RESPECT · CONNECT</a:t>
            </a:r>
          </a:p>
        </p:txBody>
      </p:sp>
    </p:spTree>
  </p:cSld>
  <p:clrMapOvr>
    <a:masterClrMapping/>
  </p:clrMapOvr>
  <p:transition spd="fast">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9FA"/>
        </a:solidFill>
        <a:effectLst/>
      </p:bgPr>
    </p:bg>
    <p:spTree>
      <p:nvGrpSpPr>
        <p:cNvPr id="1" name=""/>
        <p:cNvGrpSpPr/>
        <p:nvPr/>
      </p:nvGrpSpPr>
      <p:grpSpPr/>
      <p:sp>
        <p:nvSpPr>
          <p:cNvPr id="2" name="Rectangle 1"/>
          <p:cNvSpPr/>
          <p:nvPr/>
        </p:nvSpPr>
        <p:spPr>
          <a:xfrm>
            <a:off x="0" y="0"/>
            <a:ext cx="1325880" cy="6858000"/>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329184"/>
            <a:ext cx="896112" cy="457200"/>
          </a:xfrm>
          <a:prstGeom prst="rect">
            <a:avLst/>
          </a:prstGeom>
          <a:noFill/>
        </p:spPr>
        <p:txBody>
          <a:bodyPr wrap="square" lIns="18288" rIns="18288" tIns="9144" bIns="9144">
            <a:spAutoFit/>
          </a:bodyPr>
          <a:lstStyle/>
          <a:p>
            <a:pPr algn="l">
              <a:lnSpc>
                <a:spcPct val="110000"/>
              </a:lnSpc>
              <a:spcAft>
                <a:spcPts val="500"/>
              </a:spcAft>
            </a:pPr>
            <a:r>
              <a:rPr sz="1800" b="1" lang="en-US">
                <a:solidFill>
                  <a:srgbClr val="FFFFFF"/>
                </a:solidFill>
                <a:latin typeface="Arial"/>
                <a:ea typeface="Microsoft YaHei"/>
              </a:rPr>
              <a:t>UNIT 4</a:t>
            </a:r>
          </a:p>
        </p:txBody>
      </p:sp>
      <p:sp>
        <p:nvSpPr>
          <p:cNvPr id="4" name="TextBox 3"/>
          <p:cNvSpPr txBox="1"/>
          <p:nvPr/>
        </p:nvSpPr>
        <p:spPr>
          <a:xfrm>
            <a:off x="219456" y="868680"/>
            <a:ext cx="914400" cy="658368"/>
          </a:xfrm>
          <a:prstGeom prst="rect">
            <a:avLst/>
          </a:prstGeom>
          <a:noFill/>
        </p:spPr>
        <p:txBody>
          <a:bodyPr wrap="square" lIns="18288" rIns="18288" tIns="9144" bIns="9144">
            <a:spAutoFit/>
          </a:bodyPr>
          <a:lstStyle/>
          <a:p>
            <a:pPr algn="l">
              <a:lnSpc>
                <a:spcPct val="110000"/>
              </a:lnSpc>
              <a:spcAft>
                <a:spcPts val="500"/>
              </a:spcAft>
            </a:pPr>
            <a:r>
              <a:rPr sz="1200" b="1" lang="en-US">
                <a:solidFill>
                  <a:srgbClr val="93C3D4"/>
                </a:solidFill>
                <a:latin typeface="Arial"/>
                <a:ea typeface="Microsoft YaHei"/>
              </a:rPr>
              <a:t>READ</a:t>
            </a:r>
          </a:p>
          <a:p>
            <a:pPr algn="l">
              <a:lnSpc>
                <a:spcPct val="110000"/>
              </a:lnSpc>
              <a:spcAft>
                <a:spcPts val="500"/>
              </a:spcAft>
            </a:pPr>
            <a:r>
              <a:rPr sz="1200" b="1" lang="en-US">
                <a:solidFill>
                  <a:srgbClr val="93C3D4"/>
                </a:solidFill>
                <a:latin typeface="Arial"/>
                <a:ea typeface="Microsoft YaHei"/>
              </a:rPr>
              <a:t>&amp; THINK</a:t>
            </a:r>
          </a:p>
        </p:txBody>
      </p:sp>
      <p:sp>
        <p:nvSpPr>
          <p:cNvPr id="5" name="Rectangle 4">
            <a:hlinkClick action="ppaction://hlinksldjump" r:id="rId3"/>
          </p:cNvPr>
          <p:cNvSpPr/>
          <p:nvPr/>
        </p:nvSpPr>
        <p:spPr>
          <a:xfrm>
            <a:off x="109728" y="1874519"/>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146304" y="1933955"/>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说教材</a:t>
            </a:r>
          </a:p>
        </p:txBody>
      </p:sp>
      <p:sp>
        <p:nvSpPr>
          <p:cNvPr id="7" name="Rectangle 6">
            <a:hlinkClick action="ppaction://hlinksldjump" r:id="rId4"/>
          </p:cNvPr>
          <p:cNvSpPr/>
          <p:nvPr/>
        </p:nvSpPr>
        <p:spPr>
          <a:xfrm>
            <a:off x="109728" y="2441448"/>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46304" y="2500884"/>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说学情</a:t>
            </a:r>
          </a:p>
        </p:txBody>
      </p:sp>
      <p:sp>
        <p:nvSpPr>
          <p:cNvPr id="9" name="Rectangle 8">
            <a:hlinkClick action="ppaction://hlinksldjump" r:id="rId5"/>
          </p:cNvPr>
          <p:cNvSpPr/>
          <p:nvPr/>
        </p:nvSpPr>
        <p:spPr>
          <a:xfrm>
            <a:off x="109728" y="3008376"/>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46304" y="3067812"/>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说目标</a:t>
            </a:r>
          </a:p>
        </p:txBody>
      </p:sp>
      <p:sp>
        <p:nvSpPr>
          <p:cNvPr id="11" name="Rectangle 10">
            <a:hlinkClick action="ppaction://hlinksldjump" r:id="rId6"/>
          </p:cNvPr>
          <p:cNvSpPr/>
          <p:nvPr/>
        </p:nvSpPr>
        <p:spPr>
          <a:xfrm>
            <a:off x="109728" y="3575303"/>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6"/>
          </p:cNvPr>
          <p:cNvSpPr txBox="1"/>
          <p:nvPr/>
        </p:nvSpPr>
        <p:spPr>
          <a:xfrm>
            <a:off x="146304" y="3634739"/>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说重难</a:t>
            </a:r>
          </a:p>
        </p:txBody>
      </p:sp>
      <p:sp>
        <p:nvSpPr>
          <p:cNvPr id="13" name="Rectangle 12">
            <a:hlinkClick action="ppaction://hlinksldjump" r:id="rId7"/>
          </p:cNvPr>
          <p:cNvSpPr/>
          <p:nvPr/>
        </p:nvSpPr>
        <p:spPr>
          <a:xfrm>
            <a:off x="109728" y="4142231"/>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7"/>
          </p:cNvPr>
          <p:cNvSpPr txBox="1"/>
          <p:nvPr/>
        </p:nvSpPr>
        <p:spPr>
          <a:xfrm>
            <a:off x="146304" y="4201668"/>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说过程</a:t>
            </a:r>
          </a:p>
        </p:txBody>
      </p:sp>
      <p:sp>
        <p:nvSpPr>
          <p:cNvPr id="15" name="Rectangle 14">
            <a:hlinkClick action="ppaction://hlinksldjump" r:id="rId8"/>
          </p:cNvPr>
          <p:cNvSpPr/>
          <p:nvPr/>
        </p:nvSpPr>
        <p:spPr>
          <a:xfrm>
            <a:off x="109728" y="4709160"/>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8"/>
          </p:cNvPr>
          <p:cNvSpPr txBox="1"/>
          <p:nvPr/>
        </p:nvSpPr>
        <p:spPr>
          <a:xfrm>
            <a:off x="146304" y="4768596"/>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说反思</a:t>
            </a:r>
          </a:p>
        </p:txBody>
      </p:sp>
      <p:sp>
        <p:nvSpPr>
          <p:cNvPr id="17" name="TextBox 16"/>
          <p:cNvSpPr txBox="1"/>
          <p:nvPr/>
        </p:nvSpPr>
        <p:spPr>
          <a:xfrm>
            <a:off x="210312" y="6062472"/>
            <a:ext cx="950976" cy="393192"/>
          </a:xfrm>
          <a:prstGeom prst="rect">
            <a:avLst/>
          </a:prstGeom>
          <a:noFill/>
        </p:spPr>
        <p:txBody>
          <a:bodyPr wrap="square" lIns="18288" rIns="18288" tIns="9144" bIns="9144">
            <a:spAutoFit/>
          </a:bodyPr>
          <a:lstStyle/>
          <a:p>
            <a:pPr algn="ctr">
              <a:lnSpc>
                <a:spcPct val="110000"/>
              </a:lnSpc>
              <a:spcAft>
                <a:spcPts val="500"/>
              </a:spcAft>
            </a:pPr>
            <a:r>
              <a:rPr sz="1300" b="0" lang="en-US">
                <a:solidFill>
                  <a:srgbClr val="BCD3DF"/>
                </a:solidFill>
                <a:latin typeface="Arial"/>
                <a:ea typeface="Microsoft YaHei"/>
              </a:rPr>
              <a:t>02 / 20</a:t>
            </a:r>
          </a:p>
        </p:txBody>
      </p:sp>
      <p:sp>
        <p:nvSpPr>
          <p:cNvPr id="18" name="Rectangle 17"/>
          <p:cNvSpPr/>
          <p:nvPr/>
        </p:nvSpPr>
        <p:spPr>
          <a:xfrm>
            <a:off x="1325880" y="0"/>
            <a:ext cx="10872216" cy="6858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00784" y="283464"/>
            <a:ext cx="7315200" cy="274320"/>
          </a:xfrm>
          <a:prstGeom prst="rect">
            <a:avLst/>
          </a:prstGeom>
          <a:noFill/>
        </p:spPr>
        <p:txBody>
          <a:bodyPr wrap="square" lIns="18288" rIns="18288" tIns="9144" bIns="9144">
            <a:spAutoFit/>
          </a:bodyPr>
          <a:lstStyle/>
          <a:p>
            <a:pPr algn="l">
              <a:lnSpc>
                <a:spcPct val="110000"/>
              </a:lnSpc>
              <a:spcAft>
                <a:spcPts val="500"/>
              </a:spcAft>
            </a:pPr>
            <a:r>
              <a:rPr sz="1100" b="1" lang="en-US">
                <a:solidFill>
                  <a:srgbClr val="167D89"/>
                </a:solidFill>
                <a:latin typeface="Arial"/>
                <a:ea typeface="Microsoft YaHei"/>
              </a:rPr>
              <a:t>BODY LANGUAGE   /   READING AND THINKING</a:t>
            </a:r>
          </a:p>
        </p:txBody>
      </p:sp>
      <p:sp>
        <p:nvSpPr>
          <p:cNvPr id="20" name="TextBox 19"/>
          <p:cNvSpPr txBox="1"/>
          <p:nvPr/>
        </p:nvSpPr>
        <p:spPr>
          <a:xfrm>
            <a:off x="9802368" y="283464"/>
            <a:ext cx="1920240" cy="274320"/>
          </a:xfrm>
          <a:prstGeom prst="rect">
            <a:avLst/>
          </a:prstGeom>
          <a:noFill/>
        </p:spPr>
        <p:txBody>
          <a:bodyPr wrap="square" lIns="18288" rIns="18288" tIns="9144" bIns="9144">
            <a:spAutoFit/>
          </a:bodyPr>
          <a:lstStyle/>
          <a:p>
            <a:pPr algn="r">
              <a:lnSpc>
                <a:spcPct val="110000"/>
              </a:lnSpc>
              <a:spcAft>
                <a:spcPts val="500"/>
              </a:spcAft>
            </a:pPr>
            <a:r>
              <a:rPr sz="1100" b="0" lang="en-US">
                <a:solidFill>
                  <a:srgbClr val="526B78"/>
                </a:solidFill>
                <a:latin typeface="Arial"/>
                <a:ea typeface="Microsoft YaHei"/>
              </a:rPr>
              <a:t>00:20–00:45</a:t>
            </a:r>
          </a:p>
        </p:txBody>
      </p:sp>
      <p:sp>
        <p:nvSpPr>
          <p:cNvPr id="21" name="TextBox 20"/>
          <p:cNvSpPr txBox="1"/>
          <p:nvPr/>
        </p:nvSpPr>
        <p:spPr>
          <a:xfrm>
            <a:off x="1691640" y="859536"/>
            <a:ext cx="10021824" cy="630936"/>
          </a:xfrm>
          <a:prstGeom prst="rect">
            <a:avLst/>
          </a:prstGeom>
          <a:noFill/>
        </p:spPr>
        <p:txBody>
          <a:bodyPr wrap="square" lIns="18288" rIns="18288" tIns="9144" bIns="9144">
            <a:spAutoFit/>
          </a:bodyPr>
          <a:lstStyle/>
          <a:p>
            <a:pPr algn="l">
              <a:lnSpc>
                <a:spcPct val="110000"/>
              </a:lnSpc>
              <a:spcAft>
                <a:spcPts val="500"/>
              </a:spcAft>
            </a:pPr>
            <a:r>
              <a:rPr sz="3000" b="1" lang="zh-CN">
                <a:solidFill>
                  <a:srgbClr val="183A50"/>
                </a:solidFill>
                <a:latin typeface="Microsoft YaHei"/>
                <a:ea typeface="Microsoft YaHei"/>
              </a:rPr>
              <a:t>六个部分，一条阅读学习链</a:t>
            </a:r>
          </a:p>
        </p:txBody>
      </p:sp>
      <p:sp>
        <p:nvSpPr>
          <p:cNvPr id="22" name="TextBox 21"/>
          <p:cNvSpPr txBox="1"/>
          <p:nvPr/>
        </p:nvSpPr>
        <p:spPr>
          <a:xfrm>
            <a:off x="1719072" y="1545336"/>
            <a:ext cx="9921240" cy="521207"/>
          </a:xfrm>
          <a:prstGeom prst="rect">
            <a:avLst/>
          </a:prstGeom>
          <a:noFill/>
        </p:spPr>
        <p:txBody>
          <a:bodyPr wrap="square" lIns="18288" rIns="18288" tIns="9144" bIns="9144">
            <a:spAutoFit/>
          </a:bodyPr>
          <a:lstStyle/>
          <a:p>
            <a:pPr algn="l">
              <a:lnSpc>
                <a:spcPct val="110000"/>
              </a:lnSpc>
              <a:spcAft>
                <a:spcPts val="500"/>
              </a:spcAft>
            </a:pPr>
            <a:r>
              <a:rPr sz="1500" b="0" lang="en-US">
                <a:solidFill>
                  <a:srgbClr val="526B78"/>
                </a:solidFill>
                <a:latin typeface="Arial"/>
                <a:ea typeface="Microsoft YaHei"/>
              </a:rPr>
              <a:t>Predict → Map → Compare → Advise → Reflect</a:t>
            </a:r>
          </a:p>
        </p:txBody>
      </p:sp>
      <p:sp>
        <p:nvSpPr>
          <p:cNvPr id="23" name="Rectangle 22"/>
          <p:cNvSpPr/>
          <p:nvPr/>
        </p:nvSpPr>
        <p:spPr>
          <a:xfrm>
            <a:off x="1719072" y="6400800"/>
            <a:ext cx="9985248" cy="10058"/>
          </a:xfrm>
          <a:prstGeom prst="rect">
            <a:avLst/>
          </a:prstGeom>
          <a:solidFill>
            <a:srgbClr val="C8D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37360" y="6492240"/>
            <a:ext cx="9784080" cy="228600"/>
          </a:xfrm>
          <a:prstGeom prst="rect">
            <a:avLst/>
          </a:prstGeom>
          <a:noFill/>
        </p:spPr>
        <p:txBody>
          <a:bodyPr wrap="square" lIns="18288" rIns="18288" tIns="9144" bIns="9144">
            <a:spAutoFit/>
          </a:bodyPr>
          <a:lstStyle/>
          <a:p>
            <a:pPr algn="l">
              <a:lnSpc>
                <a:spcPct val="110000"/>
              </a:lnSpc>
              <a:spcAft>
                <a:spcPts val="500"/>
              </a:spcAft>
            </a:pPr>
            <a:r>
              <a:rPr sz="1050" b="0" lang="zh-CN">
                <a:solidFill>
                  <a:srgbClr val="526B78"/>
                </a:solidFill>
                <a:latin typeface="Microsoft YaHei"/>
                <a:ea typeface="Microsoft YaHei"/>
              </a:rPr>
              <a:t>读懂差异  ·  尊重语境  ·  得体交流</a:t>
            </a:r>
          </a:p>
        </p:txBody>
      </p:sp>
      <p:sp>
        <p:nvSpPr>
          <p:cNvPr id="25" name="Rectangle 24"/>
          <p:cNvSpPr/>
          <p:nvPr/>
        </p:nvSpPr>
        <p:spPr>
          <a:xfrm>
            <a:off x="1719072" y="6345936"/>
            <a:ext cx="998524" cy="2286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728216" y="2258568"/>
            <a:ext cx="3154680" cy="1207008"/>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728216" y="2258568"/>
            <a:ext cx="3154680" cy="4114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911095" y="2432304"/>
            <a:ext cx="2788920" cy="484632"/>
          </a:xfrm>
          <a:prstGeom prst="rect">
            <a:avLst/>
          </a:prstGeom>
          <a:noFill/>
        </p:spPr>
        <p:txBody>
          <a:bodyPr wrap="square" lIns="18288" rIns="18288" tIns="9144" bIns="9144">
            <a:spAutoFit/>
          </a:bodyPr>
          <a:lstStyle/>
          <a:p>
            <a:pPr algn="l">
              <a:lnSpc>
                <a:spcPct val="110000"/>
              </a:lnSpc>
              <a:spcAft>
                <a:spcPts val="500"/>
              </a:spcAft>
            </a:pPr>
            <a:r>
              <a:rPr sz="2000" b="1" lang="zh-CN">
                <a:solidFill>
                  <a:srgbClr val="167D89"/>
                </a:solidFill>
                <a:latin typeface="Microsoft YaHei"/>
                <a:ea typeface="Microsoft YaHei"/>
              </a:rPr>
              <a:t>01  说教材</a:t>
            </a:r>
          </a:p>
        </p:txBody>
      </p:sp>
      <p:sp>
        <p:nvSpPr>
          <p:cNvPr id="29" name="TextBox 28"/>
          <p:cNvSpPr txBox="1"/>
          <p:nvPr/>
        </p:nvSpPr>
        <p:spPr>
          <a:xfrm>
            <a:off x="1911095" y="3090672"/>
            <a:ext cx="2788920" cy="274320"/>
          </a:xfrm>
          <a:prstGeom prst="rect">
            <a:avLst/>
          </a:prstGeom>
          <a:noFill/>
        </p:spPr>
        <p:txBody>
          <a:bodyPr wrap="square" lIns="18288" rIns="18288" tIns="9144" bIns="9144">
            <a:spAutoFit/>
          </a:bodyPr>
          <a:lstStyle/>
          <a:p>
            <a:pPr algn="l">
              <a:lnSpc>
                <a:spcPct val="110000"/>
              </a:lnSpc>
              <a:spcAft>
                <a:spcPts val="500"/>
              </a:spcAft>
            </a:pPr>
            <a:r>
              <a:rPr sz="1700" b="0" lang="zh-CN">
                <a:solidFill>
                  <a:srgbClr val="183A50"/>
                </a:solidFill>
                <a:latin typeface="Microsoft YaHei"/>
                <a:ea typeface="Microsoft YaHei"/>
              </a:rPr>
              <a:t>语篇内容与育人价值</a:t>
            </a:r>
          </a:p>
        </p:txBody>
      </p:sp>
      <p:sp>
        <p:nvSpPr>
          <p:cNvPr id="30" name="Rectangle 29"/>
          <p:cNvSpPr/>
          <p:nvPr/>
        </p:nvSpPr>
        <p:spPr>
          <a:xfrm>
            <a:off x="5102352" y="2258568"/>
            <a:ext cx="3154680" cy="1207008"/>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102352" y="2258568"/>
            <a:ext cx="3154680" cy="4114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85232" y="2432304"/>
            <a:ext cx="2788920" cy="484632"/>
          </a:xfrm>
          <a:prstGeom prst="rect">
            <a:avLst/>
          </a:prstGeom>
          <a:noFill/>
        </p:spPr>
        <p:txBody>
          <a:bodyPr wrap="square" lIns="18288" rIns="18288" tIns="9144" bIns="9144">
            <a:spAutoFit/>
          </a:bodyPr>
          <a:lstStyle/>
          <a:p>
            <a:pPr algn="l">
              <a:lnSpc>
                <a:spcPct val="110000"/>
              </a:lnSpc>
              <a:spcAft>
                <a:spcPts val="500"/>
              </a:spcAft>
            </a:pPr>
            <a:r>
              <a:rPr sz="2000" b="1" lang="zh-CN">
                <a:solidFill>
                  <a:srgbClr val="167D89"/>
                </a:solidFill>
                <a:latin typeface="Microsoft YaHei"/>
                <a:ea typeface="Microsoft YaHei"/>
              </a:rPr>
              <a:t>02  说学情</a:t>
            </a:r>
          </a:p>
        </p:txBody>
      </p:sp>
      <p:sp>
        <p:nvSpPr>
          <p:cNvPr id="33" name="TextBox 32"/>
          <p:cNvSpPr txBox="1"/>
          <p:nvPr/>
        </p:nvSpPr>
        <p:spPr>
          <a:xfrm>
            <a:off x="5285232" y="3090672"/>
            <a:ext cx="2788920" cy="274320"/>
          </a:xfrm>
          <a:prstGeom prst="rect">
            <a:avLst/>
          </a:prstGeom>
          <a:noFill/>
        </p:spPr>
        <p:txBody>
          <a:bodyPr wrap="square" lIns="18288" rIns="18288" tIns="9144" bIns="9144">
            <a:spAutoFit/>
          </a:bodyPr>
          <a:lstStyle/>
          <a:p>
            <a:pPr algn="l">
              <a:lnSpc>
                <a:spcPct val="110000"/>
              </a:lnSpc>
              <a:spcAft>
                <a:spcPts val="500"/>
              </a:spcAft>
            </a:pPr>
            <a:r>
              <a:rPr sz="1700" b="0" lang="zh-CN">
                <a:solidFill>
                  <a:srgbClr val="183A50"/>
                </a:solidFill>
                <a:latin typeface="Microsoft YaHei"/>
                <a:ea typeface="Microsoft YaHei"/>
              </a:rPr>
              <a:t>经验、困难与支持</a:t>
            </a:r>
          </a:p>
        </p:txBody>
      </p:sp>
      <p:sp>
        <p:nvSpPr>
          <p:cNvPr id="34" name="Rectangle 33"/>
          <p:cNvSpPr/>
          <p:nvPr/>
        </p:nvSpPr>
        <p:spPr>
          <a:xfrm>
            <a:off x="8476488" y="2258568"/>
            <a:ext cx="3154680" cy="1207008"/>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476488" y="2258568"/>
            <a:ext cx="3154680" cy="4114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9367" y="2432304"/>
            <a:ext cx="2788920" cy="484632"/>
          </a:xfrm>
          <a:prstGeom prst="rect">
            <a:avLst/>
          </a:prstGeom>
          <a:noFill/>
        </p:spPr>
        <p:txBody>
          <a:bodyPr wrap="square" lIns="18288" rIns="18288" tIns="9144" bIns="9144">
            <a:spAutoFit/>
          </a:bodyPr>
          <a:lstStyle/>
          <a:p>
            <a:pPr algn="l">
              <a:lnSpc>
                <a:spcPct val="110000"/>
              </a:lnSpc>
              <a:spcAft>
                <a:spcPts val="500"/>
              </a:spcAft>
            </a:pPr>
            <a:r>
              <a:rPr sz="2000" b="1" lang="zh-CN">
                <a:solidFill>
                  <a:srgbClr val="167D89"/>
                </a:solidFill>
                <a:latin typeface="Microsoft YaHei"/>
                <a:ea typeface="Microsoft YaHei"/>
              </a:rPr>
              <a:t>03  说目标</a:t>
            </a:r>
          </a:p>
        </p:txBody>
      </p:sp>
      <p:sp>
        <p:nvSpPr>
          <p:cNvPr id="37" name="TextBox 36"/>
          <p:cNvSpPr txBox="1"/>
          <p:nvPr/>
        </p:nvSpPr>
        <p:spPr>
          <a:xfrm>
            <a:off x="8659367" y="3090672"/>
            <a:ext cx="2788920" cy="274320"/>
          </a:xfrm>
          <a:prstGeom prst="rect">
            <a:avLst/>
          </a:prstGeom>
          <a:noFill/>
        </p:spPr>
        <p:txBody>
          <a:bodyPr wrap="square" lIns="18288" rIns="18288" tIns="9144" bIns="9144">
            <a:spAutoFit/>
          </a:bodyPr>
          <a:lstStyle/>
          <a:p>
            <a:pPr algn="l">
              <a:lnSpc>
                <a:spcPct val="110000"/>
              </a:lnSpc>
              <a:spcAft>
                <a:spcPts val="500"/>
              </a:spcAft>
            </a:pPr>
            <a:r>
              <a:rPr sz="1700" b="0" lang="zh-CN">
                <a:solidFill>
                  <a:srgbClr val="183A50"/>
                </a:solidFill>
                <a:latin typeface="Microsoft YaHei"/>
                <a:ea typeface="Microsoft YaHei"/>
              </a:rPr>
              <a:t>目标—任务—评价</a:t>
            </a:r>
          </a:p>
        </p:txBody>
      </p:sp>
      <p:sp>
        <p:nvSpPr>
          <p:cNvPr id="38" name="Rectangle 37"/>
          <p:cNvSpPr/>
          <p:nvPr/>
        </p:nvSpPr>
        <p:spPr>
          <a:xfrm>
            <a:off x="1728216" y="3685032"/>
            <a:ext cx="3154680" cy="1207008"/>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728216" y="3685032"/>
            <a:ext cx="3154680" cy="4114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911095" y="3858768"/>
            <a:ext cx="2788920" cy="484632"/>
          </a:xfrm>
          <a:prstGeom prst="rect">
            <a:avLst/>
          </a:prstGeom>
          <a:noFill/>
        </p:spPr>
        <p:txBody>
          <a:bodyPr wrap="square" lIns="18288" rIns="18288" tIns="9144" bIns="9144">
            <a:spAutoFit/>
          </a:bodyPr>
          <a:lstStyle/>
          <a:p>
            <a:pPr algn="l">
              <a:lnSpc>
                <a:spcPct val="110000"/>
              </a:lnSpc>
              <a:spcAft>
                <a:spcPts val="500"/>
              </a:spcAft>
            </a:pPr>
            <a:r>
              <a:rPr sz="2000" b="1" lang="zh-CN">
                <a:solidFill>
                  <a:srgbClr val="167D89"/>
                </a:solidFill>
                <a:latin typeface="Microsoft YaHei"/>
                <a:ea typeface="Microsoft YaHei"/>
              </a:rPr>
              <a:t>04  说重难</a:t>
            </a:r>
          </a:p>
        </p:txBody>
      </p:sp>
      <p:sp>
        <p:nvSpPr>
          <p:cNvPr id="41" name="TextBox 40"/>
          <p:cNvSpPr txBox="1"/>
          <p:nvPr/>
        </p:nvSpPr>
        <p:spPr>
          <a:xfrm>
            <a:off x="1911095" y="4517136"/>
            <a:ext cx="2788920" cy="274320"/>
          </a:xfrm>
          <a:prstGeom prst="rect">
            <a:avLst/>
          </a:prstGeom>
          <a:noFill/>
        </p:spPr>
        <p:txBody>
          <a:bodyPr wrap="square" lIns="18288" rIns="18288" tIns="9144" bIns="9144">
            <a:spAutoFit/>
          </a:bodyPr>
          <a:lstStyle/>
          <a:p>
            <a:pPr algn="l">
              <a:lnSpc>
                <a:spcPct val="110000"/>
              </a:lnSpc>
              <a:spcAft>
                <a:spcPts val="500"/>
              </a:spcAft>
            </a:pPr>
            <a:r>
              <a:rPr sz="1700" b="0" lang="zh-CN">
                <a:solidFill>
                  <a:srgbClr val="183A50"/>
                </a:solidFill>
                <a:latin typeface="Microsoft YaHei"/>
                <a:ea typeface="Microsoft YaHei"/>
              </a:rPr>
              <a:t>重点与难点突破</a:t>
            </a:r>
          </a:p>
        </p:txBody>
      </p:sp>
      <p:sp>
        <p:nvSpPr>
          <p:cNvPr id="42" name="Rectangle 41"/>
          <p:cNvSpPr/>
          <p:nvPr/>
        </p:nvSpPr>
        <p:spPr>
          <a:xfrm>
            <a:off x="5102352" y="3685032"/>
            <a:ext cx="3154680" cy="1207008"/>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102352" y="3685032"/>
            <a:ext cx="3154680" cy="4114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285232" y="3858768"/>
            <a:ext cx="2788920" cy="484632"/>
          </a:xfrm>
          <a:prstGeom prst="rect">
            <a:avLst/>
          </a:prstGeom>
          <a:noFill/>
        </p:spPr>
        <p:txBody>
          <a:bodyPr wrap="square" lIns="18288" rIns="18288" tIns="9144" bIns="9144">
            <a:spAutoFit/>
          </a:bodyPr>
          <a:lstStyle/>
          <a:p>
            <a:pPr algn="l">
              <a:lnSpc>
                <a:spcPct val="110000"/>
              </a:lnSpc>
              <a:spcAft>
                <a:spcPts val="500"/>
              </a:spcAft>
            </a:pPr>
            <a:r>
              <a:rPr sz="2000" b="1" lang="zh-CN">
                <a:solidFill>
                  <a:srgbClr val="167D89"/>
                </a:solidFill>
                <a:latin typeface="Microsoft YaHei"/>
                <a:ea typeface="Microsoft YaHei"/>
              </a:rPr>
              <a:t>05  说过程</a:t>
            </a:r>
          </a:p>
        </p:txBody>
      </p:sp>
      <p:sp>
        <p:nvSpPr>
          <p:cNvPr id="45" name="TextBox 44"/>
          <p:cNvSpPr txBox="1"/>
          <p:nvPr/>
        </p:nvSpPr>
        <p:spPr>
          <a:xfrm>
            <a:off x="5285232" y="4517136"/>
            <a:ext cx="2788920" cy="274320"/>
          </a:xfrm>
          <a:prstGeom prst="rect">
            <a:avLst/>
          </a:prstGeom>
          <a:noFill/>
        </p:spPr>
        <p:txBody>
          <a:bodyPr wrap="square" lIns="18288" rIns="18288" tIns="9144" bIns="9144">
            <a:spAutoFit/>
          </a:bodyPr>
          <a:lstStyle/>
          <a:p>
            <a:pPr algn="l">
              <a:lnSpc>
                <a:spcPct val="110000"/>
              </a:lnSpc>
              <a:spcAft>
                <a:spcPts val="500"/>
              </a:spcAft>
            </a:pPr>
            <a:r>
              <a:rPr sz="1700" b="0" lang="zh-CN">
                <a:solidFill>
                  <a:srgbClr val="183A50"/>
                </a:solidFill>
                <a:latin typeface="Microsoft YaHei"/>
                <a:ea typeface="Microsoft YaHei"/>
              </a:rPr>
              <a:t>英文无生试讲</a:t>
            </a:r>
          </a:p>
        </p:txBody>
      </p:sp>
      <p:sp>
        <p:nvSpPr>
          <p:cNvPr id="46" name="Rectangle 45"/>
          <p:cNvSpPr/>
          <p:nvPr/>
        </p:nvSpPr>
        <p:spPr>
          <a:xfrm>
            <a:off x="8476488" y="3685032"/>
            <a:ext cx="3154680" cy="1207008"/>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476488" y="3685032"/>
            <a:ext cx="3154680" cy="4114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59367" y="3858768"/>
            <a:ext cx="2788920" cy="484632"/>
          </a:xfrm>
          <a:prstGeom prst="rect">
            <a:avLst/>
          </a:prstGeom>
          <a:noFill/>
        </p:spPr>
        <p:txBody>
          <a:bodyPr wrap="square" lIns="18288" rIns="18288" tIns="9144" bIns="9144">
            <a:spAutoFit/>
          </a:bodyPr>
          <a:lstStyle/>
          <a:p>
            <a:pPr algn="l">
              <a:lnSpc>
                <a:spcPct val="110000"/>
              </a:lnSpc>
              <a:spcAft>
                <a:spcPts val="500"/>
              </a:spcAft>
            </a:pPr>
            <a:r>
              <a:rPr sz="2000" b="1" lang="zh-CN">
                <a:solidFill>
                  <a:srgbClr val="167D89"/>
                </a:solidFill>
                <a:latin typeface="Microsoft YaHei"/>
                <a:ea typeface="Microsoft YaHei"/>
              </a:rPr>
              <a:t>06  说反思</a:t>
            </a:r>
          </a:p>
        </p:txBody>
      </p:sp>
      <p:sp>
        <p:nvSpPr>
          <p:cNvPr id="49" name="TextBox 48"/>
          <p:cNvSpPr txBox="1"/>
          <p:nvPr/>
        </p:nvSpPr>
        <p:spPr>
          <a:xfrm>
            <a:off x="8659367" y="4517136"/>
            <a:ext cx="2788920" cy="274320"/>
          </a:xfrm>
          <a:prstGeom prst="rect">
            <a:avLst/>
          </a:prstGeom>
          <a:noFill/>
        </p:spPr>
        <p:txBody>
          <a:bodyPr wrap="square" lIns="18288" rIns="18288" tIns="9144" bIns="9144">
            <a:spAutoFit/>
          </a:bodyPr>
          <a:lstStyle/>
          <a:p>
            <a:pPr algn="l">
              <a:lnSpc>
                <a:spcPct val="110000"/>
              </a:lnSpc>
              <a:spcAft>
                <a:spcPts val="500"/>
              </a:spcAft>
            </a:pPr>
            <a:r>
              <a:rPr sz="1700" b="0" lang="zh-CN">
                <a:solidFill>
                  <a:srgbClr val="183A50"/>
                </a:solidFill>
                <a:latin typeface="Microsoft YaHei"/>
                <a:ea typeface="Microsoft YaHei"/>
              </a:rPr>
              <a:t>证据、局限与改进</a:t>
            </a:r>
          </a:p>
        </p:txBody>
      </p:sp>
      <p:sp>
        <p:nvSpPr>
          <p:cNvPr id="50" name="TextBox 49"/>
          <p:cNvSpPr txBox="1"/>
          <p:nvPr/>
        </p:nvSpPr>
        <p:spPr>
          <a:xfrm>
            <a:off x="1810512" y="5394960"/>
            <a:ext cx="9692640" cy="466344"/>
          </a:xfrm>
          <a:prstGeom prst="rect">
            <a:avLst/>
          </a:prstGeom>
          <a:noFill/>
        </p:spPr>
        <p:txBody>
          <a:bodyPr wrap="square" lIns="18288" rIns="18288" tIns="9144" bIns="9144">
            <a:spAutoFit/>
          </a:bodyPr>
          <a:lstStyle/>
          <a:p>
            <a:pPr algn="l">
              <a:lnSpc>
                <a:spcPct val="110000"/>
              </a:lnSpc>
              <a:spcAft>
                <a:spcPts val="500"/>
              </a:spcAft>
            </a:pPr>
            <a:r>
              <a:rPr sz="1900" b="1" lang="zh-CN">
                <a:solidFill>
                  <a:srgbClr val="167D89"/>
                </a:solidFill>
                <a:latin typeface="Microsoft YaHei"/>
                <a:ea typeface="Microsoft YaHei"/>
              </a:rPr>
              <a:t>设计说明 3′40″  +  英文无生试讲 9′30″  +  反思结束 1′50″</a:t>
            </a:r>
          </a:p>
        </p:txBody>
      </p:sp>
      <p:sp>
        <p:nvSpPr>
          <p:cNvPr id="51" name="Rectangle 50"/>
          <p:cNvSpPr/>
          <p:nvPr/>
        </p:nvSpPr>
        <p:spPr>
          <a:xfrm>
            <a:off x="1755648" y="5998464"/>
            <a:ext cx="2388717" cy="173736"/>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176369" y="5998464"/>
            <a:ext cx="6239865" cy="173736"/>
          </a:xfrm>
          <a:prstGeom prst="rect">
            <a:avLst/>
          </a:prstGeom>
          <a:solidFill>
            <a:srgbClr val="397A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448239" y="5998464"/>
            <a:ext cx="1178356" cy="173736"/>
          </a:xfrm>
          <a:prstGeom prst="rect">
            <a:avLst/>
          </a:prstGeom>
          <a:solidFill>
            <a:srgbClr val="C69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fast">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9FA"/>
        </a:solidFill>
        <a:effectLst/>
      </p:bgPr>
    </p:bg>
    <p:spTree>
      <p:nvGrpSpPr>
        <p:cNvPr id="1" name=""/>
        <p:cNvGrpSpPr/>
        <p:nvPr/>
      </p:nvGrpSpPr>
      <p:grpSpPr/>
      <p:sp>
        <p:nvSpPr>
          <p:cNvPr id="2" name="Rectangle 1"/>
          <p:cNvSpPr/>
          <p:nvPr/>
        </p:nvSpPr>
        <p:spPr>
          <a:xfrm>
            <a:off x="0" y="0"/>
            <a:ext cx="1325880" cy="6858000"/>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329184"/>
            <a:ext cx="896112" cy="457200"/>
          </a:xfrm>
          <a:prstGeom prst="rect">
            <a:avLst/>
          </a:prstGeom>
          <a:noFill/>
        </p:spPr>
        <p:txBody>
          <a:bodyPr wrap="square" lIns="18288" rIns="18288" tIns="9144" bIns="9144">
            <a:spAutoFit/>
          </a:bodyPr>
          <a:lstStyle/>
          <a:p>
            <a:pPr algn="l">
              <a:lnSpc>
                <a:spcPct val="110000"/>
              </a:lnSpc>
              <a:spcAft>
                <a:spcPts val="500"/>
              </a:spcAft>
            </a:pPr>
            <a:r>
              <a:rPr sz="1800" b="1" lang="en-US">
                <a:solidFill>
                  <a:srgbClr val="FFFFFF"/>
                </a:solidFill>
                <a:latin typeface="Arial"/>
                <a:ea typeface="Microsoft YaHei"/>
              </a:rPr>
              <a:t>UNIT 4</a:t>
            </a:r>
          </a:p>
        </p:txBody>
      </p:sp>
      <p:sp>
        <p:nvSpPr>
          <p:cNvPr id="4" name="TextBox 3"/>
          <p:cNvSpPr txBox="1"/>
          <p:nvPr/>
        </p:nvSpPr>
        <p:spPr>
          <a:xfrm>
            <a:off x="219456" y="868680"/>
            <a:ext cx="914400" cy="658368"/>
          </a:xfrm>
          <a:prstGeom prst="rect">
            <a:avLst/>
          </a:prstGeom>
          <a:noFill/>
        </p:spPr>
        <p:txBody>
          <a:bodyPr wrap="square" lIns="18288" rIns="18288" tIns="9144" bIns="9144">
            <a:spAutoFit/>
          </a:bodyPr>
          <a:lstStyle/>
          <a:p>
            <a:pPr algn="l">
              <a:lnSpc>
                <a:spcPct val="110000"/>
              </a:lnSpc>
              <a:spcAft>
                <a:spcPts val="500"/>
              </a:spcAft>
            </a:pPr>
            <a:r>
              <a:rPr sz="1200" b="1" lang="en-US">
                <a:solidFill>
                  <a:srgbClr val="93C3D4"/>
                </a:solidFill>
                <a:latin typeface="Arial"/>
                <a:ea typeface="Microsoft YaHei"/>
              </a:rPr>
              <a:t>READ</a:t>
            </a:r>
          </a:p>
          <a:p>
            <a:pPr algn="l">
              <a:lnSpc>
                <a:spcPct val="110000"/>
              </a:lnSpc>
              <a:spcAft>
                <a:spcPts val="500"/>
              </a:spcAft>
            </a:pPr>
            <a:r>
              <a:rPr sz="1200" b="1" lang="en-US">
                <a:solidFill>
                  <a:srgbClr val="93C3D4"/>
                </a:solidFill>
                <a:latin typeface="Arial"/>
                <a:ea typeface="Microsoft YaHei"/>
              </a:rPr>
              <a:t>&amp; THINK</a:t>
            </a:r>
          </a:p>
        </p:txBody>
      </p:sp>
      <p:sp>
        <p:nvSpPr>
          <p:cNvPr id="5" name="Rectangle 4">
            <a:hlinkClick action="ppaction://hlinksldjump" r:id="rId3"/>
          </p:cNvPr>
          <p:cNvSpPr/>
          <p:nvPr/>
        </p:nvSpPr>
        <p:spPr>
          <a:xfrm>
            <a:off x="109728" y="1874519"/>
            <a:ext cx="1097280" cy="42976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146304" y="1933955"/>
            <a:ext cx="1024128" cy="301752"/>
          </a:xfrm>
          <a:prstGeom prst="rect">
            <a:avLst/>
          </a:prstGeom>
          <a:noFill/>
        </p:spPr>
        <p:txBody>
          <a:bodyPr wrap="square" lIns="18288" rIns="18288" tIns="9144" bIns="9144">
            <a:spAutoFit/>
          </a:bodyPr>
          <a:lstStyle/>
          <a:p>
            <a:pPr algn="ctr">
              <a:lnSpc>
                <a:spcPct val="110000"/>
              </a:lnSpc>
              <a:spcAft>
                <a:spcPts val="500"/>
              </a:spcAft>
            </a:pPr>
            <a:r>
              <a:rPr sz="1500" b="1" lang="zh-CN">
                <a:solidFill>
                  <a:srgbClr val="FFFFFF"/>
                </a:solidFill>
                <a:latin typeface="Microsoft YaHei"/>
                <a:ea typeface="Microsoft YaHei"/>
              </a:rPr>
              <a:t>说教材</a:t>
            </a:r>
          </a:p>
        </p:txBody>
      </p:sp>
      <p:sp>
        <p:nvSpPr>
          <p:cNvPr id="7" name="Rectangle 6">
            <a:hlinkClick action="ppaction://hlinksldjump" r:id="rId4"/>
          </p:cNvPr>
          <p:cNvSpPr/>
          <p:nvPr/>
        </p:nvSpPr>
        <p:spPr>
          <a:xfrm>
            <a:off x="109728" y="2441448"/>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46304" y="2500884"/>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说学情</a:t>
            </a:r>
          </a:p>
        </p:txBody>
      </p:sp>
      <p:sp>
        <p:nvSpPr>
          <p:cNvPr id="9" name="Rectangle 8">
            <a:hlinkClick action="ppaction://hlinksldjump" r:id="rId5"/>
          </p:cNvPr>
          <p:cNvSpPr/>
          <p:nvPr/>
        </p:nvSpPr>
        <p:spPr>
          <a:xfrm>
            <a:off x="109728" y="3008376"/>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46304" y="3067812"/>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说目标</a:t>
            </a:r>
          </a:p>
        </p:txBody>
      </p:sp>
      <p:sp>
        <p:nvSpPr>
          <p:cNvPr id="11" name="Rectangle 10">
            <a:hlinkClick action="ppaction://hlinksldjump" r:id="rId6"/>
          </p:cNvPr>
          <p:cNvSpPr/>
          <p:nvPr/>
        </p:nvSpPr>
        <p:spPr>
          <a:xfrm>
            <a:off x="109728" y="3575303"/>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6"/>
          </p:cNvPr>
          <p:cNvSpPr txBox="1"/>
          <p:nvPr/>
        </p:nvSpPr>
        <p:spPr>
          <a:xfrm>
            <a:off x="146304" y="3634739"/>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说重难</a:t>
            </a:r>
          </a:p>
        </p:txBody>
      </p:sp>
      <p:sp>
        <p:nvSpPr>
          <p:cNvPr id="13" name="Rectangle 12">
            <a:hlinkClick action="ppaction://hlinksldjump" r:id="rId7"/>
          </p:cNvPr>
          <p:cNvSpPr/>
          <p:nvPr/>
        </p:nvSpPr>
        <p:spPr>
          <a:xfrm>
            <a:off x="109728" y="4142231"/>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7"/>
          </p:cNvPr>
          <p:cNvSpPr txBox="1"/>
          <p:nvPr/>
        </p:nvSpPr>
        <p:spPr>
          <a:xfrm>
            <a:off x="146304" y="4201668"/>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说过程</a:t>
            </a:r>
          </a:p>
        </p:txBody>
      </p:sp>
      <p:sp>
        <p:nvSpPr>
          <p:cNvPr id="15" name="Rectangle 14">
            <a:hlinkClick action="ppaction://hlinksldjump" r:id="rId8"/>
          </p:cNvPr>
          <p:cNvSpPr/>
          <p:nvPr/>
        </p:nvSpPr>
        <p:spPr>
          <a:xfrm>
            <a:off x="109728" y="4709160"/>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8"/>
          </p:cNvPr>
          <p:cNvSpPr txBox="1"/>
          <p:nvPr/>
        </p:nvSpPr>
        <p:spPr>
          <a:xfrm>
            <a:off x="146304" y="4768596"/>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说反思</a:t>
            </a:r>
          </a:p>
        </p:txBody>
      </p:sp>
      <p:sp>
        <p:nvSpPr>
          <p:cNvPr id="17" name="TextBox 16"/>
          <p:cNvSpPr txBox="1"/>
          <p:nvPr/>
        </p:nvSpPr>
        <p:spPr>
          <a:xfrm>
            <a:off x="210312" y="6062472"/>
            <a:ext cx="950976" cy="393192"/>
          </a:xfrm>
          <a:prstGeom prst="rect">
            <a:avLst/>
          </a:prstGeom>
          <a:noFill/>
        </p:spPr>
        <p:txBody>
          <a:bodyPr wrap="square" lIns="18288" rIns="18288" tIns="9144" bIns="9144">
            <a:spAutoFit/>
          </a:bodyPr>
          <a:lstStyle/>
          <a:p>
            <a:pPr algn="ctr">
              <a:lnSpc>
                <a:spcPct val="110000"/>
              </a:lnSpc>
              <a:spcAft>
                <a:spcPts val="500"/>
              </a:spcAft>
            </a:pPr>
            <a:r>
              <a:rPr sz="1300" b="0" lang="en-US">
                <a:solidFill>
                  <a:srgbClr val="BCD3DF"/>
                </a:solidFill>
                <a:latin typeface="Arial"/>
                <a:ea typeface="Microsoft YaHei"/>
              </a:rPr>
              <a:t>03 / 20</a:t>
            </a:r>
          </a:p>
        </p:txBody>
      </p:sp>
      <p:sp>
        <p:nvSpPr>
          <p:cNvPr id="18" name="Rectangle 17"/>
          <p:cNvSpPr/>
          <p:nvPr/>
        </p:nvSpPr>
        <p:spPr>
          <a:xfrm>
            <a:off x="1325880" y="0"/>
            <a:ext cx="10872216" cy="6858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00784" y="283464"/>
            <a:ext cx="7315200" cy="274320"/>
          </a:xfrm>
          <a:prstGeom prst="rect">
            <a:avLst/>
          </a:prstGeom>
          <a:noFill/>
        </p:spPr>
        <p:txBody>
          <a:bodyPr wrap="square" lIns="18288" rIns="18288" tIns="9144" bIns="9144">
            <a:spAutoFit/>
          </a:bodyPr>
          <a:lstStyle/>
          <a:p>
            <a:pPr algn="l">
              <a:lnSpc>
                <a:spcPct val="110000"/>
              </a:lnSpc>
              <a:spcAft>
                <a:spcPts val="500"/>
              </a:spcAft>
            </a:pPr>
            <a:r>
              <a:rPr sz="1100" b="1" lang="en-US">
                <a:solidFill>
                  <a:srgbClr val="167D89"/>
                </a:solidFill>
                <a:latin typeface="Arial"/>
                <a:ea typeface="Microsoft YaHei"/>
              </a:rPr>
              <a:t>BODY LANGUAGE   /   READING AND THINKING</a:t>
            </a:r>
          </a:p>
        </p:txBody>
      </p:sp>
      <p:sp>
        <p:nvSpPr>
          <p:cNvPr id="20" name="TextBox 19"/>
          <p:cNvSpPr txBox="1"/>
          <p:nvPr/>
        </p:nvSpPr>
        <p:spPr>
          <a:xfrm>
            <a:off x="9802368" y="283464"/>
            <a:ext cx="1920240" cy="274320"/>
          </a:xfrm>
          <a:prstGeom prst="rect">
            <a:avLst/>
          </a:prstGeom>
          <a:noFill/>
        </p:spPr>
        <p:txBody>
          <a:bodyPr wrap="square" lIns="18288" rIns="18288" tIns="9144" bIns="9144">
            <a:spAutoFit/>
          </a:bodyPr>
          <a:lstStyle/>
          <a:p>
            <a:pPr algn="r">
              <a:lnSpc>
                <a:spcPct val="110000"/>
              </a:lnSpc>
              <a:spcAft>
                <a:spcPts val="500"/>
              </a:spcAft>
            </a:pPr>
            <a:r>
              <a:rPr sz="1100" b="0" lang="en-US">
                <a:solidFill>
                  <a:srgbClr val="526B78"/>
                </a:solidFill>
                <a:latin typeface="Arial"/>
                <a:ea typeface="Microsoft YaHei"/>
              </a:rPr>
              <a:t>00:45–01:20</a:t>
            </a:r>
          </a:p>
        </p:txBody>
      </p:sp>
      <p:sp>
        <p:nvSpPr>
          <p:cNvPr id="21" name="TextBox 20"/>
          <p:cNvSpPr txBox="1"/>
          <p:nvPr/>
        </p:nvSpPr>
        <p:spPr>
          <a:xfrm>
            <a:off x="1691640" y="859536"/>
            <a:ext cx="10021824" cy="630936"/>
          </a:xfrm>
          <a:prstGeom prst="rect">
            <a:avLst/>
          </a:prstGeom>
          <a:noFill/>
        </p:spPr>
        <p:txBody>
          <a:bodyPr wrap="square" lIns="18288" rIns="18288" tIns="9144" bIns="9144">
            <a:spAutoFit/>
          </a:bodyPr>
          <a:lstStyle/>
          <a:p>
            <a:pPr algn="l">
              <a:lnSpc>
                <a:spcPct val="110000"/>
              </a:lnSpc>
              <a:spcAft>
                <a:spcPts val="500"/>
              </a:spcAft>
            </a:pPr>
            <a:r>
              <a:rPr sz="3000" b="1" lang="zh-CN">
                <a:solidFill>
                  <a:srgbClr val="183A50"/>
                </a:solidFill>
                <a:latin typeface="Microsoft YaHei"/>
                <a:ea typeface="Microsoft YaHei"/>
              </a:rPr>
              <a:t>说教材｜从语篇理解走向得体交际</a:t>
            </a:r>
          </a:p>
        </p:txBody>
      </p:sp>
      <p:sp>
        <p:nvSpPr>
          <p:cNvPr id="22" name="TextBox 21"/>
          <p:cNvSpPr txBox="1"/>
          <p:nvPr/>
        </p:nvSpPr>
        <p:spPr>
          <a:xfrm>
            <a:off x="1719072" y="1545336"/>
            <a:ext cx="9921240" cy="521207"/>
          </a:xfrm>
          <a:prstGeom prst="rect">
            <a:avLst/>
          </a:prstGeom>
          <a:noFill/>
        </p:spPr>
        <p:txBody>
          <a:bodyPr wrap="square" lIns="18288" rIns="18288" tIns="9144" bIns="9144">
            <a:spAutoFit/>
          </a:bodyPr>
          <a:lstStyle/>
          <a:p>
            <a:pPr algn="l">
              <a:lnSpc>
                <a:spcPct val="110000"/>
              </a:lnSpc>
              <a:spcAft>
                <a:spcPts val="500"/>
              </a:spcAft>
            </a:pPr>
            <a:r>
              <a:rPr sz="1500" b="0" lang="en-US">
                <a:solidFill>
                  <a:srgbClr val="526B78"/>
                </a:solidFill>
                <a:latin typeface="Arial"/>
                <a:ea typeface="Microsoft YaHei"/>
              </a:rPr>
              <a:t>PEP · Selective Compulsory Book 1 · Unit 4 · pp. 38–39</a:t>
            </a:r>
          </a:p>
        </p:txBody>
      </p:sp>
      <p:sp>
        <p:nvSpPr>
          <p:cNvPr id="23" name="Rectangle 22"/>
          <p:cNvSpPr/>
          <p:nvPr/>
        </p:nvSpPr>
        <p:spPr>
          <a:xfrm>
            <a:off x="1719072" y="6400800"/>
            <a:ext cx="9985248" cy="10058"/>
          </a:xfrm>
          <a:prstGeom prst="rect">
            <a:avLst/>
          </a:prstGeom>
          <a:solidFill>
            <a:srgbClr val="C8D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37360" y="6492240"/>
            <a:ext cx="9784080" cy="228600"/>
          </a:xfrm>
          <a:prstGeom prst="rect">
            <a:avLst/>
          </a:prstGeom>
          <a:noFill/>
        </p:spPr>
        <p:txBody>
          <a:bodyPr wrap="square" lIns="18288" rIns="18288" tIns="9144" bIns="9144">
            <a:spAutoFit/>
          </a:bodyPr>
          <a:lstStyle/>
          <a:p>
            <a:pPr algn="l">
              <a:lnSpc>
                <a:spcPct val="110000"/>
              </a:lnSpc>
              <a:spcAft>
                <a:spcPts val="500"/>
              </a:spcAft>
            </a:pPr>
            <a:r>
              <a:rPr sz="1050" b="0" lang="zh-CN">
                <a:solidFill>
                  <a:srgbClr val="526B78"/>
                </a:solidFill>
                <a:latin typeface="Microsoft YaHei"/>
                <a:ea typeface="Microsoft YaHei"/>
              </a:rPr>
              <a:t>读懂差异  ·  尊重语境  ·  得体交流</a:t>
            </a:r>
          </a:p>
        </p:txBody>
      </p:sp>
      <p:sp>
        <p:nvSpPr>
          <p:cNvPr id="25" name="Rectangle 24"/>
          <p:cNvSpPr/>
          <p:nvPr/>
        </p:nvSpPr>
        <p:spPr>
          <a:xfrm>
            <a:off x="1719072" y="6345936"/>
            <a:ext cx="1497787" cy="2286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737360" y="2221992"/>
            <a:ext cx="3136392" cy="3429000"/>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737360" y="2221992"/>
            <a:ext cx="3136392" cy="4114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920240" y="2395728"/>
            <a:ext cx="2770632" cy="484632"/>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167D89"/>
                </a:solidFill>
                <a:latin typeface="Arial"/>
                <a:ea typeface="Microsoft YaHei"/>
              </a:rPr>
              <a:t>WHAT · Content</a:t>
            </a:r>
          </a:p>
        </p:txBody>
      </p:sp>
      <p:sp>
        <p:nvSpPr>
          <p:cNvPr id="29" name="TextBox 28"/>
          <p:cNvSpPr txBox="1"/>
          <p:nvPr/>
        </p:nvSpPr>
        <p:spPr>
          <a:xfrm>
            <a:off x="1920240" y="3054096"/>
            <a:ext cx="2770632" cy="2496312"/>
          </a:xfrm>
          <a:prstGeom prst="rect">
            <a:avLst/>
          </a:prstGeom>
          <a:noFill/>
        </p:spPr>
        <p:txBody>
          <a:bodyPr wrap="square" lIns="18288" rIns="18288" tIns="9144" bIns="9144">
            <a:spAutoFit/>
          </a:bodyPr>
          <a:lstStyle/>
          <a:p>
            <a:pPr algn="l">
              <a:lnSpc>
                <a:spcPct val="110000"/>
              </a:lnSpc>
              <a:spcAft>
                <a:spcPts val="500"/>
              </a:spcAft>
            </a:pPr>
            <a:r>
              <a:rPr sz="2000" b="0" lang="en-US">
                <a:solidFill>
                  <a:srgbClr val="183A50"/>
                </a:solidFill>
                <a:latin typeface="Arial"/>
                <a:ea typeface="Microsoft YaHei"/>
              </a:rPr>
              <a:t>An expository text</a:t>
            </a:r>
          </a:p>
          <a:p>
            <a:pPr algn="l">
              <a:lnSpc>
                <a:spcPct val="110000"/>
              </a:lnSpc>
              <a:spcAft>
                <a:spcPts val="500"/>
              </a:spcAft>
            </a:pPr>
            <a:r>
              <a:rPr sz="2000" b="0" lang="en-US">
                <a:solidFill>
                  <a:srgbClr val="183A50"/>
                </a:solidFill>
                <a:latin typeface="Arial"/>
                <a:ea typeface="Microsoft YaHei"/>
              </a:rPr>
              <a:t/>
            </a:r>
          </a:p>
          <a:p>
            <a:pPr algn="l">
              <a:lnSpc>
                <a:spcPct val="110000"/>
              </a:lnSpc>
              <a:spcAft>
                <a:spcPts val="500"/>
              </a:spcAft>
            </a:pPr>
            <a:r>
              <a:rPr sz="2000" b="0" lang="en-US">
                <a:solidFill>
                  <a:srgbClr val="183A50"/>
                </a:solidFill>
                <a:latin typeface="Arial"/>
                <a:ea typeface="Microsoft YaHei"/>
              </a:rPr>
              <a:t>Cultural differences</a:t>
            </a:r>
          </a:p>
          <a:p>
            <a:pPr algn="l">
              <a:lnSpc>
                <a:spcPct val="110000"/>
              </a:lnSpc>
              <a:spcAft>
                <a:spcPts val="500"/>
              </a:spcAft>
            </a:pPr>
            <a:r>
              <a:rPr sz="2000" b="0" lang="en-US">
                <a:solidFill>
                  <a:srgbClr val="183A50"/>
                </a:solidFill>
                <a:latin typeface="Arial"/>
                <a:ea typeface="Microsoft YaHei"/>
              </a:rPr>
              <a:t>Shared examples</a:t>
            </a:r>
          </a:p>
          <a:p>
            <a:pPr algn="l">
              <a:lnSpc>
                <a:spcPct val="110000"/>
              </a:lnSpc>
              <a:spcAft>
                <a:spcPts val="500"/>
              </a:spcAft>
            </a:pPr>
            <a:r>
              <a:rPr sz="2000" b="0" lang="en-US">
                <a:solidFill>
                  <a:srgbClr val="183A50"/>
                </a:solidFill>
                <a:latin typeface="Arial"/>
                <a:ea typeface="Microsoft YaHei"/>
              </a:rPr>
              <a:t>Uses of smiling</a:t>
            </a:r>
          </a:p>
        </p:txBody>
      </p:sp>
      <p:sp>
        <p:nvSpPr>
          <p:cNvPr id="30" name="Rectangle 29"/>
          <p:cNvSpPr/>
          <p:nvPr/>
        </p:nvSpPr>
        <p:spPr>
          <a:xfrm>
            <a:off x="5102352" y="2221992"/>
            <a:ext cx="3136392" cy="3429000"/>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102352" y="2221992"/>
            <a:ext cx="3136392" cy="4114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85232" y="2395728"/>
            <a:ext cx="2770632" cy="484632"/>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167D89"/>
                </a:solidFill>
                <a:latin typeface="Arial"/>
                <a:ea typeface="Microsoft YaHei"/>
              </a:rPr>
              <a:t>WHY · Value</a:t>
            </a:r>
          </a:p>
        </p:txBody>
      </p:sp>
      <p:sp>
        <p:nvSpPr>
          <p:cNvPr id="33" name="TextBox 32"/>
          <p:cNvSpPr txBox="1"/>
          <p:nvPr/>
        </p:nvSpPr>
        <p:spPr>
          <a:xfrm>
            <a:off x="5285232" y="3054096"/>
            <a:ext cx="2770632" cy="2496312"/>
          </a:xfrm>
          <a:prstGeom prst="rect">
            <a:avLst/>
          </a:prstGeom>
          <a:noFill/>
        </p:spPr>
        <p:txBody>
          <a:bodyPr wrap="square" lIns="18288" rIns="18288" tIns="9144" bIns="9144">
            <a:spAutoFit/>
          </a:bodyPr>
          <a:lstStyle/>
          <a:p>
            <a:pPr algn="l">
              <a:lnSpc>
                <a:spcPct val="110000"/>
              </a:lnSpc>
              <a:spcAft>
                <a:spcPts val="500"/>
              </a:spcAft>
            </a:pPr>
            <a:r>
              <a:rPr sz="2000" b="0" lang="en-US">
                <a:solidFill>
                  <a:srgbClr val="183A50"/>
                </a:solidFill>
                <a:latin typeface="Arial"/>
                <a:ea typeface="Microsoft YaHei"/>
              </a:rPr>
              <a:t>Understand meanings</a:t>
            </a:r>
          </a:p>
          <a:p>
            <a:pPr algn="l">
              <a:lnSpc>
                <a:spcPct val="110000"/>
              </a:lnSpc>
              <a:spcAft>
                <a:spcPts val="500"/>
              </a:spcAft>
            </a:pPr>
            <a:r>
              <a:rPr sz="2000" b="0" lang="en-US">
                <a:solidFill>
                  <a:srgbClr val="183A50"/>
                </a:solidFill>
                <a:latin typeface="Arial"/>
                <a:ea typeface="Microsoft YaHei"/>
              </a:rPr>
              <a:t>in context.</a:t>
            </a:r>
          </a:p>
          <a:p>
            <a:pPr algn="l">
              <a:lnSpc>
                <a:spcPct val="110000"/>
              </a:lnSpc>
              <a:spcAft>
                <a:spcPts val="500"/>
              </a:spcAft>
            </a:pPr>
            <a:r>
              <a:rPr sz="2000" b="0" lang="en-US">
                <a:solidFill>
                  <a:srgbClr val="183A50"/>
                </a:solidFill>
                <a:latin typeface="Arial"/>
                <a:ea typeface="Microsoft YaHei"/>
              </a:rPr>
              <a:t/>
            </a:r>
          </a:p>
          <a:p>
            <a:pPr algn="l">
              <a:lnSpc>
                <a:spcPct val="110000"/>
              </a:lnSpc>
              <a:spcAft>
                <a:spcPts val="500"/>
              </a:spcAft>
            </a:pPr>
            <a:r>
              <a:rPr sz="2000" b="0" lang="en-US">
                <a:solidFill>
                  <a:srgbClr val="183A50"/>
                </a:solidFill>
                <a:latin typeface="Arial"/>
                <a:ea typeface="Microsoft YaHei"/>
              </a:rPr>
              <a:t>Respect differences.</a:t>
            </a:r>
          </a:p>
          <a:p>
            <a:pPr algn="l">
              <a:lnSpc>
                <a:spcPct val="110000"/>
              </a:lnSpc>
              <a:spcAft>
                <a:spcPts val="500"/>
              </a:spcAft>
            </a:pPr>
            <a:r>
              <a:rPr sz="2000" b="0" lang="en-US">
                <a:solidFill>
                  <a:srgbClr val="183A50"/>
                </a:solidFill>
                <a:latin typeface="Arial"/>
                <a:ea typeface="Microsoft YaHei"/>
              </a:rPr>
              <a:t/>
            </a:r>
          </a:p>
          <a:p>
            <a:pPr algn="l">
              <a:lnSpc>
                <a:spcPct val="110000"/>
              </a:lnSpc>
              <a:spcAft>
                <a:spcPts val="500"/>
              </a:spcAft>
            </a:pPr>
            <a:r>
              <a:rPr sz="2000" b="0" lang="en-US">
                <a:solidFill>
                  <a:srgbClr val="183A50"/>
                </a:solidFill>
                <a:latin typeface="Arial"/>
                <a:ea typeface="Microsoft YaHei"/>
              </a:rPr>
              <a:t>Communicate well.</a:t>
            </a:r>
          </a:p>
        </p:txBody>
      </p:sp>
      <p:sp>
        <p:nvSpPr>
          <p:cNvPr id="34" name="Rectangle 33"/>
          <p:cNvSpPr/>
          <p:nvPr/>
        </p:nvSpPr>
        <p:spPr>
          <a:xfrm>
            <a:off x="8467344" y="2221992"/>
            <a:ext cx="3136392" cy="3429000"/>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467344" y="2221992"/>
            <a:ext cx="3136392" cy="4114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0224" y="2395728"/>
            <a:ext cx="2770632" cy="484632"/>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167D89"/>
                </a:solidFill>
                <a:latin typeface="Arial"/>
                <a:ea typeface="Microsoft YaHei"/>
              </a:rPr>
              <a:t>HOW · Organisation</a:t>
            </a:r>
          </a:p>
        </p:txBody>
      </p:sp>
      <p:sp>
        <p:nvSpPr>
          <p:cNvPr id="37" name="TextBox 36"/>
          <p:cNvSpPr txBox="1"/>
          <p:nvPr/>
        </p:nvSpPr>
        <p:spPr>
          <a:xfrm>
            <a:off x="8650224" y="3054096"/>
            <a:ext cx="2770632" cy="2496312"/>
          </a:xfrm>
          <a:prstGeom prst="rect">
            <a:avLst/>
          </a:prstGeom>
          <a:noFill/>
        </p:spPr>
        <p:txBody>
          <a:bodyPr wrap="square" lIns="18288" rIns="18288" tIns="9144" bIns="9144">
            <a:spAutoFit/>
          </a:bodyPr>
          <a:lstStyle/>
          <a:p>
            <a:pPr algn="l">
              <a:lnSpc>
                <a:spcPct val="110000"/>
              </a:lnSpc>
              <a:spcAft>
                <a:spcPts val="500"/>
              </a:spcAft>
            </a:pPr>
            <a:r>
              <a:rPr sz="2000" b="0" lang="en-US">
                <a:solidFill>
                  <a:srgbClr val="183A50"/>
                </a:solidFill>
                <a:latin typeface="Arial"/>
                <a:ea typeface="Microsoft YaHei"/>
              </a:rPr>
              <a:t>Title + topic sentences</a:t>
            </a:r>
          </a:p>
          <a:p>
            <a:pPr algn="l">
              <a:lnSpc>
                <a:spcPct val="110000"/>
              </a:lnSpc>
              <a:spcAft>
                <a:spcPts val="500"/>
              </a:spcAft>
            </a:pPr>
            <a:r>
              <a:rPr sz="2000" b="0" lang="en-US">
                <a:solidFill>
                  <a:srgbClr val="183A50"/>
                </a:solidFill>
                <a:latin typeface="Arial"/>
                <a:ea typeface="Microsoft YaHei"/>
              </a:rPr>
              <a:t/>
            </a:r>
          </a:p>
          <a:p>
            <a:pPr algn="l">
              <a:lnSpc>
                <a:spcPct val="110000"/>
              </a:lnSpc>
              <a:spcAft>
                <a:spcPts val="500"/>
              </a:spcAft>
            </a:pPr>
            <a:r>
              <a:rPr sz="2000" b="0" lang="en-US">
                <a:solidFill>
                  <a:srgbClr val="183A50"/>
                </a:solidFill>
                <a:latin typeface="Arial"/>
                <a:ea typeface="Microsoft YaHei"/>
              </a:rPr>
              <a:t>Compare examples.</a:t>
            </a:r>
          </a:p>
          <a:p>
            <a:pPr algn="l">
              <a:lnSpc>
                <a:spcPct val="110000"/>
              </a:lnSpc>
              <a:spcAft>
                <a:spcPts val="500"/>
              </a:spcAft>
            </a:pPr>
            <a:r>
              <a:rPr sz="2000" b="0" lang="en-US">
                <a:solidFill>
                  <a:srgbClr val="183A50"/>
                </a:solidFill>
                <a:latin typeface="Arial"/>
                <a:ea typeface="Microsoft YaHei"/>
              </a:rPr>
              <a:t/>
            </a:r>
          </a:p>
          <a:p>
            <a:pPr algn="l">
              <a:lnSpc>
                <a:spcPct val="110000"/>
              </a:lnSpc>
              <a:spcAft>
                <a:spcPts val="500"/>
              </a:spcAft>
            </a:pPr>
            <a:r>
              <a:rPr sz="2000" b="0" lang="en-US">
                <a:solidFill>
                  <a:srgbClr val="183A50"/>
                </a:solidFill>
                <a:latin typeface="Arial"/>
                <a:ea typeface="Microsoft YaHei"/>
              </a:rPr>
              <a:t>Apply ideas in advice.</a:t>
            </a:r>
          </a:p>
        </p:txBody>
      </p:sp>
      <p:sp>
        <p:nvSpPr>
          <p:cNvPr id="38" name="TextBox 37"/>
          <p:cNvSpPr txBox="1"/>
          <p:nvPr/>
        </p:nvSpPr>
        <p:spPr>
          <a:xfrm>
            <a:off x="1883664" y="5843016"/>
            <a:ext cx="9601200" cy="384048"/>
          </a:xfrm>
          <a:prstGeom prst="rect">
            <a:avLst/>
          </a:prstGeom>
          <a:noFill/>
        </p:spPr>
        <p:txBody>
          <a:bodyPr wrap="square" lIns="18288" rIns="18288" tIns="9144" bIns="9144">
            <a:spAutoFit/>
          </a:bodyPr>
          <a:lstStyle/>
          <a:p>
            <a:pPr algn="l">
              <a:lnSpc>
                <a:spcPct val="110000"/>
              </a:lnSpc>
              <a:spcAft>
                <a:spcPts val="500"/>
              </a:spcAft>
            </a:pPr>
            <a:r>
              <a:rPr sz="1500" b="1" lang="zh-CN">
                <a:solidFill>
                  <a:srgbClr val="167D89"/>
                </a:solidFill>
                <a:latin typeface="Microsoft YaHei"/>
                <a:ea typeface="Microsoft YaHei"/>
              </a:rPr>
              <a:t>课型：阅读课  ｜  标题的 Listening 是拟人表达  ｜  核心任务：Advice for Tim</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3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3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3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3" grpId="0"/>
      <p:bldP spid="37" grpId="0"/>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9FA"/>
        </a:solidFill>
        <a:effectLst/>
      </p:bgPr>
    </p:bg>
    <p:spTree>
      <p:nvGrpSpPr>
        <p:cNvPr id="1" name=""/>
        <p:cNvGrpSpPr/>
        <p:nvPr/>
      </p:nvGrpSpPr>
      <p:grpSpPr/>
      <p:sp>
        <p:nvSpPr>
          <p:cNvPr id="2" name="Rectangle 1"/>
          <p:cNvSpPr/>
          <p:nvPr/>
        </p:nvSpPr>
        <p:spPr>
          <a:xfrm>
            <a:off x="0" y="0"/>
            <a:ext cx="1325880" cy="6858000"/>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329184"/>
            <a:ext cx="896112" cy="457200"/>
          </a:xfrm>
          <a:prstGeom prst="rect">
            <a:avLst/>
          </a:prstGeom>
          <a:noFill/>
        </p:spPr>
        <p:txBody>
          <a:bodyPr wrap="square" lIns="18288" rIns="18288" tIns="9144" bIns="9144">
            <a:spAutoFit/>
          </a:bodyPr>
          <a:lstStyle/>
          <a:p>
            <a:pPr algn="l">
              <a:lnSpc>
                <a:spcPct val="110000"/>
              </a:lnSpc>
              <a:spcAft>
                <a:spcPts val="500"/>
              </a:spcAft>
            </a:pPr>
            <a:r>
              <a:rPr sz="1800" b="1" lang="en-US">
                <a:solidFill>
                  <a:srgbClr val="FFFFFF"/>
                </a:solidFill>
                <a:latin typeface="Arial"/>
                <a:ea typeface="Microsoft YaHei"/>
              </a:rPr>
              <a:t>UNIT 4</a:t>
            </a:r>
          </a:p>
        </p:txBody>
      </p:sp>
      <p:sp>
        <p:nvSpPr>
          <p:cNvPr id="4" name="TextBox 3"/>
          <p:cNvSpPr txBox="1"/>
          <p:nvPr/>
        </p:nvSpPr>
        <p:spPr>
          <a:xfrm>
            <a:off x="219456" y="868680"/>
            <a:ext cx="914400" cy="658368"/>
          </a:xfrm>
          <a:prstGeom prst="rect">
            <a:avLst/>
          </a:prstGeom>
          <a:noFill/>
        </p:spPr>
        <p:txBody>
          <a:bodyPr wrap="square" lIns="18288" rIns="18288" tIns="9144" bIns="9144">
            <a:spAutoFit/>
          </a:bodyPr>
          <a:lstStyle/>
          <a:p>
            <a:pPr algn="l">
              <a:lnSpc>
                <a:spcPct val="110000"/>
              </a:lnSpc>
              <a:spcAft>
                <a:spcPts val="500"/>
              </a:spcAft>
            </a:pPr>
            <a:r>
              <a:rPr sz="1200" b="1" lang="en-US">
                <a:solidFill>
                  <a:srgbClr val="93C3D4"/>
                </a:solidFill>
                <a:latin typeface="Arial"/>
                <a:ea typeface="Microsoft YaHei"/>
              </a:rPr>
              <a:t>READ</a:t>
            </a:r>
          </a:p>
          <a:p>
            <a:pPr algn="l">
              <a:lnSpc>
                <a:spcPct val="110000"/>
              </a:lnSpc>
              <a:spcAft>
                <a:spcPts val="500"/>
              </a:spcAft>
            </a:pPr>
            <a:r>
              <a:rPr sz="1200" b="1" lang="en-US">
                <a:solidFill>
                  <a:srgbClr val="93C3D4"/>
                </a:solidFill>
                <a:latin typeface="Arial"/>
                <a:ea typeface="Microsoft YaHei"/>
              </a:rPr>
              <a:t>&amp; THINK</a:t>
            </a:r>
          </a:p>
        </p:txBody>
      </p:sp>
      <p:sp>
        <p:nvSpPr>
          <p:cNvPr id="5" name="Rectangle 4">
            <a:hlinkClick action="ppaction://hlinksldjump" r:id="rId3"/>
          </p:cNvPr>
          <p:cNvSpPr/>
          <p:nvPr/>
        </p:nvSpPr>
        <p:spPr>
          <a:xfrm>
            <a:off x="109728" y="1874519"/>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146304" y="1933955"/>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说教材</a:t>
            </a:r>
          </a:p>
        </p:txBody>
      </p:sp>
      <p:sp>
        <p:nvSpPr>
          <p:cNvPr id="7" name="Rectangle 6">
            <a:hlinkClick action="ppaction://hlinksldjump" r:id="rId4"/>
          </p:cNvPr>
          <p:cNvSpPr/>
          <p:nvPr/>
        </p:nvSpPr>
        <p:spPr>
          <a:xfrm>
            <a:off x="109728" y="2441448"/>
            <a:ext cx="1097280" cy="42976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46304" y="2500884"/>
            <a:ext cx="1024128" cy="301752"/>
          </a:xfrm>
          <a:prstGeom prst="rect">
            <a:avLst/>
          </a:prstGeom>
          <a:noFill/>
        </p:spPr>
        <p:txBody>
          <a:bodyPr wrap="square" lIns="18288" rIns="18288" tIns="9144" bIns="9144">
            <a:spAutoFit/>
          </a:bodyPr>
          <a:lstStyle/>
          <a:p>
            <a:pPr algn="ctr">
              <a:lnSpc>
                <a:spcPct val="110000"/>
              </a:lnSpc>
              <a:spcAft>
                <a:spcPts val="500"/>
              </a:spcAft>
            </a:pPr>
            <a:r>
              <a:rPr sz="1500" b="1" lang="zh-CN">
                <a:solidFill>
                  <a:srgbClr val="FFFFFF"/>
                </a:solidFill>
                <a:latin typeface="Microsoft YaHei"/>
                <a:ea typeface="Microsoft YaHei"/>
              </a:rPr>
              <a:t>说学情</a:t>
            </a:r>
          </a:p>
        </p:txBody>
      </p:sp>
      <p:sp>
        <p:nvSpPr>
          <p:cNvPr id="9" name="Rectangle 8">
            <a:hlinkClick action="ppaction://hlinksldjump" r:id="rId5"/>
          </p:cNvPr>
          <p:cNvSpPr/>
          <p:nvPr/>
        </p:nvSpPr>
        <p:spPr>
          <a:xfrm>
            <a:off x="109728" y="3008376"/>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46304" y="3067812"/>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说目标</a:t>
            </a:r>
          </a:p>
        </p:txBody>
      </p:sp>
      <p:sp>
        <p:nvSpPr>
          <p:cNvPr id="11" name="Rectangle 10">
            <a:hlinkClick action="ppaction://hlinksldjump" r:id="rId6"/>
          </p:cNvPr>
          <p:cNvSpPr/>
          <p:nvPr/>
        </p:nvSpPr>
        <p:spPr>
          <a:xfrm>
            <a:off x="109728" y="3575303"/>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6"/>
          </p:cNvPr>
          <p:cNvSpPr txBox="1"/>
          <p:nvPr/>
        </p:nvSpPr>
        <p:spPr>
          <a:xfrm>
            <a:off x="146304" y="3634739"/>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说重难</a:t>
            </a:r>
          </a:p>
        </p:txBody>
      </p:sp>
      <p:sp>
        <p:nvSpPr>
          <p:cNvPr id="13" name="Rectangle 12">
            <a:hlinkClick action="ppaction://hlinksldjump" r:id="rId7"/>
          </p:cNvPr>
          <p:cNvSpPr/>
          <p:nvPr/>
        </p:nvSpPr>
        <p:spPr>
          <a:xfrm>
            <a:off x="109728" y="4142231"/>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7"/>
          </p:cNvPr>
          <p:cNvSpPr txBox="1"/>
          <p:nvPr/>
        </p:nvSpPr>
        <p:spPr>
          <a:xfrm>
            <a:off x="146304" y="4201668"/>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说过程</a:t>
            </a:r>
          </a:p>
        </p:txBody>
      </p:sp>
      <p:sp>
        <p:nvSpPr>
          <p:cNvPr id="15" name="Rectangle 14">
            <a:hlinkClick action="ppaction://hlinksldjump" r:id="rId8"/>
          </p:cNvPr>
          <p:cNvSpPr/>
          <p:nvPr/>
        </p:nvSpPr>
        <p:spPr>
          <a:xfrm>
            <a:off x="109728" y="4709160"/>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8"/>
          </p:cNvPr>
          <p:cNvSpPr txBox="1"/>
          <p:nvPr/>
        </p:nvSpPr>
        <p:spPr>
          <a:xfrm>
            <a:off x="146304" y="4768596"/>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说反思</a:t>
            </a:r>
          </a:p>
        </p:txBody>
      </p:sp>
      <p:sp>
        <p:nvSpPr>
          <p:cNvPr id="17" name="TextBox 16"/>
          <p:cNvSpPr txBox="1"/>
          <p:nvPr/>
        </p:nvSpPr>
        <p:spPr>
          <a:xfrm>
            <a:off x="210312" y="6062472"/>
            <a:ext cx="950976" cy="393192"/>
          </a:xfrm>
          <a:prstGeom prst="rect">
            <a:avLst/>
          </a:prstGeom>
          <a:noFill/>
        </p:spPr>
        <p:txBody>
          <a:bodyPr wrap="square" lIns="18288" rIns="18288" tIns="9144" bIns="9144">
            <a:spAutoFit/>
          </a:bodyPr>
          <a:lstStyle/>
          <a:p>
            <a:pPr algn="ctr">
              <a:lnSpc>
                <a:spcPct val="110000"/>
              </a:lnSpc>
              <a:spcAft>
                <a:spcPts val="500"/>
              </a:spcAft>
            </a:pPr>
            <a:r>
              <a:rPr sz="1300" b="0" lang="en-US">
                <a:solidFill>
                  <a:srgbClr val="BCD3DF"/>
                </a:solidFill>
                <a:latin typeface="Arial"/>
                <a:ea typeface="Microsoft YaHei"/>
              </a:rPr>
              <a:t>04 / 20</a:t>
            </a:r>
          </a:p>
        </p:txBody>
      </p:sp>
      <p:sp>
        <p:nvSpPr>
          <p:cNvPr id="18" name="Rectangle 17"/>
          <p:cNvSpPr/>
          <p:nvPr/>
        </p:nvSpPr>
        <p:spPr>
          <a:xfrm>
            <a:off x="1325880" y="0"/>
            <a:ext cx="10872216" cy="6858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00784" y="283464"/>
            <a:ext cx="7315200" cy="274320"/>
          </a:xfrm>
          <a:prstGeom prst="rect">
            <a:avLst/>
          </a:prstGeom>
          <a:noFill/>
        </p:spPr>
        <p:txBody>
          <a:bodyPr wrap="square" lIns="18288" rIns="18288" tIns="9144" bIns="9144">
            <a:spAutoFit/>
          </a:bodyPr>
          <a:lstStyle/>
          <a:p>
            <a:pPr algn="l">
              <a:lnSpc>
                <a:spcPct val="110000"/>
              </a:lnSpc>
              <a:spcAft>
                <a:spcPts val="500"/>
              </a:spcAft>
            </a:pPr>
            <a:r>
              <a:rPr sz="1100" b="1" lang="en-US">
                <a:solidFill>
                  <a:srgbClr val="167D89"/>
                </a:solidFill>
                <a:latin typeface="Arial"/>
                <a:ea typeface="Microsoft YaHei"/>
              </a:rPr>
              <a:t>BODY LANGUAGE   /   READING AND THINKING</a:t>
            </a:r>
          </a:p>
        </p:txBody>
      </p:sp>
      <p:sp>
        <p:nvSpPr>
          <p:cNvPr id="20" name="TextBox 19"/>
          <p:cNvSpPr txBox="1"/>
          <p:nvPr/>
        </p:nvSpPr>
        <p:spPr>
          <a:xfrm>
            <a:off x="9802368" y="283464"/>
            <a:ext cx="1920240" cy="274320"/>
          </a:xfrm>
          <a:prstGeom prst="rect">
            <a:avLst/>
          </a:prstGeom>
          <a:noFill/>
        </p:spPr>
        <p:txBody>
          <a:bodyPr wrap="square" lIns="18288" rIns="18288" tIns="9144" bIns="9144">
            <a:spAutoFit/>
          </a:bodyPr>
          <a:lstStyle/>
          <a:p>
            <a:pPr algn="r">
              <a:lnSpc>
                <a:spcPct val="110000"/>
              </a:lnSpc>
              <a:spcAft>
                <a:spcPts val="500"/>
              </a:spcAft>
            </a:pPr>
            <a:r>
              <a:rPr sz="1100" b="0" lang="en-US">
                <a:solidFill>
                  <a:srgbClr val="526B78"/>
                </a:solidFill>
                <a:latin typeface="Arial"/>
                <a:ea typeface="Microsoft YaHei"/>
              </a:rPr>
              <a:t>01:20–01:55</a:t>
            </a:r>
          </a:p>
        </p:txBody>
      </p:sp>
      <p:sp>
        <p:nvSpPr>
          <p:cNvPr id="21" name="TextBox 20"/>
          <p:cNvSpPr txBox="1"/>
          <p:nvPr/>
        </p:nvSpPr>
        <p:spPr>
          <a:xfrm>
            <a:off x="1691640" y="859536"/>
            <a:ext cx="10021824" cy="630936"/>
          </a:xfrm>
          <a:prstGeom prst="rect">
            <a:avLst/>
          </a:prstGeom>
          <a:noFill/>
        </p:spPr>
        <p:txBody>
          <a:bodyPr wrap="square" lIns="18288" rIns="18288" tIns="9144" bIns="9144">
            <a:spAutoFit/>
          </a:bodyPr>
          <a:lstStyle/>
          <a:p>
            <a:pPr algn="l">
              <a:lnSpc>
                <a:spcPct val="110000"/>
              </a:lnSpc>
              <a:spcAft>
                <a:spcPts val="500"/>
              </a:spcAft>
            </a:pPr>
            <a:r>
              <a:rPr sz="3000" b="1" lang="zh-CN">
                <a:solidFill>
                  <a:srgbClr val="183A50"/>
                </a:solidFill>
                <a:latin typeface="Microsoft YaHei"/>
                <a:ea typeface="Microsoft YaHei"/>
              </a:rPr>
              <a:t>说学情｜从熟悉的动作到有依据的解释</a:t>
            </a:r>
          </a:p>
        </p:txBody>
      </p:sp>
      <p:sp>
        <p:nvSpPr>
          <p:cNvPr id="22" name="TextBox 21"/>
          <p:cNvSpPr txBox="1"/>
          <p:nvPr/>
        </p:nvSpPr>
        <p:spPr>
          <a:xfrm>
            <a:off x="1719072" y="1545336"/>
            <a:ext cx="9921240" cy="521207"/>
          </a:xfrm>
          <a:prstGeom prst="rect">
            <a:avLst/>
          </a:prstGeom>
          <a:noFill/>
        </p:spPr>
        <p:txBody>
          <a:bodyPr wrap="square" lIns="18288" rIns="18288" tIns="9144" bIns="9144">
            <a:spAutoFit/>
          </a:bodyPr>
          <a:lstStyle/>
          <a:p>
            <a:pPr algn="l">
              <a:lnSpc>
                <a:spcPct val="110000"/>
              </a:lnSpc>
              <a:spcAft>
                <a:spcPts val="500"/>
              </a:spcAft>
            </a:pPr>
            <a:r>
              <a:rPr sz="1500" b="0" lang="en-US">
                <a:solidFill>
                  <a:srgbClr val="526B78"/>
                </a:solidFill>
                <a:latin typeface="Arial"/>
                <a:ea typeface="Microsoft YaHei"/>
              </a:rPr>
              <a:t>Learner assumptions to be checked against the actual class</a:t>
            </a:r>
          </a:p>
        </p:txBody>
      </p:sp>
      <p:sp>
        <p:nvSpPr>
          <p:cNvPr id="23" name="Rectangle 22"/>
          <p:cNvSpPr/>
          <p:nvPr/>
        </p:nvSpPr>
        <p:spPr>
          <a:xfrm>
            <a:off x="1719072" y="6400800"/>
            <a:ext cx="9985248" cy="10058"/>
          </a:xfrm>
          <a:prstGeom prst="rect">
            <a:avLst/>
          </a:prstGeom>
          <a:solidFill>
            <a:srgbClr val="C8D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37360" y="6492240"/>
            <a:ext cx="9784080" cy="228600"/>
          </a:xfrm>
          <a:prstGeom prst="rect">
            <a:avLst/>
          </a:prstGeom>
          <a:noFill/>
        </p:spPr>
        <p:txBody>
          <a:bodyPr wrap="square" lIns="18288" rIns="18288" tIns="9144" bIns="9144">
            <a:spAutoFit/>
          </a:bodyPr>
          <a:lstStyle/>
          <a:p>
            <a:pPr algn="l">
              <a:lnSpc>
                <a:spcPct val="110000"/>
              </a:lnSpc>
              <a:spcAft>
                <a:spcPts val="500"/>
              </a:spcAft>
            </a:pPr>
            <a:r>
              <a:rPr sz="1050" b="0" lang="zh-CN">
                <a:solidFill>
                  <a:srgbClr val="526B78"/>
                </a:solidFill>
                <a:latin typeface="Microsoft YaHei"/>
                <a:ea typeface="Microsoft YaHei"/>
              </a:rPr>
              <a:t>读懂差异  ·  尊重语境  ·  得体交流</a:t>
            </a:r>
          </a:p>
        </p:txBody>
      </p:sp>
      <p:sp>
        <p:nvSpPr>
          <p:cNvPr id="25" name="Rectangle 24"/>
          <p:cNvSpPr/>
          <p:nvPr/>
        </p:nvSpPr>
        <p:spPr>
          <a:xfrm>
            <a:off x="1719072" y="6345936"/>
            <a:ext cx="1997049" cy="2286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737360" y="2221992"/>
            <a:ext cx="4800600" cy="2368296"/>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737360" y="2221992"/>
            <a:ext cx="4800600" cy="4114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920240" y="2395728"/>
            <a:ext cx="4434840" cy="484632"/>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167D89"/>
                </a:solidFill>
                <a:latin typeface="Arial"/>
                <a:ea typeface="Microsoft YaHei"/>
              </a:rPr>
              <a:t>Starting Point</a:t>
            </a:r>
          </a:p>
        </p:txBody>
      </p:sp>
      <p:sp>
        <p:nvSpPr>
          <p:cNvPr id="29" name="TextBox 28"/>
          <p:cNvSpPr txBox="1"/>
          <p:nvPr/>
        </p:nvSpPr>
        <p:spPr>
          <a:xfrm>
            <a:off x="1920240" y="3054096"/>
            <a:ext cx="4434840" cy="1435607"/>
          </a:xfrm>
          <a:prstGeom prst="rect">
            <a:avLst/>
          </a:prstGeom>
          <a:noFill/>
        </p:spPr>
        <p:txBody>
          <a:bodyPr wrap="square" lIns="18288" rIns="18288" tIns="9144" bIns="9144">
            <a:spAutoFit/>
          </a:bodyPr>
          <a:lstStyle/>
          <a:p>
            <a:pPr algn="l">
              <a:lnSpc>
                <a:spcPct val="110000"/>
              </a:lnSpc>
              <a:spcAft>
                <a:spcPts val="500"/>
              </a:spcAft>
            </a:pPr>
            <a:r>
              <a:rPr sz="2100" b="0" lang="en-US">
                <a:solidFill>
                  <a:srgbClr val="183A50"/>
                </a:solidFill>
                <a:latin typeface="Arial"/>
                <a:ea typeface="Microsoft YaHei"/>
              </a:rPr>
              <a:t>Everyday experience of gestures</a:t>
            </a:r>
          </a:p>
          <a:p>
            <a:pPr algn="l">
              <a:lnSpc>
                <a:spcPct val="110000"/>
              </a:lnSpc>
              <a:spcAft>
                <a:spcPts val="500"/>
              </a:spcAft>
            </a:pPr>
            <a:r>
              <a:rPr sz="2100" b="0" lang="en-US">
                <a:solidFill>
                  <a:srgbClr val="183A50"/>
                </a:solidFill>
                <a:latin typeface="Arial"/>
                <a:ea typeface="Microsoft YaHei"/>
              </a:rPr>
              <a:t>Basic reading and speaking skills</a:t>
            </a:r>
          </a:p>
          <a:p>
            <a:pPr algn="l">
              <a:lnSpc>
                <a:spcPct val="110000"/>
              </a:lnSpc>
              <a:spcAft>
                <a:spcPts val="500"/>
              </a:spcAft>
            </a:pPr>
            <a:r>
              <a:rPr sz="2100" b="0" lang="en-US">
                <a:solidFill>
                  <a:srgbClr val="183A50"/>
                </a:solidFill>
                <a:latin typeface="Arial"/>
                <a:ea typeface="Microsoft YaHei"/>
              </a:rPr>
              <a:t>Interest in cultural comparisons</a:t>
            </a:r>
          </a:p>
        </p:txBody>
      </p:sp>
      <p:sp>
        <p:nvSpPr>
          <p:cNvPr id="30" name="Rectangle 29"/>
          <p:cNvSpPr/>
          <p:nvPr/>
        </p:nvSpPr>
        <p:spPr>
          <a:xfrm>
            <a:off x="6748272" y="2221992"/>
            <a:ext cx="4791456" cy="2368296"/>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748272" y="2221992"/>
            <a:ext cx="4791456" cy="41148"/>
          </a:xfrm>
          <a:prstGeom prst="rect">
            <a:avLst/>
          </a:prstGeom>
          <a:solidFill>
            <a:srgbClr val="397A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31152" y="2395728"/>
            <a:ext cx="4425696" cy="484632"/>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397AAB"/>
                </a:solidFill>
                <a:latin typeface="Arial"/>
                <a:ea typeface="Microsoft YaHei"/>
              </a:rPr>
              <a:t>Learning Needs</a:t>
            </a:r>
          </a:p>
        </p:txBody>
      </p:sp>
      <p:sp>
        <p:nvSpPr>
          <p:cNvPr id="33" name="TextBox 32"/>
          <p:cNvSpPr txBox="1"/>
          <p:nvPr/>
        </p:nvSpPr>
        <p:spPr>
          <a:xfrm>
            <a:off x="6931152" y="3054096"/>
            <a:ext cx="4425696" cy="1435607"/>
          </a:xfrm>
          <a:prstGeom prst="rect">
            <a:avLst/>
          </a:prstGeom>
          <a:noFill/>
        </p:spPr>
        <p:txBody>
          <a:bodyPr wrap="square" lIns="18288" rIns="18288" tIns="9144" bIns="9144">
            <a:spAutoFit/>
          </a:bodyPr>
          <a:lstStyle/>
          <a:p>
            <a:pPr algn="l">
              <a:lnSpc>
                <a:spcPct val="110000"/>
              </a:lnSpc>
              <a:spcAft>
                <a:spcPts val="500"/>
              </a:spcAft>
            </a:pPr>
            <a:r>
              <a:rPr sz="2100" b="0" lang="en-US">
                <a:solidFill>
                  <a:srgbClr val="183A50"/>
                </a:solidFill>
                <a:latin typeface="Arial"/>
                <a:ea typeface="Microsoft YaHei"/>
              </a:rPr>
              <a:t>Link gesture, meaning and context.</a:t>
            </a:r>
          </a:p>
          <a:p>
            <a:pPr algn="l">
              <a:lnSpc>
                <a:spcPct val="110000"/>
              </a:lnSpc>
              <a:spcAft>
                <a:spcPts val="500"/>
              </a:spcAft>
            </a:pPr>
            <a:r>
              <a:rPr sz="2100" b="0" lang="en-US">
                <a:solidFill>
                  <a:srgbClr val="183A50"/>
                </a:solidFill>
                <a:latin typeface="Arial"/>
                <a:ea typeface="Microsoft YaHei"/>
              </a:rPr>
              <a:t>Read beyond personal intuition.</a:t>
            </a:r>
          </a:p>
          <a:p>
            <a:pPr algn="l">
              <a:lnSpc>
                <a:spcPct val="110000"/>
              </a:lnSpc>
              <a:spcAft>
                <a:spcPts val="500"/>
              </a:spcAft>
            </a:pPr>
            <a:r>
              <a:rPr sz="2100" b="0" lang="en-US">
                <a:solidFill>
                  <a:srgbClr val="183A50"/>
                </a:solidFill>
                <a:latin typeface="Arial"/>
                <a:ea typeface="Microsoft YaHei"/>
              </a:rPr>
              <a:t>Avoid absolute cultural claims.</a:t>
            </a:r>
          </a:p>
        </p:txBody>
      </p:sp>
      <p:sp>
        <p:nvSpPr>
          <p:cNvPr id="34" name="Rectangle 33"/>
          <p:cNvSpPr/>
          <p:nvPr/>
        </p:nvSpPr>
        <p:spPr>
          <a:xfrm>
            <a:off x="1764792" y="5056632"/>
            <a:ext cx="3136392" cy="960120"/>
          </a:xfrm>
          <a:prstGeom prst="rect">
            <a:avLst/>
          </a:prstGeom>
          <a:solidFill>
            <a:srgbClr val="E7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901952" y="5166360"/>
            <a:ext cx="2880360" cy="283464"/>
          </a:xfrm>
          <a:prstGeom prst="rect">
            <a:avLst/>
          </a:prstGeom>
          <a:noFill/>
        </p:spPr>
        <p:txBody>
          <a:bodyPr wrap="square" lIns="18288" rIns="18288" tIns="9144" bIns="9144">
            <a:spAutoFit/>
          </a:bodyPr>
          <a:lstStyle/>
          <a:p>
            <a:pPr algn="l">
              <a:lnSpc>
                <a:spcPct val="110000"/>
              </a:lnSpc>
              <a:spcAft>
                <a:spcPts val="500"/>
              </a:spcAft>
            </a:pPr>
            <a:r>
              <a:rPr sz="1700" b="1" lang="en-US">
                <a:solidFill>
                  <a:srgbClr val="167D89"/>
                </a:solidFill>
                <a:latin typeface="Arial"/>
                <a:ea typeface="Microsoft YaHei"/>
              </a:rPr>
              <a:t>Record</a:t>
            </a:r>
          </a:p>
        </p:txBody>
      </p:sp>
      <p:sp>
        <p:nvSpPr>
          <p:cNvPr id="36" name="TextBox 35"/>
          <p:cNvSpPr txBox="1"/>
          <p:nvPr/>
        </p:nvSpPr>
        <p:spPr>
          <a:xfrm>
            <a:off x="1901952" y="5550408"/>
            <a:ext cx="2889504" cy="393192"/>
          </a:xfrm>
          <a:prstGeom prst="rect">
            <a:avLst/>
          </a:prstGeom>
          <a:noFill/>
        </p:spPr>
        <p:txBody>
          <a:bodyPr wrap="square" lIns="18288" rIns="18288" tIns="9144" bIns="9144">
            <a:spAutoFit/>
          </a:bodyPr>
          <a:lstStyle/>
          <a:p>
            <a:pPr algn="l">
              <a:lnSpc>
                <a:spcPct val="110000"/>
              </a:lnSpc>
              <a:spcAft>
                <a:spcPts val="500"/>
              </a:spcAft>
            </a:pPr>
            <a:r>
              <a:rPr sz="1300" b="0" lang="en-US">
                <a:solidFill>
                  <a:srgbClr val="526B78"/>
                </a:solidFill>
                <a:latin typeface="Arial"/>
                <a:ea typeface="Microsoft YaHei"/>
              </a:rPr>
              <a:t>Gesture → meaning → context</a:t>
            </a:r>
          </a:p>
        </p:txBody>
      </p:sp>
      <p:sp>
        <p:nvSpPr>
          <p:cNvPr id="37" name="Rectangle 36"/>
          <p:cNvSpPr/>
          <p:nvPr/>
        </p:nvSpPr>
        <p:spPr>
          <a:xfrm>
            <a:off x="5111496" y="5056632"/>
            <a:ext cx="3136392" cy="960120"/>
          </a:xfrm>
          <a:prstGeom prst="rect">
            <a:avLst/>
          </a:prstGeom>
          <a:solidFill>
            <a:srgbClr val="E7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248656" y="5166360"/>
            <a:ext cx="2880360" cy="283464"/>
          </a:xfrm>
          <a:prstGeom prst="rect">
            <a:avLst/>
          </a:prstGeom>
          <a:noFill/>
        </p:spPr>
        <p:txBody>
          <a:bodyPr wrap="square" lIns="18288" rIns="18288" tIns="9144" bIns="9144">
            <a:spAutoFit/>
          </a:bodyPr>
          <a:lstStyle/>
          <a:p>
            <a:pPr algn="l">
              <a:lnSpc>
                <a:spcPct val="110000"/>
              </a:lnSpc>
              <a:spcAft>
                <a:spcPts val="500"/>
              </a:spcAft>
            </a:pPr>
            <a:r>
              <a:rPr sz="1700" b="1" lang="en-US">
                <a:solidFill>
                  <a:srgbClr val="167D89"/>
                </a:solidFill>
                <a:latin typeface="Arial"/>
                <a:ea typeface="Microsoft YaHei"/>
              </a:rPr>
              <a:t>Support</a:t>
            </a:r>
          </a:p>
        </p:txBody>
      </p:sp>
      <p:sp>
        <p:nvSpPr>
          <p:cNvPr id="39" name="TextBox 38"/>
          <p:cNvSpPr txBox="1"/>
          <p:nvPr/>
        </p:nvSpPr>
        <p:spPr>
          <a:xfrm>
            <a:off x="5248656" y="5550408"/>
            <a:ext cx="2889504" cy="393192"/>
          </a:xfrm>
          <a:prstGeom prst="rect">
            <a:avLst/>
          </a:prstGeom>
          <a:noFill/>
        </p:spPr>
        <p:txBody>
          <a:bodyPr wrap="square" lIns="18288" rIns="18288" tIns="9144" bIns="9144">
            <a:spAutoFit/>
          </a:bodyPr>
          <a:lstStyle/>
          <a:p>
            <a:pPr algn="l">
              <a:lnSpc>
                <a:spcPct val="110000"/>
              </a:lnSpc>
              <a:spcAft>
                <a:spcPts val="500"/>
              </a:spcAft>
            </a:pPr>
            <a:r>
              <a:rPr sz="1300" b="0" lang="en-US">
                <a:solidFill>
                  <a:srgbClr val="526B78"/>
                </a:solidFill>
                <a:latin typeface="Arial"/>
                <a:ea typeface="Microsoft YaHei"/>
              </a:rPr>
              <a:t>Keywords + advice frames</a:t>
            </a:r>
          </a:p>
        </p:txBody>
      </p:sp>
      <p:sp>
        <p:nvSpPr>
          <p:cNvPr id="40" name="Rectangle 39"/>
          <p:cNvSpPr/>
          <p:nvPr/>
        </p:nvSpPr>
        <p:spPr>
          <a:xfrm>
            <a:off x="8458200" y="5056632"/>
            <a:ext cx="3136392" cy="960120"/>
          </a:xfrm>
          <a:prstGeom prst="rect">
            <a:avLst/>
          </a:prstGeom>
          <a:solidFill>
            <a:srgbClr val="E7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95360" y="5166360"/>
            <a:ext cx="2880360" cy="283464"/>
          </a:xfrm>
          <a:prstGeom prst="rect">
            <a:avLst/>
          </a:prstGeom>
          <a:noFill/>
        </p:spPr>
        <p:txBody>
          <a:bodyPr wrap="square" lIns="18288" rIns="18288" tIns="9144" bIns="9144">
            <a:spAutoFit/>
          </a:bodyPr>
          <a:lstStyle/>
          <a:p>
            <a:pPr algn="l">
              <a:lnSpc>
                <a:spcPct val="110000"/>
              </a:lnSpc>
              <a:spcAft>
                <a:spcPts val="500"/>
              </a:spcAft>
            </a:pPr>
            <a:r>
              <a:rPr sz="1700" b="1" lang="en-US">
                <a:solidFill>
                  <a:srgbClr val="167D89"/>
                </a:solidFill>
                <a:latin typeface="Arial"/>
                <a:ea typeface="Microsoft YaHei"/>
              </a:rPr>
              <a:t>Extend</a:t>
            </a:r>
          </a:p>
        </p:txBody>
      </p:sp>
      <p:sp>
        <p:nvSpPr>
          <p:cNvPr id="42" name="TextBox 41"/>
          <p:cNvSpPr txBox="1"/>
          <p:nvPr/>
        </p:nvSpPr>
        <p:spPr>
          <a:xfrm>
            <a:off x="8595360" y="5550408"/>
            <a:ext cx="2889504" cy="393192"/>
          </a:xfrm>
          <a:prstGeom prst="rect">
            <a:avLst/>
          </a:prstGeom>
          <a:noFill/>
        </p:spPr>
        <p:txBody>
          <a:bodyPr wrap="square" lIns="18288" rIns="18288" tIns="9144" bIns="9144">
            <a:spAutoFit/>
          </a:bodyPr>
          <a:lstStyle/>
          <a:p>
            <a:pPr algn="l">
              <a:lnSpc>
                <a:spcPct val="110000"/>
              </a:lnSpc>
              <a:spcAft>
                <a:spcPts val="500"/>
              </a:spcAft>
            </a:pPr>
            <a:r>
              <a:rPr sz="1300" b="0" lang="en-US">
                <a:solidFill>
                  <a:srgbClr val="526B78"/>
                </a:solidFill>
                <a:latin typeface="Arial"/>
                <a:ea typeface="Microsoft YaHei"/>
              </a:rPr>
              <a:t>Compare settings; qualify advice</a:t>
            </a:r>
          </a:p>
        </p:txBody>
      </p:sp>
    </p:spTree>
  </p:cSld>
  <p:clrMapOvr>
    <a:masterClrMapping/>
  </p:clrMapOvr>
  <p:transition spd="fast">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9FA"/>
        </a:solidFill>
        <a:effectLst/>
      </p:bgPr>
    </p:bg>
    <p:spTree>
      <p:nvGrpSpPr>
        <p:cNvPr id="1" name=""/>
        <p:cNvGrpSpPr/>
        <p:nvPr/>
      </p:nvGrpSpPr>
      <p:grpSpPr/>
      <p:sp>
        <p:nvSpPr>
          <p:cNvPr id="2" name="Rectangle 1"/>
          <p:cNvSpPr/>
          <p:nvPr/>
        </p:nvSpPr>
        <p:spPr>
          <a:xfrm>
            <a:off x="0" y="0"/>
            <a:ext cx="1325880" cy="6858000"/>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329184"/>
            <a:ext cx="896112" cy="457200"/>
          </a:xfrm>
          <a:prstGeom prst="rect">
            <a:avLst/>
          </a:prstGeom>
          <a:noFill/>
        </p:spPr>
        <p:txBody>
          <a:bodyPr wrap="square" lIns="18288" rIns="18288" tIns="9144" bIns="9144">
            <a:spAutoFit/>
          </a:bodyPr>
          <a:lstStyle/>
          <a:p>
            <a:pPr algn="l">
              <a:lnSpc>
                <a:spcPct val="110000"/>
              </a:lnSpc>
              <a:spcAft>
                <a:spcPts val="500"/>
              </a:spcAft>
            </a:pPr>
            <a:r>
              <a:rPr sz="1800" b="1" lang="en-US">
                <a:solidFill>
                  <a:srgbClr val="FFFFFF"/>
                </a:solidFill>
                <a:latin typeface="Arial"/>
                <a:ea typeface="Microsoft YaHei"/>
              </a:rPr>
              <a:t>UNIT 4</a:t>
            </a:r>
          </a:p>
        </p:txBody>
      </p:sp>
      <p:sp>
        <p:nvSpPr>
          <p:cNvPr id="4" name="TextBox 3"/>
          <p:cNvSpPr txBox="1"/>
          <p:nvPr/>
        </p:nvSpPr>
        <p:spPr>
          <a:xfrm>
            <a:off x="219456" y="868680"/>
            <a:ext cx="914400" cy="658368"/>
          </a:xfrm>
          <a:prstGeom prst="rect">
            <a:avLst/>
          </a:prstGeom>
          <a:noFill/>
        </p:spPr>
        <p:txBody>
          <a:bodyPr wrap="square" lIns="18288" rIns="18288" tIns="9144" bIns="9144">
            <a:spAutoFit/>
          </a:bodyPr>
          <a:lstStyle/>
          <a:p>
            <a:pPr algn="l">
              <a:lnSpc>
                <a:spcPct val="110000"/>
              </a:lnSpc>
              <a:spcAft>
                <a:spcPts val="500"/>
              </a:spcAft>
            </a:pPr>
            <a:r>
              <a:rPr sz="1200" b="1" lang="en-US">
                <a:solidFill>
                  <a:srgbClr val="93C3D4"/>
                </a:solidFill>
                <a:latin typeface="Arial"/>
                <a:ea typeface="Microsoft YaHei"/>
              </a:rPr>
              <a:t>READ</a:t>
            </a:r>
          </a:p>
          <a:p>
            <a:pPr algn="l">
              <a:lnSpc>
                <a:spcPct val="110000"/>
              </a:lnSpc>
              <a:spcAft>
                <a:spcPts val="500"/>
              </a:spcAft>
            </a:pPr>
            <a:r>
              <a:rPr sz="1200" b="1" lang="en-US">
                <a:solidFill>
                  <a:srgbClr val="93C3D4"/>
                </a:solidFill>
                <a:latin typeface="Arial"/>
                <a:ea typeface="Microsoft YaHei"/>
              </a:rPr>
              <a:t>&amp; THINK</a:t>
            </a:r>
          </a:p>
        </p:txBody>
      </p:sp>
      <p:sp>
        <p:nvSpPr>
          <p:cNvPr id="5" name="Rectangle 4">
            <a:hlinkClick action="ppaction://hlinksldjump" r:id="rId3"/>
          </p:cNvPr>
          <p:cNvSpPr/>
          <p:nvPr/>
        </p:nvSpPr>
        <p:spPr>
          <a:xfrm>
            <a:off x="109728" y="1874519"/>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146304" y="1933955"/>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说教材</a:t>
            </a:r>
          </a:p>
        </p:txBody>
      </p:sp>
      <p:sp>
        <p:nvSpPr>
          <p:cNvPr id="7" name="Rectangle 6">
            <a:hlinkClick action="ppaction://hlinksldjump" r:id="rId4"/>
          </p:cNvPr>
          <p:cNvSpPr/>
          <p:nvPr/>
        </p:nvSpPr>
        <p:spPr>
          <a:xfrm>
            <a:off x="109728" y="2441448"/>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46304" y="2500884"/>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说学情</a:t>
            </a:r>
          </a:p>
        </p:txBody>
      </p:sp>
      <p:sp>
        <p:nvSpPr>
          <p:cNvPr id="9" name="Rectangle 8">
            <a:hlinkClick action="ppaction://hlinksldjump" r:id="rId5"/>
          </p:cNvPr>
          <p:cNvSpPr/>
          <p:nvPr/>
        </p:nvSpPr>
        <p:spPr>
          <a:xfrm>
            <a:off x="109728" y="3008376"/>
            <a:ext cx="1097280" cy="42976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46304" y="3067812"/>
            <a:ext cx="1024128" cy="301752"/>
          </a:xfrm>
          <a:prstGeom prst="rect">
            <a:avLst/>
          </a:prstGeom>
          <a:noFill/>
        </p:spPr>
        <p:txBody>
          <a:bodyPr wrap="square" lIns="18288" rIns="18288" tIns="9144" bIns="9144">
            <a:spAutoFit/>
          </a:bodyPr>
          <a:lstStyle/>
          <a:p>
            <a:pPr algn="ctr">
              <a:lnSpc>
                <a:spcPct val="110000"/>
              </a:lnSpc>
              <a:spcAft>
                <a:spcPts val="500"/>
              </a:spcAft>
            </a:pPr>
            <a:r>
              <a:rPr sz="1500" b="1" lang="zh-CN">
                <a:solidFill>
                  <a:srgbClr val="FFFFFF"/>
                </a:solidFill>
                <a:latin typeface="Microsoft YaHei"/>
                <a:ea typeface="Microsoft YaHei"/>
              </a:rPr>
              <a:t>说目标</a:t>
            </a:r>
          </a:p>
        </p:txBody>
      </p:sp>
      <p:sp>
        <p:nvSpPr>
          <p:cNvPr id="11" name="Rectangle 10">
            <a:hlinkClick action="ppaction://hlinksldjump" r:id="rId6"/>
          </p:cNvPr>
          <p:cNvSpPr/>
          <p:nvPr/>
        </p:nvSpPr>
        <p:spPr>
          <a:xfrm>
            <a:off x="109728" y="3575303"/>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6"/>
          </p:cNvPr>
          <p:cNvSpPr txBox="1"/>
          <p:nvPr/>
        </p:nvSpPr>
        <p:spPr>
          <a:xfrm>
            <a:off x="146304" y="3634739"/>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说重难</a:t>
            </a:r>
          </a:p>
        </p:txBody>
      </p:sp>
      <p:sp>
        <p:nvSpPr>
          <p:cNvPr id="13" name="Rectangle 12">
            <a:hlinkClick action="ppaction://hlinksldjump" r:id="rId7"/>
          </p:cNvPr>
          <p:cNvSpPr/>
          <p:nvPr/>
        </p:nvSpPr>
        <p:spPr>
          <a:xfrm>
            <a:off x="109728" y="4142231"/>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7"/>
          </p:cNvPr>
          <p:cNvSpPr txBox="1"/>
          <p:nvPr/>
        </p:nvSpPr>
        <p:spPr>
          <a:xfrm>
            <a:off x="146304" y="4201668"/>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说过程</a:t>
            </a:r>
          </a:p>
        </p:txBody>
      </p:sp>
      <p:sp>
        <p:nvSpPr>
          <p:cNvPr id="15" name="Rectangle 14">
            <a:hlinkClick action="ppaction://hlinksldjump" r:id="rId8"/>
          </p:cNvPr>
          <p:cNvSpPr/>
          <p:nvPr/>
        </p:nvSpPr>
        <p:spPr>
          <a:xfrm>
            <a:off x="109728" y="4709160"/>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8"/>
          </p:cNvPr>
          <p:cNvSpPr txBox="1"/>
          <p:nvPr/>
        </p:nvSpPr>
        <p:spPr>
          <a:xfrm>
            <a:off x="146304" y="4768596"/>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说反思</a:t>
            </a:r>
          </a:p>
        </p:txBody>
      </p:sp>
      <p:sp>
        <p:nvSpPr>
          <p:cNvPr id="17" name="TextBox 16"/>
          <p:cNvSpPr txBox="1"/>
          <p:nvPr/>
        </p:nvSpPr>
        <p:spPr>
          <a:xfrm>
            <a:off x="210312" y="6062472"/>
            <a:ext cx="950976" cy="393192"/>
          </a:xfrm>
          <a:prstGeom prst="rect">
            <a:avLst/>
          </a:prstGeom>
          <a:noFill/>
        </p:spPr>
        <p:txBody>
          <a:bodyPr wrap="square" lIns="18288" rIns="18288" tIns="9144" bIns="9144">
            <a:spAutoFit/>
          </a:bodyPr>
          <a:lstStyle/>
          <a:p>
            <a:pPr algn="ctr">
              <a:lnSpc>
                <a:spcPct val="110000"/>
              </a:lnSpc>
              <a:spcAft>
                <a:spcPts val="500"/>
              </a:spcAft>
            </a:pPr>
            <a:r>
              <a:rPr sz="1300" b="0" lang="en-US">
                <a:solidFill>
                  <a:srgbClr val="BCD3DF"/>
                </a:solidFill>
                <a:latin typeface="Arial"/>
                <a:ea typeface="Microsoft YaHei"/>
              </a:rPr>
              <a:t>05 / 20</a:t>
            </a:r>
          </a:p>
        </p:txBody>
      </p:sp>
      <p:sp>
        <p:nvSpPr>
          <p:cNvPr id="18" name="Rectangle 17"/>
          <p:cNvSpPr/>
          <p:nvPr/>
        </p:nvSpPr>
        <p:spPr>
          <a:xfrm>
            <a:off x="1325880" y="0"/>
            <a:ext cx="10872216" cy="6858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00784" y="283464"/>
            <a:ext cx="7315200" cy="274320"/>
          </a:xfrm>
          <a:prstGeom prst="rect">
            <a:avLst/>
          </a:prstGeom>
          <a:noFill/>
        </p:spPr>
        <p:txBody>
          <a:bodyPr wrap="square" lIns="18288" rIns="18288" tIns="9144" bIns="9144">
            <a:spAutoFit/>
          </a:bodyPr>
          <a:lstStyle/>
          <a:p>
            <a:pPr algn="l">
              <a:lnSpc>
                <a:spcPct val="110000"/>
              </a:lnSpc>
              <a:spcAft>
                <a:spcPts val="500"/>
              </a:spcAft>
            </a:pPr>
            <a:r>
              <a:rPr sz="1100" b="1" lang="en-US">
                <a:solidFill>
                  <a:srgbClr val="167D89"/>
                </a:solidFill>
                <a:latin typeface="Arial"/>
                <a:ea typeface="Microsoft YaHei"/>
              </a:rPr>
              <a:t>BODY LANGUAGE   /   READING AND THINKING</a:t>
            </a:r>
          </a:p>
        </p:txBody>
      </p:sp>
      <p:sp>
        <p:nvSpPr>
          <p:cNvPr id="20" name="TextBox 19"/>
          <p:cNvSpPr txBox="1"/>
          <p:nvPr/>
        </p:nvSpPr>
        <p:spPr>
          <a:xfrm>
            <a:off x="9802368" y="283464"/>
            <a:ext cx="1920240" cy="274320"/>
          </a:xfrm>
          <a:prstGeom prst="rect">
            <a:avLst/>
          </a:prstGeom>
          <a:noFill/>
        </p:spPr>
        <p:txBody>
          <a:bodyPr wrap="square" lIns="18288" rIns="18288" tIns="9144" bIns="9144">
            <a:spAutoFit/>
          </a:bodyPr>
          <a:lstStyle/>
          <a:p>
            <a:pPr algn="r">
              <a:lnSpc>
                <a:spcPct val="110000"/>
              </a:lnSpc>
              <a:spcAft>
                <a:spcPts val="500"/>
              </a:spcAft>
            </a:pPr>
            <a:r>
              <a:rPr sz="1100" b="0" lang="en-US">
                <a:solidFill>
                  <a:srgbClr val="526B78"/>
                </a:solidFill>
                <a:latin typeface="Arial"/>
                <a:ea typeface="Microsoft YaHei"/>
              </a:rPr>
              <a:t>01:55–02:35</a:t>
            </a:r>
          </a:p>
        </p:txBody>
      </p:sp>
      <p:sp>
        <p:nvSpPr>
          <p:cNvPr id="21" name="TextBox 20"/>
          <p:cNvSpPr txBox="1"/>
          <p:nvPr/>
        </p:nvSpPr>
        <p:spPr>
          <a:xfrm>
            <a:off x="1691640" y="859536"/>
            <a:ext cx="10021824" cy="630936"/>
          </a:xfrm>
          <a:prstGeom prst="rect">
            <a:avLst/>
          </a:prstGeom>
          <a:noFill/>
        </p:spPr>
        <p:txBody>
          <a:bodyPr wrap="square" lIns="18288" rIns="18288" tIns="9144" bIns="9144">
            <a:spAutoFit/>
          </a:bodyPr>
          <a:lstStyle/>
          <a:p>
            <a:pPr algn="l">
              <a:lnSpc>
                <a:spcPct val="110000"/>
              </a:lnSpc>
              <a:spcAft>
                <a:spcPts val="500"/>
              </a:spcAft>
            </a:pPr>
            <a:r>
              <a:rPr sz="3000" b="1" lang="zh-CN">
                <a:solidFill>
                  <a:srgbClr val="183A50"/>
                </a:solidFill>
                <a:latin typeface="Microsoft YaHei"/>
                <a:ea typeface="Microsoft YaHei"/>
              </a:rPr>
              <a:t>说目标｜四维目标与可观察证据</a:t>
            </a:r>
          </a:p>
        </p:txBody>
      </p:sp>
      <p:sp>
        <p:nvSpPr>
          <p:cNvPr id="22" name="TextBox 21"/>
          <p:cNvSpPr txBox="1"/>
          <p:nvPr/>
        </p:nvSpPr>
        <p:spPr>
          <a:xfrm>
            <a:off x="1719072" y="1545336"/>
            <a:ext cx="9921240" cy="521207"/>
          </a:xfrm>
          <a:prstGeom prst="rect">
            <a:avLst/>
          </a:prstGeom>
          <a:noFill/>
        </p:spPr>
        <p:txBody>
          <a:bodyPr wrap="square" lIns="18288" rIns="18288" tIns="9144" bIns="9144">
            <a:spAutoFit/>
          </a:bodyPr>
          <a:lstStyle/>
          <a:p>
            <a:pPr algn="l">
              <a:lnSpc>
                <a:spcPct val="110000"/>
              </a:lnSpc>
              <a:spcAft>
                <a:spcPts val="500"/>
              </a:spcAft>
            </a:pPr>
            <a:r>
              <a:rPr sz="1500" b="0" lang="en-US">
                <a:solidFill>
                  <a:srgbClr val="526B78"/>
                </a:solidFill>
                <a:latin typeface="Arial"/>
                <a:ea typeface="Microsoft YaHei"/>
              </a:rPr>
              <a:t>Acquire information · Respect differences · Give appropriate advice</a:t>
            </a:r>
          </a:p>
        </p:txBody>
      </p:sp>
      <p:sp>
        <p:nvSpPr>
          <p:cNvPr id="23" name="Rectangle 22"/>
          <p:cNvSpPr/>
          <p:nvPr/>
        </p:nvSpPr>
        <p:spPr>
          <a:xfrm>
            <a:off x="1719072" y="6400800"/>
            <a:ext cx="9985248" cy="10058"/>
          </a:xfrm>
          <a:prstGeom prst="rect">
            <a:avLst/>
          </a:prstGeom>
          <a:solidFill>
            <a:srgbClr val="C8D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37360" y="6492240"/>
            <a:ext cx="9784080" cy="228600"/>
          </a:xfrm>
          <a:prstGeom prst="rect">
            <a:avLst/>
          </a:prstGeom>
          <a:noFill/>
        </p:spPr>
        <p:txBody>
          <a:bodyPr wrap="square" lIns="18288" rIns="18288" tIns="9144" bIns="9144">
            <a:spAutoFit/>
          </a:bodyPr>
          <a:lstStyle/>
          <a:p>
            <a:pPr algn="l">
              <a:lnSpc>
                <a:spcPct val="110000"/>
              </a:lnSpc>
              <a:spcAft>
                <a:spcPts val="500"/>
              </a:spcAft>
            </a:pPr>
            <a:r>
              <a:rPr sz="1050" b="0" lang="zh-CN">
                <a:solidFill>
                  <a:srgbClr val="526B78"/>
                </a:solidFill>
                <a:latin typeface="Microsoft YaHei"/>
                <a:ea typeface="Microsoft YaHei"/>
              </a:rPr>
              <a:t>读懂差异  ·  尊重语境  ·  得体交流</a:t>
            </a:r>
          </a:p>
        </p:txBody>
      </p:sp>
      <p:sp>
        <p:nvSpPr>
          <p:cNvPr id="25" name="Rectangle 24"/>
          <p:cNvSpPr/>
          <p:nvPr/>
        </p:nvSpPr>
        <p:spPr>
          <a:xfrm>
            <a:off x="1719072" y="6345936"/>
            <a:ext cx="2496312" cy="2286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746504" y="2249424"/>
            <a:ext cx="9811512" cy="786384"/>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920240" y="2414016"/>
            <a:ext cx="2889504" cy="438912"/>
          </a:xfrm>
          <a:prstGeom prst="rect">
            <a:avLst/>
          </a:prstGeom>
          <a:noFill/>
        </p:spPr>
        <p:txBody>
          <a:bodyPr wrap="square" lIns="18288" rIns="18288" tIns="9144" bIns="9144">
            <a:spAutoFit/>
          </a:bodyPr>
          <a:lstStyle/>
          <a:p>
            <a:pPr algn="l">
              <a:lnSpc>
                <a:spcPct val="110000"/>
              </a:lnSpc>
              <a:spcAft>
                <a:spcPts val="500"/>
              </a:spcAft>
            </a:pPr>
            <a:r>
              <a:rPr sz="1900" b="1" lang="en-US">
                <a:solidFill>
                  <a:srgbClr val="167D89"/>
                </a:solidFill>
                <a:latin typeface="Arial"/>
                <a:ea typeface="Microsoft YaHei"/>
              </a:rPr>
              <a:t>Language Competence</a:t>
            </a:r>
          </a:p>
        </p:txBody>
      </p:sp>
      <p:sp>
        <p:nvSpPr>
          <p:cNvPr id="28" name="TextBox 27"/>
          <p:cNvSpPr txBox="1"/>
          <p:nvPr/>
        </p:nvSpPr>
        <p:spPr>
          <a:xfrm>
            <a:off x="4818888" y="2386584"/>
            <a:ext cx="2971800" cy="502920"/>
          </a:xfrm>
          <a:prstGeom prst="rect">
            <a:avLst/>
          </a:prstGeom>
          <a:noFill/>
        </p:spPr>
        <p:txBody>
          <a:bodyPr wrap="square" lIns="18288" rIns="18288" tIns="9144" bIns="9144">
            <a:spAutoFit/>
          </a:bodyPr>
          <a:lstStyle/>
          <a:p>
            <a:pPr algn="l">
              <a:lnSpc>
                <a:spcPct val="110000"/>
              </a:lnSpc>
              <a:spcAft>
                <a:spcPts val="500"/>
              </a:spcAft>
            </a:pPr>
            <a:r>
              <a:rPr sz="1700" b="0" lang="en-US">
                <a:solidFill>
                  <a:srgbClr val="183A50"/>
                </a:solidFill>
                <a:latin typeface="Arial"/>
                <a:ea typeface="Microsoft YaHei"/>
              </a:rPr>
              <a:t>Read the structure and details.</a:t>
            </a:r>
          </a:p>
        </p:txBody>
      </p:sp>
      <p:sp>
        <p:nvSpPr>
          <p:cNvPr id="29" name="TextBox 28"/>
          <p:cNvSpPr txBox="1"/>
          <p:nvPr/>
        </p:nvSpPr>
        <p:spPr>
          <a:xfrm>
            <a:off x="7927848" y="2386584"/>
            <a:ext cx="3401568" cy="502920"/>
          </a:xfrm>
          <a:prstGeom prst="rect">
            <a:avLst/>
          </a:prstGeom>
          <a:noFill/>
        </p:spPr>
        <p:txBody>
          <a:bodyPr wrap="square" lIns="18288" rIns="18288" tIns="9144" bIns="9144">
            <a:spAutoFit/>
          </a:bodyPr>
          <a:lstStyle/>
          <a:p>
            <a:pPr algn="l">
              <a:lnSpc>
                <a:spcPct val="110000"/>
              </a:lnSpc>
              <a:spcAft>
                <a:spcPts val="500"/>
              </a:spcAft>
            </a:pPr>
            <a:r>
              <a:rPr sz="1600" b="0" lang="en-US">
                <a:solidFill>
                  <a:srgbClr val="526B78"/>
                </a:solidFill>
                <a:latin typeface="Arial"/>
                <a:ea typeface="Microsoft YaHei"/>
              </a:rPr>
              <a:t>6 paragraph functions; 4 smile uses</a:t>
            </a:r>
          </a:p>
        </p:txBody>
      </p:sp>
      <p:sp>
        <p:nvSpPr>
          <p:cNvPr id="30" name="Rectangle 29"/>
          <p:cNvSpPr/>
          <p:nvPr/>
        </p:nvSpPr>
        <p:spPr>
          <a:xfrm>
            <a:off x="1746504" y="3136391"/>
            <a:ext cx="9811512" cy="786384"/>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920240" y="3300984"/>
            <a:ext cx="2889504" cy="438912"/>
          </a:xfrm>
          <a:prstGeom prst="rect">
            <a:avLst/>
          </a:prstGeom>
          <a:noFill/>
        </p:spPr>
        <p:txBody>
          <a:bodyPr wrap="square" lIns="18288" rIns="18288" tIns="9144" bIns="9144">
            <a:spAutoFit/>
          </a:bodyPr>
          <a:lstStyle/>
          <a:p>
            <a:pPr algn="l">
              <a:lnSpc>
                <a:spcPct val="110000"/>
              </a:lnSpc>
              <a:spcAft>
                <a:spcPts val="500"/>
              </a:spcAft>
            </a:pPr>
            <a:r>
              <a:rPr sz="1900" b="1" lang="en-US">
                <a:solidFill>
                  <a:srgbClr val="167D89"/>
                </a:solidFill>
                <a:latin typeface="Arial"/>
                <a:ea typeface="Microsoft YaHei"/>
              </a:rPr>
              <a:t>Thinking Capacity</a:t>
            </a:r>
          </a:p>
        </p:txBody>
      </p:sp>
      <p:sp>
        <p:nvSpPr>
          <p:cNvPr id="32" name="TextBox 31"/>
          <p:cNvSpPr txBox="1"/>
          <p:nvPr/>
        </p:nvSpPr>
        <p:spPr>
          <a:xfrm>
            <a:off x="4818888" y="3273551"/>
            <a:ext cx="2971800" cy="502920"/>
          </a:xfrm>
          <a:prstGeom prst="rect">
            <a:avLst/>
          </a:prstGeom>
          <a:noFill/>
        </p:spPr>
        <p:txBody>
          <a:bodyPr wrap="square" lIns="18288" rIns="18288" tIns="9144" bIns="9144">
            <a:spAutoFit/>
          </a:bodyPr>
          <a:lstStyle/>
          <a:p>
            <a:pPr algn="l">
              <a:lnSpc>
                <a:spcPct val="110000"/>
              </a:lnSpc>
              <a:spcAft>
                <a:spcPts val="500"/>
              </a:spcAft>
            </a:pPr>
            <a:r>
              <a:rPr sz="1700" b="0" lang="en-US">
                <a:solidFill>
                  <a:srgbClr val="183A50"/>
                </a:solidFill>
                <a:latin typeface="Arial"/>
                <a:ea typeface="Microsoft YaHei"/>
              </a:rPr>
              <a:t>Compare with textual evidence.</a:t>
            </a:r>
          </a:p>
        </p:txBody>
      </p:sp>
      <p:sp>
        <p:nvSpPr>
          <p:cNvPr id="33" name="TextBox 32"/>
          <p:cNvSpPr txBox="1"/>
          <p:nvPr/>
        </p:nvSpPr>
        <p:spPr>
          <a:xfrm>
            <a:off x="7927848" y="3273551"/>
            <a:ext cx="3401568" cy="502920"/>
          </a:xfrm>
          <a:prstGeom prst="rect">
            <a:avLst/>
          </a:prstGeom>
          <a:noFill/>
        </p:spPr>
        <p:txBody>
          <a:bodyPr wrap="square" lIns="18288" rIns="18288" tIns="9144" bIns="9144">
            <a:spAutoFit/>
          </a:bodyPr>
          <a:lstStyle/>
          <a:p>
            <a:pPr algn="l">
              <a:lnSpc>
                <a:spcPct val="110000"/>
              </a:lnSpc>
              <a:spcAft>
                <a:spcPts val="500"/>
              </a:spcAft>
            </a:pPr>
            <a:r>
              <a:rPr sz="1600" b="0" lang="en-US">
                <a:solidFill>
                  <a:srgbClr val="526B78"/>
                </a:solidFill>
                <a:latin typeface="Arial"/>
                <a:ea typeface="Microsoft YaHei"/>
              </a:rPr>
              <a:t>At least 4 accurate comparisons</a:t>
            </a:r>
          </a:p>
        </p:txBody>
      </p:sp>
      <p:sp>
        <p:nvSpPr>
          <p:cNvPr id="34" name="Rectangle 33"/>
          <p:cNvSpPr/>
          <p:nvPr/>
        </p:nvSpPr>
        <p:spPr>
          <a:xfrm>
            <a:off x="1746504" y="4023360"/>
            <a:ext cx="9811512" cy="786384"/>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920240" y="4187952"/>
            <a:ext cx="2889504" cy="438912"/>
          </a:xfrm>
          <a:prstGeom prst="rect">
            <a:avLst/>
          </a:prstGeom>
          <a:noFill/>
        </p:spPr>
        <p:txBody>
          <a:bodyPr wrap="square" lIns="18288" rIns="18288" tIns="9144" bIns="9144">
            <a:spAutoFit/>
          </a:bodyPr>
          <a:lstStyle/>
          <a:p>
            <a:pPr algn="l">
              <a:lnSpc>
                <a:spcPct val="110000"/>
              </a:lnSpc>
              <a:spcAft>
                <a:spcPts val="500"/>
              </a:spcAft>
            </a:pPr>
            <a:r>
              <a:rPr sz="1900" b="1" lang="en-US">
                <a:solidFill>
                  <a:srgbClr val="167D89"/>
                </a:solidFill>
                <a:latin typeface="Arial"/>
                <a:ea typeface="Microsoft YaHei"/>
              </a:rPr>
              <a:t>Cultural Awareness</a:t>
            </a:r>
          </a:p>
        </p:txBody>
      </p:sp>
      <p:sp>
        <p:nvSpPr>
          <p:cNvPr id="36" name="TextBox 35"/>
          <p:cNvSpPr txBox="1"/>
          <p:nvPr/>
        </p:nvSpPr>
        <p:spPr>
          <a:xfrm>
            <a:off x="4818888" y="4160520"/>
            <a:ext cx="2971800" cy="502920"/>
          </a:xfrm>
          <a:prstGeom prst="rect">
            <a:avLst/>
          </a:prstGeom>
          <a:noFill/>
        </p:spPr>
        <p:txBody>
          <a:bodyPr wrap="square" lIns="18288" rIns="18288" tIns="9144" bIns="9144">
            <a:spAutoFit/>
          </a:bodyPr>
          <a:lstStyle/>
          <a:p>
            <a:pPr algn="l">
              <a:lnSpc>
                <a:spcPct val="110000"/>
              </a:lnSpc>
              <a:spcAft>
                <a:spcPts val="500"/>
              </a:spcAft>
            </a:pPr>
            <a:r>
              <a:rPr sz="1700" b="0" lang="en-US">
                <a:solidFill>
                  <a:srgbClr val="183A50"/>
                </a:solidFill>
                <a:latin typeface="Arial"/>
                <a:ea typeface="Microsoft YaHei"/>
              </a:rPr>
              <a:t>Give context-sensitive advice.</a:t>
            </a:r>
          </a:p>
        </p:txBody>
      </p:sp>
      <p:sp>
        <p:nvSpPr>
          <p:cNvPr id="37" name="TextBox 36"/>
          <p:cNvSpPr txBox="1"/>
          <p:nvPr/>
        </p:nvSpPr>
        <p:spPr>
          <a:xfrm>
            <a:off x="7927848" y="4160520"/>
            <a:ext cx="3401568" cy="502920"/>
          </a:xfrm>
          <a:prstGeom prst="rect">
            <a:avLst/>
          </a:prstGeom>
          <a:noFill/>
        </p:spPr>
        <p:txBody>
          <a:bodyPr wrap="square" lIns="18288" rIns="18288" tIns="9144" bIns="9144">
            <a:spAutoFit/>
          </a:bodyPr>
          <a:lstStyle/>
          <a:p>
            <a:pPr algn="l">
              <a:lnSpc>
                <a:spcPct val="110000"/>
              </a:lnSpc>
              <a:spcAft>
                <a:spcPts val="500"/>
              </a:spcAft>
            </a:pPr>
            <a:r>
              <a:rPr sz="1600" b="0" lang="en-US">
                <a:solidFill>
                  <a:srgbClr val="526B78"/>
                </a:solidFill>
                <a:latin typeface="Arial"/>
                <a:ea typeface="Microsoft YaHei"/>
              </a:rPr>
              <a:t>3 suggestions with situations + reasons</a:t>
            </a:r>
          </a:p>
        </p:txBody>
      </p:sp>
      <p:sp>
        <p:nvSpPr>
          <p:cNvPr id="38" name="Rectangle 37"/>
          <p:cNvSpPr/>
          <p:nvPr/>
        </p:nvSpPr>
        <p:spPr>
          <a:xfrm>
            <a:off x="1746504" y="4910328"/>
            <a:ext cx="9811512" cy="786384"/>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920240" y="5074920"/>
            <a:ext cx="2889504" cy="438912"/>
          </a:xfrm>
          <a:prstGeom prst="rect">
            <a:avLst/>
          </a:prstGeom>
          <a:noFill/>
        </p:spPr>
        <p:txBody>
          <a:bodyPr wrap="square" lIns="18288" rIns="18288" tIns="9144" bIns="9144">
            <a:spAutoFit/>
          </a:bodyPr>
          <a:lstStyle/>
          <a:p>
            <a:pPr algn="l">
              <a:lnSpc>
                <a:spcPct val="110000"/>
              </a:lnSpc>
              <a:spcAft>
                <a:spcPts val="500"/>
              </a:spcAft>
            </a:pPr>
            <a:r>
              <a:rPr sz="1900" b="1" lang="en-US">
                <a:solidFill>
                  <a:srgbClr val="167D89"/>
                </a:solidFill>
                <a:latin typeface="Arial"/>
                <a:ea typeface="Microsoft YaHei"/>
              </a:rPr>
              <a:t>Learning Capacity</a:t>
            </a:r>
          </a:p>
        </p:txBody>
      </p:sp>
      <p:sp>
        <p:nvSpPr>
          <p:cNvPr id="40" name="TextBox 39"/>
          <p:cNvSpPr txBox="1"/>
          <p:nvPr/>
        </p:nvSpPr>
        <p:spPr>
          <a:xfrm>
            <a:off x="4818888" y="5047488"/>
            <a:ext cx="2971800" cy="502920"/>
          </a:xfrm>
          <a:prstGeom prst="rect">
            <a:avLst/>
          </a:prstGeom>
          <a:noFill/>
        </p:spPr>
        <p:txBody>
          <a:bodyPr wrap="square" lIns="18288" rIns="18288" tIns="9144" bIns="9144">
            <a:spAutoFit/>
          </a:bodyPr>
          <a:lstStyle/>
          <a:p>
            <a:pPr algn="l">
              <a:lnSpc>
                <a:spcPct val="110000"/>
              </a:lnSpc>
              <a:spcAft>
                <a:spcPts val="500"/>
              </a:spcAft>
            </a:pPr>
            <a:r>
              <a:rPr sz="1700" b="0" lang="en-US">
                <a:solidFill>
                  <a:srgbClr val="183A50"/>
                </a:solidFill>
                <a:latin typeface="Arial"/>
                <a:ea typeface="Microsoft YaHei"/>
              </a:rPr>
              <a:t>Check and revise with a partner.</a:t>
            </a:r>
          </a:p>
        </p:txBody>
      </p:sp>
      <p:sp>
        <p:nvSpPr>
          <p:cNvPr id="41" name="TextBox 40"/>
          <p:cNvSpPr txBox="1"/>
          <p:nvPr/>
        </p:nvSpPr>
        <p:spPr>
          <a:xfrm>
            <a:off x="7927848" y="5047488"/>
            <a:ext cx="3401568" cy="502920"/>
          </a:xfrm>
          <a:prstGeom prst="rect">
            <a:avLst/>
          </a:prstGeom>
          <a:noFill/>
        </p:spPr>
        <p:txBody>
          <a:bodyPr wrap="square" lIns="18288" rIns="18288" tIns="9144" bIns="9144">
            <a:spAutoFit/>
          </a:bodyPr>
          <a:lstStyle/>
          <a:p>
            <a:pPr algn="l">
              <a:lnSpc>
                <a:spcPct val="110000"/>
              </a:lnSpc>
              <a:spcAft>
                <a:spcPts val="500"/>
              </a:spcAft>
            </a:pPr>
            <a:r>
              <a:rPr sz="1600" b="0" lang="en-US">
                <a:solidFill>
                  <a:srgbClr val="526B78"/>
                </a:solidFill>
                <a:latin typeface="Arial"/>
                <a:ea typeface="Microsoft YaHei"/>
              </a:rPr>
              <a:t>A checked table and one revision</a:t>
            </a:r>
          </a:p>
        </p:txBody>
      </p:sp>
      <p:sp>
        <p:nvSpPr>
          <p:cNvPr id="42" name="TextBox 41"/>
          <p:cNvSpPr txBox="1"/>
          <p:nvPr/>
        </p:nvSpPr>
        <p:spPr>
          <a:xfrm>
            <a:off x="1856231" y="5934456"/>
            <a:ext cx="9601200" cy="320040"/>
          </a:xfrm>
          <a:prstGeom prst="rect">
            <a:avLst/>
          </a:prstGeom>
          <a:noFill/>
        </p:spPr>
        <p:txBody>
          <a:bodyPr wrap="square" lIns="18288" rIns="18288" tIns="9144" bIns="9144">
            <a:spAutoFit/>
          </a:bodyPr>
          <a:lstStyle/>
          <a:p>
            <a:pPr algn="l">
              <a:lnSpc>
                <a:spcPct val="110000"/>
              </a:lnSpc>
              <a:spcAft>
                <a:spcPts val="500"/>
              </a:spcAft>
            </a:pPr>
            <a:r>
              <a:rPr sz="1500" b="1" lang="en-US">
                <a:solidFill>
                  <a:srgbClr val="167D89"/>
                </a:solidFill>
                <a:latin typeface="Arial"/>
                <a:ea typeface="Microsoft YaHei"/>
              </a:rPr>
              <a:t>Align objectives, learning tasks and assessment evidence.</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3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3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3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3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3" grpId="0"/>
      <p:bldP spid="37" grpId="0"/>
      <p:bldP spid="41" grpId="0"/>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9FA"/>
        </a:solidFill>
        <a:effectLst/>
      </p:bgPr>
    </p:bg>
    <p:spTree>
      <p:nvGrpSpPr>
        <p:cNvPr id="1" name=""/>
        <p:cNvGrpSpPr/>
        <p:nvPr/>
      </p:nvGrpSpPr>
      <p:grpSpPr/>
      <p:sp>
        <p:nvSpPr>
          <p:cNvPr id="2" name="Rectangle 1"/>
          <p:cNvSpPr/>
          <p:nvPr/>
        </p:nvSpPr>
        <p:spPr>
          <a:xfrm>
            <a:off x="0" y="0"/>
            <a:ext cx="1325880" cy="6858000"/>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329184"/>
            <a:ext cx="896112" cy="457200"/>
          </a:xfrm>
          <a:prstGeom prst="rect">
            <a:avLst/>
          </a:prstGeom>
          <a:noFill/>
        </p:spPr>
        <p:txBody>
          <a:bodyPr wrap="square" lIns="18288" rIns="18288" tIns="9144" bIns="9144">
            <a:spAutoFit/>
          </a:bodyPr>
          <a:lstStyle/>
          <a:p>
            <a:pPr algn="l">
              <a:lnSpc>
                <a:spcPct val="110000"/>
              </a:lnSpc>
              <a:spcAft>
                <a:spcPts val="500"/>
              </a:spcAft>
            </a:pPr>
            <a:r>
              <a:rPr sz="1800" b="1" lang="en-US">
                <a:solidFill>
                  <a:srgbClr val="FFFFFF"/>
                </a:solidFill>
                <a:latin typeface="Arial"/>
                <a:ea typeface="Microsoft YaHei"/>
              </a:rPr>
              <a:t>UNIT 4</a:t>
            </a:r>
          </a:p>
        </p:txBody>
      </p:sp>
      <p:sp>
        <p:nvSpPr>
          <p:cNvPr id="4" name="TextBox 3"/>
          <p:cNvSpPr txBox="1"/>
          <p:nvPr/>
        </p:nvSpPr>
        <p:spPr>
          <a:xfrm>
            <a:off x="219456" y="868680"/>
            <a:ext cx="914400" cy="658368"/>
          </a:xfrm>
          <a:prstGeom prst="rect">
            <a:avLst/>
          </a:prstGeom>
          <a:noFill/>
        </p:spPr>
        <p:txBody>
          <a:bodyPr wrap="square" lIns="18288" rIns="18288" tIns="9144" bIns="9144">
            <a:spAutoFit/>
          </a:bodyPr>
          <a:lstStyle/>
          <a:p>
            <a:pPr algn="l">
              <a:lnSpc>
                <a:spcPct val="110000"/>
              </a:lnSpc>
              <a:spcAft>
                <a:spcPts val="500"/>
              </a:spcAft>
            </a:pPr>
            <a:r>
              <a:rPr sz="1200" b="1" lang="en-US">
                <a:solidFill>
                  <a:srgbClr val="93C3D4"/>
                </a:solidFill>
                <a:latin typeface="Arial"/>
                <a:ea typeface="Microsoft YaHei"/>
              </a:rPr>
              <a:t>READ</a:t>
            </a:r>
          </a:p>
          <a:p>
            <a:pPr algn="l">
              <a:lnSpc>
                <a:spcPct val="110000"/>
              </a:lnSpc>
              <a:spcAft>
                <a:spcPts val="500"/>
              </a:spcAft>
            </a:pPr>
            <a:r>
              <a:rPr sz="1200" b="1" lang="en-US">
                <a:solidFill>
                  <a:srgbClr val="93C3D4"/>
                </a:solidFill>
                <a:latin typeface="Arial"/>
                <a:ea typeface="Microsoft YaHei"/>
              </a:rPr>
              <a:t>&amp; THINK</a:t>
            </a:r>
          </a:p>
        </p:txBody>
      </p:sp>
      <p:sp>
        <p:nvSpPr>
          <p:cNvPr id="5" name="Rectangle 4">
            <a:hlinkClick action="ppaction://hlinksldjump" r:id="rId3"/>
          </p:cNvPr>
          <p:cNvSpPr/>
          <p:nvPr/>
        </p:nvSpPr>
        <p:spPr>
          <a:xfrm>
            <a:off x="109728" y="1874519"/>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146304" y="1933955"/>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说教材</a:t>
            </a:r>
          </a:p>
        </p:txBody>
      </p:sp>
      <p:sp>
        <p:nvSpPr>
          <p:cNvPr id="7" name="Rectangle 6">
            <a:hlinkClick action="ppaction://hlinksldjump" r:id="rId4"/>
          </p:cNvPr>
          <p:cNvSpPr/>
          <p:nvPr/>
        </p:nvSpPr>
        <p:spPr>
          <a:xfrm>
            <a:off x="109728" y="2441448"/>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46304" y="2500884"/>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说学情</a:t>
            </a:r>
          </a:p>
        </p:txBody>
      </p:sp>
      <p:sp>
        <p:nvSpPr>
          <p:cNvPr id="9" name="Rectangle 8">
            <a:hlinkClick action="ppaction://hlinksldjump" r:id="rId5"/>
          </p:cNvPr>
          <p:cNvSpPr/>
          <p:nvPr/>
        </p:nvSpPr>
        <p:spPr>
          <a:xfrm>
            <a:off x="109728" y="3008376"/>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46304" y="3067812"/>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说目标</a:t>
            </a:r>
          </a:p>
        </p:txBody>
      </p:sp>
      <p:sp>
        <p:nvSpPr>
          <p:cNvPr id="11" name="Rectangle 10">
            <a:hlinkClick action="ppaction://hlinksldjump" r:id="rId6"/>
          </p:cNvPr>
          <p:cNvSpPr/>
          <p:nvPr/>
        </p:nvSpPr>
        <p:spPr>
          <a:xfrm>
            <a:off x="109728" y="3575303"/>
            <a:ext cx="1097280" cy="42976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6"/>
          </p:cNvPr>
          <p:cNvSpPr txBox="1"/>
          <p:nvPr/>
        </p:nvSpPr>
        <p:spPr>
          <a:xfrm>
            <a:off x="146304" y="3634739"/>
            <a:ext cx="1024128" cy="301752"/>
          </a:xfrm>
          <a:prstGeom prst="rect">
            <a:avLst/>
          </a:prstGeom>
          <a:noFill/>
        </p:spPr>
        <p:txBody>
          <a:bodyPr wrap="square" lIns="18288" rIns="18288" tIns="9144" bIns="9144">
            <a:spAutoFit/>
          </a:bodyPr>
          <a:lstStyle/>
          <a:p>
            <a:pPr algn="ctr">
              <a:lnSpc>
                <a:spcPct val="110000"/>
              </a:lnSpc>
              <a:spcAft>
                <a:spcPts val="500"/>
              </a:spcAft>
            </a:pPr>
            <a:r>
              <a:rPr sz="1500" b="1" lang="zh-CN">
                <a:solidFill>
                  <a:srgbClr val="FFFFFF"/>
                </a:solidFill>
                <a:latin typeface="Microsoft YaHei"/>
                <a:ea typeface="Microsoft YaHei"/>
              </a:rPr>
              <a:t>说重难</a:t>
            </a:r>
          </a:p>
        </p:txBody>
      </p:sp>
      <p:sp>
        <p:nvSpPr>
          <p:cNvPr id="13" name="Rectangle 12">
            <a:hlinkClick action="ppaction://hlinksldjump" r:id="rId7"/>
          </p:cNvPr>
          <p:cNvSpPr/>
          <p:nvPr/>
        </p:nvSpPr>
        <p:spPr>
          <a:xfrm>
            <a:off x="109728" y="4142231"/>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7"/>
          </p:cNvPr>
          <p:cNvSpPr txBox="1"/>
          <p:nvPr/>
        </p:nvSpPr>
        <p:spPr>
          <a:xfrm>
            <a:off x="146304" y="4201668"/>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说过程</a:t>
            </a:r>
          </a:p>
        </p:txBody>
      </p:sp>
      <p:sp>
        <p:nvSpPr>
          <p:cNvPr id="15" name="Rectangle 14">
            <a:hlinkClick action="ppaction://hlinksldjump" r:id="rId8"/>
          </p:cNvPr>
          <p:cNvSpPr/>
          <p:nvPr/>
        </p:nvSpPr>
        <p:spPr>
          <a:xfrm>
            <a:off x="109728" y="4709160"/>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8"/>
          </p:cNvPr>
          <p:cNvSpPr txBox="1"/>
          <p:nvPr/>
        </p:nvSpPr>
        <p:spPr>
          <a:xfrm>
            <a:off x="146304" y="4768596"/>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说反思</a:t>
            </a:r>
          </a:p>
        </p:txBody>
      </p:sp>
      <p:sp>
        <p:nvSpPr>
          <p:cNvPr id="17" name="TextBox 16"/>
          <p:cNvSpPr txBox="1"/>
          <p:nvPr/>
        </p:nvSpPr>
        <p:spPr>
          <a:xfrm>
            <a:off x="210312" y="6062472"/>
            <a:ext cx="950976" cy="393192"/>
          </a:xfrm>
          <a:prstGeom prst="rect">
            <a:avLst/>
          </a:prstGeom>
          <a:noFill/>
        </p:spPr>
        <p:txBody>
          <a:bodyPr wrap="square" lIns="18288" rIns="18288" tIns="9144" bIns="9144">
            <a:spAutoFit/>
          </a:bodyPr>
          <a:lstStyle/>
          <a:p>
            <a:pPr algn="ctr">
              <a:lnSpc>
                <a:spcPct val="110000"/>
              </a:lnSpc>
              <a:spcAft>
                <a:spcPts val="500"/>
              </a:spcAft>
            </a:pPr>
            <a:r>
              <a:rPr sz="1300" b="0" lang="en-US">
                <a:solidFill>
                  <a:srgbClr val="BCD3DF"/>
                </a:solidFill>
                <a:latin typeface="Arial"/>
                <a:ea typeface="Microsoft YaHei"/>
              </a:rPr>
              <a:t>06 / 20</a:t>
            </a:r>
          </a:p>
        </p:txBody>
      </p:sp>
      <p:sp>
        <p:nvSpPr>
          <p:cNvPr id="18" name="Rectangle 17"/>
          <p:cNvSpPr/>
          <p:nvPr/>
        </p:nvSpPr>
        <p:spPr>
          <a:xfrm>
            <a:off x="1325880" y="0"/>
            <a:ext cx="10872216" cy="6858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00784" y="283464"/>
            <a:ext cx="7315200" cy="274320"/>
          </a:xfrm>
          <a:prstGeom prst="rect">
            <a:avLst/>
          </a:prstGeom>
          <a:noFill/>
        </p:spPr>
        <p:txBody>
          <a:bodyPr wrap="square" lIns="18288" rIns="18288" tIns="9144" bIns="9144">
            <a:spAutoFit/>
          </a:bodyPr>
          <a:lstStyle/>
          <a:p>
            <a:pPr algn="l">
              <a:lnSpc>
                <a:spcPct val="110000"/>
              </a:lnSpc>
              <a:spcAft>
                <a:spcPts val="500"/>
              </a:spcAft>
            </a:pPr>
            <a:r>
              <a:rPr sz="1100" b="1" lang="en-US">
                <a:solidFill>
                  <a:srgbClr val="167D89"/>
                </a:solidFill>
                <a:latin typeface="Arial"/>
                <a:ea typeface="Microsoft YaHei"/>
              </a:rPr>
              <a:t>BODY LANGUAGE   /   READING AND THINKING</a:t>
            </a:r>
          </a:p>
        </p:txBody>
      </p:sp>
      <p:sp>
        <p:nvSpPr>
          <p:cNvPr id="20" name="TextBox 19"/>
          <p:cNvSpPr txBox="1"/>
          <p:nvPr/>
        </p:nvSpPr>
        <p:spPr>
          <a:xfrm>
            <a:off x="9802368" y="283464"/>
            <a:ext cx="1920240" cy="274320"/>
          </a:xfrm>
          <a:prstGeom prst="rect">
            <a:avLst/>
          </a:prstGeom>
          <a:noFill/>
        </p:spPr>
        <p:txBody>
          <a:bodyPr wrap="square" lIns="18288" rIns="18288" tIns="9144" bIns="9144">
            <a:spAutoFit/>
          </a:bodyPr>
          <a:lstStyle/>
          <a:p>
            <a:pPr algn="r">
              <a:lnSpc>
                <a:spcPct val="110000"/>
              </a:lnSpc>
              <a:spcAft>
                <a:spcPts val="500"/>
              </a:spcAft>
            </a:pPr>
            <a:r>
              <a:rPr sz="1100" b="0" lang="en-US">
                <a:solidFill>
                  <a:srgbClr val="526B78"/>
                </a:solidFill>
                <a:latin typeface="Arial"/>
                <a:ea typeface="Microsoft YaHei"/>
              </a:rPr>
              <a:t>02:35–03:10</a:t>
            </a:r>
          </a:p>
        </p:txBody>
      </p:sp>
      <p:sp>
        <p:nvSpPr>
          <p:cNvPr id="21" name="TextBox 20"/>
          <p:cNvSpPr txBox="1"/>
          <p:nvPr/>
        </p:nvSpPr>
        <p:spPr>
          <a:xfrm>
            <a:off x="1691640" y="859536"/>
            <a:ext cx="10021824" cy="630936"/>
          </a:xfrm>
          <a:prstGeom prst="rect">
            <a:avLst/>
          </a:prstGeom>
          <a:noFill/>
        </p:spPr>
        <p:txBody>
          <a:bodyPr wrap="square" lIns="18288" rIns="18288" tIns="9144" bIns="9144">
            <a:spAutoFit/>
          </a:bodyPr>
          <a:lstStyle/>
          <a:p>
            <a:pPr algn="l">
              <a:lnSpc>
                <a:spcPct val="110000"/>
              </a:lnSpc>
              <a:spcAft>
                <a:spcPts val="500"/>
              </a:spcAft>
            </a:pPr>
            <a:r>
              <a:rPr sz="3000" b="1" lang="zh-CN">
                <a:solidFill>
                  <a:srgbClr val="183A50"/>
                </a:solidFill>
                <a:latin typeface="Microsoft YaHei"/>
                <a:ea typeface="Microsoft YaHei"/>
              </a:rPr>
              <a:t>说重难｜读准信息，解释语境，迁移表达</a:t>
            </a:r>
          </a:p>
        </p:txBody>
      </p:sp>
      <p:sp>
        <p:nvSpPr>
          <p:cNvPr id="22" name="TextBox 21"/>
          <p:cNvSpPr txBox="1"/>
          <p:nvPr/>
        </p:nvSpPr>
        <p:spPr>
          <a:xfrm>
            <a:off x="1719072" y="1545336"/>
            <a:ext cx="9921240" cy="521207"/>
          </a:xfrm>
          <a:prstGeom prst="rect">
            <a:avLst/>
          </a:prstGeom>
          <a:noFill/>
        </p:spPr>
        <p:txBody>
          <a:bodyPr wrap="square" lIns="18288" rIns="18288" tIns="9144" bIns="9144">
            <a:spAutoFit/>
          </a:bodyPr>
          <a:lstStyle/>
          <a:p>
            <a:pPr algn="l">
              <a:lnSpc>
                <a:spcPct val="110000"/>
              </a:lnSpc>
              <a:spcAft>
                <a:spcPts val="500"/>
              </a:spcAft>
            </a:pPr>
            <a:r>
              <a:rPr sz="1500" b="0" lang="en-US">
                <a:solidFill>
                  <a:srgbClr val="526B78"/>
                </a:solidFill>
                <a:latin typeface="Arial"/>
                <a:ea typeface="Microsoft YaHei"/>
              </a:rPr>
              <a:t>Key focus: structure, comparisons and advice · Difficulty: integration and qualification</a:t>
            </a:r>
          </a:p>
        </p:txBody>
      </p:sp>
      <p:sp>
        <p:nvSpPr>
          <p:cNvPr id="23" name="Rectangle 22"/>
          <p:cNvSpPr/>
          <p:nvPr/>
        </p:nvSpPr>
        <p:spPr>
          <a:xfrm>
            <a:off x="1719072" y="6400800"/>
            <a:ext cx="9985248" cy="10058"/>
          </a:xfrm>
          <a:prstGeom prst="rect">
            <a:avLst/>
          </a:prstGeom>
          <a:solidFill>
            <a:srgbClr val="C8D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37360" y="6492240"/>
            <a:ext cx="9784080" cy="228600"/>
          </a:xfrm>
          <a:prstGeom prst="rect">
            <a:avLst/>
          </a:prstGeom>
          <a:noFill/>
        </p:spPr>
        <p:txBody>
          <a:bodyPr wrap="square" lIns="18288" rIns="18288" tIns="9144" bIns="9144">
            <a:spAutoFit/>
          </a:bodyPr>
          <a:lstStyle/>
          <a:p>
            <a:pPr algn="l">
              <a:lnSpc>
                <a:spcPct val="110000"/>
              </a:lnSpc>
              <a:spcAft>
                <a:spcPts val="500"/>
              </a:spcAft>
            </a:pPr>
            <a:r>
              <a:rPr sz="1050" b="0" lang="zh-CN">
                <a:solidFill>
                  <a:srgbClr val="526B78"/>
                </a:solidFill>
                <a:latin typeface="Microsoft YaHei"/>
                <a:ea typeface="Microsoft YaHei"/>
              </a:rPr>
              <a:t>读懂差异  ·  尊重语境  ·  得体交流</a:t>
            </a:r>
          </a:p>
        </p:txBody>
      </p:sp>
      <p:sp>
        <p:nvSpPr>
          <p:cNvPr id="25" name="Rectangle 24"/>
          <p:cNvSpPr/>
          <p:nvPr/>
        </p:nvSpPr>
        <p:spPr>
          <a:xfrm>
            <a:off x="1719072" y="6345936"/>
            <a:ext cx="2995574" cy="2286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737360" y="2267712"/>
            <a:ext cx="4782312" cy="2761488"/>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737360" y="2267712"/>
            <a:ext cx="4782312" cy="4114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920240" y="2441448"/>
            <a:ext cx="4416552" cy="484632"/>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167D89"/>
                </a:solidFill>
                <a:latin typeface="Arial"/>
                <a:ea typeface="Microsoft YaHei"/>
              </a:rPr>
              <a:t>Reading Scaffold</a:t>
            </a:r>
          </a:p>
        </p:txBody>
      </p:sp>
      <p:sp>
        <p:nvSpPr>
          <p:cNvPr id="29" name="TextBox 28"/>
          <p:cNvSpPr txBox="1"/>
          <p:nvPr/>
        </p:nvSpPr>
        <p:spPr>
          <a:xfrm>
            <a:off x="1920240" y="3099816"/>
            <a:ext cx="4416552" cy="1828800"/>
          </a:xfrm>
          <a:prstGeom prst="rect">
            <a:avLst/>
          </a:prstGeom>
          <a:noFill/>
        </p:spPr>
        <p:txBody>
          <a:bodyPr wrap="square" lIns="18288" rIns="18288" tIns="9144" bIns="9144">
            <a:spAutoFit/>
          </a:bodyPr>
          <a:lstStyle/>
          <a:p>
            <a:pPr algn="l">
              <a:lnSpc>
                <a:spcPct val="110000"/>
              </a:lnSpc>
              <a:spcAft>
                <a:spcPts val="500"/>
              </a:spcAft>
            </a:pPr>
            <a:r>
              <a:rPr sz="2000" b="0" lang="en-US">
                <a:solidFill>
                  <a:srgbClr val="183A50"/>
                </a:solidFill>
                <a:latin typeface="Arial"/>
                <a:ea typeface="Microsoft YaHei"/>
              </a:rPr>
              <a:t>GESTURE → MEANING → CONTEXT</a:t>
            </a:r>
          </a:p>
          <a:p>
            <a:pPr algn="l">
              <a:lnSpc>
                <a:spcPct val="110000"/>
              </a:lnSpc>
              <a:spcAft>
                <a:spcPts val="500"/>
              </a:spcAft>
            </a:pPr>
            <a:r>
              <a:rPr sz="2000" b="0" lang="en-US">
                <a:solidFill>
                  <a:srgbClr val="183A50"/>
                </a:solidFill>
                <a:latin typeface="Arial"/>
                <a:ea typeface="Microsoft YaHei"/>
              </a:rPr>
              <a:t/>
            </a:r>
          </a:p>
          <a:p>
            <a:pPr algn="l">
              <a:lnSpc>
                <a:spcPct val="110000"/>
              </a:lnSpc>
              <a:spcAft>
                <a:spcPts val="500"/>
              </a:spcAft>
            </a:pPr>
            <a:r>
              <a:rPr sz="2000" b="0" lang="en-US">
                <a:solidFill>
                  <a:srgbClr val="183A50"/>
                </a:solidFill>
                <a:latin typeface="Arial"/>
                <a:ea typeface="Microsoft YaHei"/>
              </a:rPr>
              <a:t>Find the sentence.</a:t>
            </a:r>
          </a:p>
          <a:p>
            <a:pPr algn="l">
              <a:lnSpc>
                <a:spcPct val="110000"/>
              </a:lnSpc>
              <a:spcAft>
                <a:spcPts val="500"/>
              </a:spcAft>
            </a:pPr>
            <a:r>
              <a:rPr sz="2000" b="0" lang="en-US">
                <a:solidFill>
                  <a:srgbClr val="183A50"/>
                </a:solidFill>
                <a:latin typeface="Arial"/>
                <a:ea typeface="Microsoft YaHei"/>
              </a:rPr>
              <a:t>Check the comparison.</a:t>
            </a:r>
          </a:p>
        </p:txBody>
      </p:sp>
      <p:sp>
        <p:nvSpPr>
          <p:cNvPr id="30" name="Rectangle 29"/>
          <p:cNvSpPr/>
          <p:nvPr/>
        </p:nvSpPr>
        <p:spPr>
          <a:xfrm>
            <a:off x="6757416" y="2267712"/>
            <a:ext cx="4782312" cy="2761488"/>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757416" y="2267712"/>
            <a:ext cx="4782312" cy="41148"/>
          </a:xfrm>
          <a:prstGeom prst="rect">
            <a:avLst/>
          </a:prstGeom>
          <a:solidFill>
            <a:srgbClr val="397A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40296" y="2441448"/>
            <a:ext cx="4416552" cy="484632"/>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397AAB"/>
                </a:solidFill>
                <a:latin typeface="Arial"/>
                <a:ea typeface="Microsoft YaHei"/>
              </a:rPr>
              <a:t>Advice Scaffold</a:t>
            </a:r>
          </a:p>
        </p:txBody>
      </p:sp>
      <p:sp>
        <p:nvSpPr>
          <p:cNvPr id="33" name="TextBox 32"/>
          <p:cNvSpPr txBox="1"/>
          <p:nvPr/>
        </p:nvSpPr>
        <p:spPr>
          <a:xfrm>
            <a:off x="6940296" y="3099816"/>
            <a:ext cx="4416552" cy="1828800"/>
          </a:xfrm>
          <a:prstGeom prst="rect">
            <a:avLst/>
          </a:prstGeom>
          <a:noFill/>
        </p:spPr>
        <p:txBody>
          <a:bodyPr wrap="square" lIns="18288" rIns="18288" tIns="9144" bIns="9144">
            <a:spAutoFit/>
          </a:bodyPr>
          <a:lstStyle/>
          <a:p>
            <a:pPr algn="l">
              <a:lnSpc>
                <a:spcPct val="110000"/>
              </a:lnSpc>
              <a:spcAft>
                <a:spcPts val="500"/>
              </a:spcAft>
            </a:pPr>
            <a:r>
              <a:rPr sz="2000" b="0" lang="en-US">
                <a:solidFill>
                  <a:srgbClr val="183A50"/>
                </a:solidFill>
                <a:latin typeface="Arial"/>
                <a:ea typeface="Microsoft YaHei"/>
              </a:rPr>
              <a:t>SITUATION → ADVICE → REASON</a:t>
            </a:r>
          </a:p>
          <a:p>
            <a:pPr algn="l">
              <a:lnSpc>
                <a:spcPct val="110000"/>
              </a:lnSpc>
              <a:spcAft>
                <a:spcPts val="500"/>
              </a:spcAft>
            </a:pPr>
            <a:r>
              <a:rPr sz="2000" b="0" lang="en-US">
                <a:solidFill>
                  <a:srgbClr val="183A50"/>
                </a:solidFill>
                <a:latin typeface="Arial"/>
                <a:ea typeface="Microsoft YaHei"/>
              </a:rPr>
              <a:t/>
            </a:r>
          </a:p>
          <a:p>
            <a:pPr algn="l">
              <a:lnSpc>
                <a:spcPct val="110000"/>
              </a:lnSpc>
              <a:spcAft>
                <a:spcPts val="500"/>
              </a:spcAft>
            </a:pPr>
            <a:r>
              <a:rPr sz="2000" b="0" lang="en-US">
                <a:solidFill>
                  <a:srgbClr val="183A50"/>
                </a:solidFill>
                <a:latin typeface="Arial"/>
                <a:ea typeface="Microsoft YaHei"/>
              </a:rPr>
              <a:t>Use “may / could” when suitable.</a:t>
            </a:r>
          </a:p>
          <a:p>
            <a:pPr algn="l">
              <a:lnSpc>
                <a:spcPct val="110000"/>
              </a:lnSpc>
              <a:spcAft>
                <a:spcPts val="500"/>
              </a:spcAft>
            </a:pPr>
            <a:r>
              <a:rPr sz="2000" b="0" lang="en-US">
                <a:solidFill>
                  <a:srgbClr val="183A50"/>
                </a:solidFill>
                <a:latin typeface="Arial"/>
                <a:ea typeface="Microsoft YaHei"/>
              </a:rPr>
              <a:t>Revise unsupported claims.</a:t>
            </a:r>
          </a:p>
        </p:txBody>
      </p:sp>
      <p:sp>
        <p:nvSpPr>
          <p:cNvPr id="34" name="Rectangle 33"/>
          <p:cNvSpPr/>
          <p:nvPr/>
        </p:nvSpPr>
        <p:spPr>
          <a:xfrm>
            <a:off x="1755648" y="5093208"/>
            <a:ext cx="9784080" cy="859536"/>
          </a:xfrm>
          <a:prstGeom prst="rect">
            <a:avLst/>
          </a:prstGeom>
          <a:solidFill>
            <a:srgbClr val="E7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938528" y="5266944"/>
            <a:ext cx="9354312" cy="502920"/>
          </a:xfrm>
          <a:prstGeom prst="rect">
            <a:avLst/>
          </a:prstGeom>
          <a:noFill/>
        </p:spPr>
        <p:txBody>
          <a:bodyPr wrap="square" lIns="18288" rIns="18288" tIns="9144" bIns="9144">
            <a:spAutoFit/>
          </a:bodyPr>
          <a:lstStyle/>
          <a:p>
            <a:pPr algn="l">
              <a:lnSpc>
                <a:spcPct val="110000"/>
              </a:lnSpc>
              <a:spcAft>
                <a:spcPts val="500"/>
              </a:spcAft>
            </a:pPr>
            <a:r>
              <a:rPr sz="2000" b="1" lang="zh-CN">
                <a:solidFill>
                  <a:srgbClr val="167D89"/>
                </a:solidFill>
                <a:latin typeface="Microsoft YaHei"/>
                <a:ea typeface="Microsoft YaHei"/>
              </a:rPr>
              <a:t>教师示范一项 → 独立查证 → 伙伴核验 → 比较解释 → 修改建议</a:t>
            </a:r>
          </a:p>
        </p:txBody>
      </p:sp>
    </p:spTree>
  </p:cSld>
  <p:clrMapOvr>
    <a:masterClrMapping/>
  </p:clrMapOvr>
  <p:transition spd="fast">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9FA"/>
        </a:solidFill>
        <a:effectLst/>
      </p:bgPr>
    </p:bg>
    <p:spTree>
      <p:nvGrpSpPr>
        <p:cNvPr id="1" name=""/>
        <p:cNvGrpSpPr/>
        <p:nvPr/>
      </p:nvGrpSpPr>
      <p:grpSpPr/>
      <p:sp>
        <p:nvSpPr>
          <p:cNvPr id="2" name="Rectangle 1"/>
          <p:cNvSpPr/>
          <p:nvPr/>
        </p:nvSpPr>
        <p:spPr>
          <a:xfrm>
            <a:off x="0" y="0"/>
            <a:ext cx="1325880" cy="6858000"/>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329184"/>
            <a:ext cx="896112" cy="457200"/>
          </a:xfrm>
          <a:prstGeom prst="rect">
            <a:avLst/>
          </a:prstGeom>
          <a:noFill/>
        </p:spPr>
        <p:txBody>
          <a:bodyPr wrap="square" lIns="18288" rIns="18288" tIns="9144" bIns="9144">
            <a:spAutoFit/>
          </a:bodyPr>
          <a:lstStyle/>
          <a:p>
            <a:pPr algn="l">
              <a:lnSpc>
                <a:spcPct val="110000"/>
              </a:lnSpc>
              <a:spcAft>
                <a:spcPts val="500"/>
              </a:spcAft>
            </a:pPr>
            <a:r>
              <a:rPr sz="1800" b="1" lang="en-US">
                <a:solidFill>
                  <a:srgbClr val="FFFFFF"/>
                </a:solidFill>
                <a:latin typeface="Arial"/>
                <a:ea typeface="Microsoft YaHei"/>
              </a:rPr>
              <a:t>UNIT 4</a:t>
            </a:r>
          </a:p>
        </p:txBody>
      </p:sp>
      <p:sp>
        <p:nvSpPr>
          <p:cNvPr id="4" name="TextBox 3"/>
          <p:cNvSpPr txBox="1"/>
          <p:nvPr/>
        </p:nvSpPr>
        <p:spPr>
          <a:xfrm>
            <a:off x="219456" y="868680"/>
            <a:ext cx="914400" cy="658368"/>
          </a:xfrm>
          <a:prstGeom prst="rect">
            <a:avLst/>
          </a:prstGeom>
          <a:noFill/>
        </p:spPr>
        <p:txBody>
          <a:bodyPr wrap="square" lIns="18288" rIns="18288" tIns="9144" bIns="9144">
            <a:spAutoFit/>
          </a:bodyPr>
          <a:lstStyle/>
          <a:p>
            <a:pPr algn="l">
              <a:lnSpc>
                <a:spcPct val="110000"/>
              </a:lnSpc>
              <a:spcAft>
                <a:spcPts val="500"/>
              </a:spcAft>
            </a:pPr>
            <a:r>
              <a:rPr sz="1200" b="1" lang="en-US">
                <a:solidFill>
                  <a:srgbClr val="93C3D4"/>
                </a:solidFill>
                <a:latin typeface="Arial"/>
                <a:ea typeface="Microsoft YaHei"/>
              </a:rPr>
              <a:t>READ</a:t>
            </a:r>
          </a:p>
          <a:p>
            <a:pPr algn="l">
              <a:lnSpc>
                <a:spcPct val="110000"/>
              </a:lnSpc>
              <a:spcAft>
                <a:spcPts val="500"/>
              </a:spcAft>
            </a:pPr>
            <a:r>
              <a:rPr sz="1200" b="1" lang="en-US">
                <a:solidFill>
                  <a:srgbClr val="93C3D4"/>
                </a:solidFill>
                <a:latin typeface="Arial"/>
                <a:ea typeface="Microsoft YaHei"/>
              </a:rPr>
              <a:t>&amp; THINK</a:t>
            </a:r>
          </a:p>
        </p:txBody>
      </p:sp>
      <p:sp>
        <p:nvSpPr>
          <p:cNvPr id="5" name="Rectangle 4">
            <a:hlinkClick action="ppaction://hlinksldjump" r:id="rId3"/>
          </p:cNvPr>
          <p:cNvSpPr/>
          <p:nvPr/>
        </p:nvSpPr>
        <p:spPr>
          <a:xfrm>
            <a:off x="109728" y="1874519"/>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146304" y="1933955"/>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说教材</a:t>
            </a:r>
          </a:p>
        </p:txBody>
      </p:sp>
      <p:sp>
        <p:nvSpPr>
          <p:cNvPr id="7" name="Rectangle 6">
            <a:hlinkClick action="ppaction://hlinksldjump" r:id="rId4"/>
          </p:cNvPr>
          <p:cNvSpPr/>
          <p:nvPr/>
        </p:nvSpPr>
        <p:spPr>
          <a:xfrm>
            <a:off x="109728" y="2441448"/>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46304" y="2500884"/>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说学情</a:t>
            </a:r>
          </a:p>
        </p:txBody>
      </p:sp>
      <p:sp>
        <p:nvSpPr>
          <p:cNvPr id="9" name="Rectangle 8">
            <a:hlinkClick action="ppaction://hlinksldjump" r:id="rId5"/>
          </p:cNvPr>
          <p:cNvSpPr/>
          <p:nvPr/>
        </p:nvSpPr>
        <p:spPr>
          <a:xfrm>
            <a:off x="109728" y="3008376"/>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46304" y="3067812"/>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说目标</a:t>
            </a:r>
          </a:p>
        </p:txBody>
      </p:sp>
      <p:sp>
        <p:nvSpPr>
          <p:cNvPr id="11" name="Rectangle 10">
            <a:hlinkClick action="ppaction://hlinksldjump" r:id="rId6"/>
          </p:cNvPr>
          <p:cNvSpPr/>
          <p:nvPr/>
        </p:nvSpPr>
        <p:spPr>
          <a:xfrm>
            <a:off x="109728" y="3575303"/>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6"/>
          </p:cNvPr>
          <p:cNvSpPr txBox="1"/>
          <p:nvPr/>
        </p:nvSpPr>
        <p:spPr>
          <a:xfrm>
            <a:off x="146304" y="3634739"/>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说重难</a:t>
            </a:r>
          </a:p>
        </p:txBody>
      </p:sp>
      <p:sp>
        <p:nvSpPr>
          <p:cNvPr id="13" name="Rectangle 12">
            <a:hlinkClick action="ppaction://hlinksldjump" r:id="rId7"/>
          </p:cNvPr>
          <p:cNvSpPr/>
          <p:nvPr/>
        </p:nvSpPr>
        <p:spPr>
          <a:xfrm>
            <a:off x="109728" y="4142231"/>
            <a:ext cx="1097280" cy="42976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7"/>
          </p:cNvPr>
          <p:cNvSpPr txBox="1"/>
          <p:nvPr/>
        </p:nvSpPr>
        <p:spPr>
          <a:xfrm>
            <a:off x="146304" y="4201668"/>
            <a:ext cx="1024128" cy="301752"/>
          </a:xfrm>
          <a:prstGeom prst="rect">
            <a:avLst/>
          </a:prstGeom>
          <a:noFill/>
        </p:spPr>
        <p:txBody>
          <a:bodyPr wrap="square" lIns="18288" rIns="18288" tIns="9144" bIns="9144">
            <a:spAutoFit/>
          </a:bodyPr>
          <a:lstStyle/>
          <a:p>
            <a:pPr algn="ctr">
              <a:lnSpc>
                <a:spcPct val="110000"/>
              </a:lnSpc>
              <a:spcAft>
                <a:spcPts val="500"/>
              </a:spcAft>
            </a:pPr>
            <a:r>
              <a:rPr sz="1500" b="1" lang="zh-CN">
                <a:solidFill>
                  <a:srgbClr val="FFFFFF"/>
                </a:solidFill>
                <a:latin typeface="Microsoft YaHei"/>
                <a:ea typeface="Microsoft YaHei"/>
              </a:rPr>
              <a:t>说过程</a:t>
            </a:r>
          </a:p>
        </p:txBody>
      </p:sp>
      <p:sp>
        <p:nvSpPr>
          <p:cNvPr id="15" name="Rectangle 14">
            <a:hlinkClick action="ppaction://hlinksldjump" r:id="rId8"/>
          </p:cNvPr>
          <p:cNvSpPr/>
          <p:nvPr/>
        </p:nvSpPr>
        <p:spPr>
          <a:xfrm>
            <a:off x="109728" y="4709160"/>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8"/>
          </p:cNvPr>
          <p:cNvSpPr txBox="1"/>
          <p:nvPr/>
        </p:nvSpPr>
        <p:spPr>
          <a:xfrm>
            <a:off x="146304" y="4768596"/>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说反思</a:t>
            </a:r>
          </a:p>
        </p:txBody>
      </p:sp>
      <p:sp>
        <p:nvSpPr>
          <p:cNvPr id="17" name="TextBox 16"/>
          <p:cNvSpPr txBox="1"/>
          <p:nvPr/>
        </p:nvSpPr>
        <p:spPr>
          <a:xfrm>
            <a:off x="210312" y="6062472"/>
            <a:ext cx="950976" cy="393192"/>
          </a:xfrm>
          <a:prstGeom prst="rect">
            <a:avLst/>
          </a:prstGeom>
          <a:noFill/>
        </p:spPr>
        <p:txBody>
          <a:bodyPr wrap="square" lIns="18288" rIns="18288" tIns="9144" bIns="9144">
            <a:spAutoFit/>
          </a:bodyPr>
          <a:lstStyle/>
          <a:p>
            <a:pPr algn="ctr">
              <a:lnSpc>
                <a:spcPct val="110000"/>
              </a:lnSpc>
              <a:spcAft>
                <a:spcPts val="500"/>
              </a:spcAft>
            </a:pPr>
            <a:r>
              <a:rPr sz="1300" b="0" lang="en-US">
                <a:solidFill>
                  <a:srgbClr val="BCD3DF"/>
                </a:solidFill>
                <a:latin typeface="Arial"/>
                <a:ea typeface="Microsoft YaHei"/>
              </a:rPr>
              <a:t>07 / 20</a:t>
            </a:r>
          </a:p>
        </p:txBody>
      </p:sp>
      <p:sp>
        <p:nvSpPr>
          <p:cNvPr id="18" name="Rectangle 17"/>
          <p:cNvSpPr/>
          <p:nvPr/>
        </p:nvSpPr>
        <p:spPr>
          <a:xfrm>
            <a:off x="1325880" y="0"/>
            <a:ext cx="10872216" cy="6858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00784" y="283464"/>
            <a:ext cx="7315200" cy="274320"/>
          </a:xfrm>
          <a:prstGeom prst="rect">
            <a:avLst/>
          </a:prstGeom>
          <a:noFill/>
        </p:spPr>
        <p:txBody>
          <a:bodyPr wrap="square" lIns="18288" rIns="18288" tIns="9144" bIns="9144">
            <a:spAutoFit/>
          </a:bodyPr>
          <a:lstStyle/>
          <a:p>
            <a:pPr algn="l">
              <a:lnSpc>
                <a:spcPct val="110000"/>
              </a:lnSpc>
              <a:spcAft>
                <a:spcPts val="500"/>
              </a:spcAft>
            </a:pPr>
            <a:r>
              <a:rPr sz="1100" b="1" lang="en-US">
                <a:solidFill>
                  <a:srgbClr val="167D89"/>
                </a:solidFill>
                <a:latin typeface="Arial"/>
                <a:ea typeface="Microsoft YaHei"/>
              </a:rPr>
              <a:t>BODY LANGUAGE   /   READING AND THINKING</a:t>
            </a:r>
          </a:p>
        </p:txBody>
      </p:sp>
      <p:sp>
        <p:nvSpPr>
          <p:cNvPr id="20" name="TextBox 19"/>
          <p:cNvSpPr txBox="1"/>
          <p:nvPr/>
        </p:nvSpPr>
        <p:spPr>
          <a:xfrm>
            <a:off x="9802368" y="283464"/>
            <a:ext cx="1920240" cy="274320"/>
          </a:xfrm>
          <a:prstGeom prst="rect">
            <a:avLst/>
          </a:prstGeom>
          <a:noFill/>
        </p:spPr>
        <p:txBody>
          <a:bodyPr wrap="square" lIns="18288" rIns="18288" tIns="9144" bIns="9144">
            <a:spAutoFit/>
          </a:bodyPr>
          <a:lstStyle/>
          <a:p>
            <a:pPr algn="r">
              <a:lnSpc>
                <a:spcPct val="110000"/>
              </a:lnSpc>
              <a:spcAft>
                <a:spcPts val="500"/>
              </a:spcAft>
            </a:pPr>
            <a:r>
              <a:rPr sz="1100" b="0" lang="en-US">
                <a:solidFill>
                  <a:srgbClr val="526B78"/>
                </a:solidFill>
                <a:latin typeface="Arial"/>
                <a:ea typeface="Microsoft YaHei"/>
              </a:rPr>
              <a:t>03:10–03:40</a:t>
            </a:r>
          </a:p>
        </p:txBody>
      </p:sp>
      <p:sp>
        <p:nvSpPr>
          <p:cNvPr id="21" name="TextBox 20"/>
          <p:cNvSpPr txBox="1"/>
          <p:nvPr/>
        </p:nvSpPr>
        <p:spPr>
          <a:xfrm>
            <a:off x="1691640" y="859536"/>
            <a:ext cx="10021824" cy="630936"/>
          </a:xfrm>
          <a:prstGeom prst="rect">
            <a:avLst/>
          </a:prstGeom>
          <a:noFill/>
        </p:spPr>
        <p:txBody>
          <a:bodyPr wrap="square" lIns="18288" rIns="18288" tIns="9144" bIns="9144">
            <a:spAutoFit/>
          </a:bodyPr>
          <a:lstStyle/>
          <a:p>
            <a:pPr algn="l">
              <a:lnSpc>
                <a:spcPct val="110000"/>
              </a:lnSpc>
              <a:spcAft>
                <a:spcPts val="500"/>
              </a:spcAft>
            </a:pPr>
            <a:r>
              <a:rPr sz="3000" b="1" lang="zh-CN">
                <a:solidFill>
                  <a:srgbClr val="183A50"/>
                </a:solidFill>
                <a:latin typeface="Microsoft YaHei"/>
                <a:ea typeface="Microsoft YaHei"/>
              </a:rPr>
              <a:t>说过程｜45 分钟课堂，9′30″关键过程展示</a:t>
            </a:r>
          </a:p>
        </p:txBody>
      </p:sp>
      <p:sp>
        <p:nvSpPr>
          <p:cNvPr id="22" name="TextBox 21"/>
          <p:cNvSpPr txBox="1"/>
          <p:nvPr/>
        </p:nvSpPr>
        <p:spPr>
          <a:xfrm>
            <a:off x="1719072" y="1545336"/>
            <a:ext cx="9921240" cy="521207"/>
          </a:xfrm>
          <a:prstGeom prst="rect">
            <a:avLst/>
          </a:prstGeom>
          <a:noFill/>
        </p:spPr>
        <p:txBody>
          <a:bodyPr wrap="square" lIns="18288" rIns="18288" tIns="9144" bIns="9144">
            <a:spAutoFit/>
          </a:bodyPr>
          <a:lstStyle/>
          <a:p>
            <a:pPr algn="l">
              <a:lnSpc>
                <a:spcPct val="110000"/>
              </a:lnSpc>
              <a:spcAft>
                <a:spcPts val="500"/>
              </a:spcAft>
            </a:pPr>
            <a:r>
              <a:rPr sz="1500" b="0" lang="zh-CN">
                <a:solidFill>
                  <a:srgbClr val="526B78"/>
                </a:solidFill>
                <a:latin typeface="Microsoft YaHei"/>
                <a:ea typeface="Microsoft YaHei"/>
              </a:rPr>
              <a:t>无生试讲用教师示范与提示性停顿呈现核心引导</a:t>
            </a:r>
          </a:p>
        </p:txBody>
      </p:sp>
      <p:sp>
        <p:nvSpPr>
          <p:cNvPr id="23" name="Rectangle 22"/>
          <p:cNvSpPr/>
          <p:nvPr/>
        </p:nvSpPr>
        <p:spPr>
          <a:xfrm>
            <a:off x="1719072" y="6400800"/>
            <a:ext cx="9985248" cy="10058"/>
          </a:xfrm>
          <a:prstGeom prst="rect">
            <a:avLst/>
          </a:prstGeom>
          <a:solidFill>
            <a:srgbClr val="C8D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37360" y="6492240"/>
            <a:ext cx="9784080" cy="228600"/>
          </a:xfrm>
          <a:prstGeom prst="rect">
            <a:avLst/>
          </a:prstGeom>
          <a:noFill/>
        </p:spPr>
        <p:txBody>
          <a:bodyPr wrap="square" lIns="18288" rIns="18288" tIns="9144" bIns="9144">
            <a:spAutoFit/>
          </a:bodyPr>
          <a:lstStyle/>
          <a:p>
            <a:pPr algn="l">
              <a:lnSpc>
                <a:spcPct val="110000"/>
              </a:lnSpc>
              <a:spcAft>
                <a:spcPts val="500"/>
              </a:spcAft>
            </a:pPr>
            <a:r>
              <a:rPr sz="1050" b="0" lang="zh-CN">
                <a:solidFill>
                  <a:srgbClr val="526B78"/>
                </a:solidFill>
                <a:latin typeface="Microsoft YaHei"/>
                <a:ea typeface="Microsoft YaHei"/>
              </a:rPr>
              <a:t>读懂差异  ·  尊重语境  ·  得体交流</a:t>
            </a:r>
          </a:p>
        </p:txBody>
      </p:sp>
      <p:sp>
        <p:nvSpPr>
          <p:cNvPr id="25" name="Rectangle 24"/>
          <p:cNvSpPr/>
          <p:nvPr/>
        </p:nvSpPr>
        <p:spPr>
          <a:xfrm>
            <a:off x="1719072" y="6345936"/>
            <a:ext cx="3494836" cy="2286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746504" y="2340864"/>
            <a:ext cx="2304288" cy="2295144"/>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746504" y="2340864"/>
            <a:ext cx="2304288" cy="4114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929384" y="2514600"/>
            <a:ext cx="1938528" cy="484632"/>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167D89"/>
                </a:solidFill>
                <a:latin typeface="Arial"/>
                <a:ea typeface="Microsoft YaHei"/>
              </a:rPr>
              <a:t>Arouse</a:t>
            </a:r>
          </a:p>
        </p:txBody>
      </p:sp>
      <p:sp>
        <p:nvSpPr>
          <p:cNvPr id="29" name="TextBox 28"/>
          <p:cNvSpPr txBox="1"/>
          <p:nvPr/>
        </p:nvSpPr>
        <p:spPr>
          <a:xfrm>
            <a:off x="1929384" y="3172968"/>
            <a:ext cx="1938528" cy="1362455"/>
          </a:xfrm>
          <a:prstGeom prst="rect">
            <a:avLst/>
          </a:prstGeom>
          <a:noFill/>
        </p:spPr>
        <p:txBody>
          <a:bodyPr wrap="square" lIns="18288" rIns="18288" tIns="9144" bIns="9144">
            <a:spAutoFit/>
          </a:bodyPr>
          <a:lstStyle/>
          <a:p>
            <a:pPr algn="l">
              <a:lnSpc>
                <a:spcPct val="110000"/>
              </a:lnSpc>
              <a:spcAft>
                <a:spcPts val="500"/>
              </a:spcAft>
            </a:pPr>
            <a:r>
              <a:rPr sz="1700" b="0" lang="en-US">
                <a:solidFill>
                  <a:srgbClr val="183A50"/>
                </a:solidFill>
                <a:latin typeface="Arial"/>
                <a:ea typeface="Microsoft YaHei"/>
              </a:rPr>
              <a:t>0–4 min</a:t>
            </a:r>
          </a:p>
          <a:p>
            <a:pPr algn="l">
              <a:lnSpc>
                <a:spcPct val="110000"/>
              </a:lnSpc>
              <a:spcAft>
                <a:spcPts val="500"/>
              </a:spcAft>
            </a:pPr>
            <a:r>
              <a:rPr sz="1700" b="0" lang="en-US">
                <a:solidFill>
                  <a:srgbClr val="183A50"/>
                </a:solidFill>
                <a:latin typeface="Arial"/>
                <a:ea typeface="Microsoft YaHei"/>
              </a:rPr>
              <a:t/>
            </a:r>
          </a:p>
          <a:p>
            <a:pPr algn="l">
              <a:lnSpc>
                <a:spcPct val="110000"/>
              </a:lnSpc>
              <a:spcAft>
                <a:spcPts val="500"/>
              </a:spcAft>
            </a:pPr>
            <a:r>
              <a:rPr sz="1700" b="0" lang="zh-CN">
                <a:solidFill>
                  <a:srgbClr val="183A50"/>
                </a:solidFill>
                <a:latin typeface="Microsoft YaHei"/>
                <a:ea typeface="Microsoft YaHei"/>
              </a:rPr>
              <a:t>动作演示 / 目标</a:t>
            </a:r>
          </a:p>
        </p:txBody>
      </p:sp>
      <p:sp>
        <p:nvSpPr>
          <p:cNvPr id="30" name="Rectangle 29"/>
          <p:cNvSpPr/>
          <p:nvPr/>
        </p:nvSpPr>
        <p:spPr>
          <a:xfrm>
            <a:off x="4251960" y="2340864"/>
            <a:ext cx="2304288" cy="2295144"/>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51960" y="2340864"/>
            <a:ext cx="2304288" cy="4114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34840" y="2514600"/>
            <a:ext cx="1938528" cy="484632"/>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167D89"/>
                </a:solidFill>
                <a:latin typeface="Arial"/>
                <a:ea typeface="Microsoft YaHei"/>
              </a:rPr>
              <a:t>Analyse</a:t>
            </a:r>
          </a:p>
        </p:txBody>
      </p:sp>
      <p:sp>
        <p:nvSpPr>
          <p:cNvPr id="33" name="TextBox 32"/>
          <p:cNvSpPr txBox="1"/>
          <p:nvPr/>
        </p:nvSpPr>
        <p:spPr>
          <a:xfrm>
            <a:off x="4434840" y="3172968"/>
            <a:ext cx="1938528" cy="1362455"/>
          </a:xfrm>
          <a:prstGeom prst="rect">
            <a:avLst/>
          </a:prstGeom>
          <a:noFill/>
        </p:spPr>
        <p:txBody>
          <a:bodyPr wrap="square" lIns="18288" rIns="18288" tIns="9144" bIns="9144">
            <a:spAutoFit/>
          </a:bodyPr>
          <a:lstStyle/>
          <a:p>
            <a:pPr algn="l">
              <a:lnSpc>
                <a:spcPct val="110000"/>
              </a:lnSpc>
              <a:spcAft>
                <a:spcPts val="500"/>
              </a:spcAft>
            </a:pPr>
            <a:r>
              <a:rPr sz="1700" b="0" lang="en-US">
                <a:solidFill>
                  <a:srgbClr val="183A50"/>
                </a:solidFill>
                <a:latin typeface="Arial"/>
                <a:ea typeface="Microsoft YaHei"/>
              </a:rPr>
              <a:t>4–27 min</a:t>
            </a:r>
          </a:p>
          <a:p>
            <a:pPr algn="l">
              <a:lnSpc>
                <a:spcPct val="110000"/>
              </a:lnSpc>
              <a:spcAft>
                <a:spcPts val="500"/>
              </a:spcAft>
            </a:pPr>
            <a:r>
              <a:rPr sz="1700" b="0" lang="en-US">
                <a:solidFill>
                  <a:srgbClr val="183A50"/>
                </a:solidFill>
                <a:latin typeface="Arial"/>
                <a:ea typeface="Microsoft YaHei"/>
              </a:rPr>
              <a:t/>
            </a:r>
          </a:p>
          <a:p>
            <a:pPr algn="l">
              <a:lnSpc>
                <a:spcPct val="110000"/>
              </a:lnSpc>
              <a:spcAft>
                <a:spcPts val="500"/>
              </a:spcAft>
            </a:pPr>
            <a:r>
              <a:rPr sz="1700" b="0" lang="zh-CN">
                <a:solidFill>
                  <a:srgbClr val="183A50"/>
                </a:solidFill>
                <a:latin typeface="Microsoft YaHei"/>
                <a:ea typeface="Microsoft YaHei"/>
              </a:rPr>
              <a:t>预测 / 结构 / 比较</a:t>
            </a:r>
          </a:p>
        </p:txBody>
      </p:sp>
      <p:sp>
        <p:nvSpPr>
          <p:cNvPr id="34" name="Rectangle 33"/>
          <p:cNvSpPr/>
          <p:nvPr/>
        </p:nvSpPr>
        <p:spPr>
          <a:xfrm>
            <a:off x="6757416" y="2340864"/>
            <a:ext cx="2304288" cy="2295144"/>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757416" y="2340864"/>
            <a:ext cx="2304288" cy="4114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40296" y="2514600"/>
            <a:ext cx="1938528" cy="484632"/>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167D89"/>
                </a:solidFill>
                <a:latin typeface="Arial"/>
                <a:ea typeface="Microsoft YaHei"/>
              </a:rPr>
              <a:t>Arrange &amp; Apply</a:t>
            </a:r>
          </a:p>
        </p:txBody>
      </p:sp>
      <p:sp>
        <p:nvSpPr>
          <p:cNvPr id="37" name="TextBox 36"/>
          <p:cNvSpPr txBox="1"/>
          <p:nvPr/>
        </p:nvSpPr>
        <p:spPr>
          <a:xfrm>
            <a:off x="6940296" y="3172968"/>
            <a:ext cx="1938528" cy="1362455"/>
          </a:xfrm>
          <a:prstGeom prst="rect">
            <a:avLst/>
          </a:prstGeom>
          <a:noFill/>
        </p:spPr>
        <p:txBody>
          <a:bodyPr wrap="square" lIns="18288" rIns="18288" tIns="9144" bIns="9144">
            <a:spAutoFit/>
          </a:bodyPr>
          <a:lstStyle/>
          <a:p>
            <a:pPr algn="l">
              <a:lnSpc>
                <a:spcPct val="110000"/>
              </a:lnSpc>
              <a:spcAft>
                <a:spcPts val="500"/>
              </a:spcAft>
            </a:pPr>
            <a:r>
              <a:rPr sz="1700" b="0" lang="en-US">
                <a:solidFill>
                  <a:srgbClr val="183A50"/>
                </a:solidFill>
                <a:latin typeface="Arial"/>
                <a:ea typeface="Microsoft YaHei"/>
              </a:rPr>
              <a:t>27–38 min</a:t>
            </a:r>
          </a:p>
          <a:p>
            <a:pPr algn="l">
              <a:lnSpc>
                <a:spcPct val="110000"/>
              </a:lnSpc>
              <a:spcAft>
                <a:spcPts val="500"/>
              </a:spcAft>
            </a:pPr>
            <a:r>
              <a:rPr sz="1700" b="0" lang="en-US">
                <a:solidFill>
                  <a:srgbClr val="183A50"/>
                </a:solidFill>
                <a:latin typeface="Arial"/>
                <a:ea typeface="Microsoft YaHei"/>
              </a:rPr>
              <a:t/>
            </a:r>
          </a:p>
          <a:p>
            <a:pPr algn="l">
              <a:lnSpc>
                <a:spcPct val="110000"/>
              </a:lnSpc>
              <a:spcAft>
                <a:spcPts val="500"/>
              </a:spcAft>
            </a:pPr>
            <a:r>
              <a:rPr sz="1700" b="0" lang="zh-CN">
                <a:solidFill>
                  <a:srgbClr val="183A50"/>
                </a:solidFill>
                <a:latin typeface="Microsoft YaHei"/>
                <a:ea typeface="Microsoft YaHei"/>
              </a:rPr>
              <a:t>准备 / 分享 / 修改</a:t>
            </a:r>
          </a:p>
        </p:txBody>
      </p:sp>
      <p:sp>
        <p:nvSpPr>
          <p:cNvPr id="38" name="Rectangle 37"/>
          <p:cNvSpPr/>
          <p:nvPr/>
        </p:nvSpPr>
        <p:spPr>
          <a:xfrm>
            <a:off x="9262872" y="2340864"/>
            <a:ext cx="2304288" cy="2295144"/>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262872" y="2340864"/>
            <a:ext cx="2304288" cy="4114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45752" y="2514600"/>
            <a:ext cx="1938528" cy="484632"/>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167D89"/>
                </a:solidFill>
                <a:latin typeface="Arial"/>
                <a:ea typeface="Microsoft YaHei"/>
              </a:rPr>
              <a:t>Assess &amp; Assign</a:t>
            </a:r>
          </a:p>
        </p:txBody>
      </p:sp>
      <p:sp>
        <p:nvSpPr>
          <p:cNvPr id="41" name="TextBox 40"/>
          <p:cNvSpPr txBox="1"/>
          <p:nvPr/>
        </p:nvSpPr>
        <p:spPr>
          <a:xfrm>
            <a:off x="9445752" y="3172968"/>
            <a:ext cx="1938528" cy="1362455"/>
          </a:xfrm>
          <a:prstGeom prst="rect">
            <a:avLst/>
          </a:prstGeom>
          <a:noFill/>
        </p:spPr>
        <p:txBody>
          <a:bodyPr wrap="square" lIns="18288" rIns="18288" tIns="9144" bIns="9144">
            <a:spAutoFit/>
          </a:bodyPr>
          <a:lstStyle/>
          <a:p>
            <a:pPr algn="l">
              <a:lnSpc>
                <a:spcPct val="110000"/>
              </a:lnSpc>
              <a:spcAft>
                <a:spcPts val="500"/>
              </a:spcAft>
            </a:pPr>
            <a:r>
              <a:rPr sz="1700" b="0" lang="en-US">
                <a:solidFill>
                  <a:srgbClr val="183A50"/>
                </a:solidFill>
                <a:latin typeface="Arial"/>
                <a:ea typeface="Microsoft YaHei"/>
              </a:rPr>
              <a:t>38–45 min</a:t>
            </a:r>
          </a:p>
          <a:p>
            <a:pPr algn="l">
              <a:lnSpc>
                <a:spcPct val="110000"/>
              </a:lnSpc>
              <a:spcAft>
                <a:spcPts val="500"/>
              </a:spcAft>
            </a:pPr>
            <a:r>
              <a:rPr sz="1700" b="0" lang="en-US">
                <a:solidFill>
                  <a:srgbClr val="183A50"/>
                </a:solidFill>
                <a:latin typeface="Arial"/>
                <a:ea typeface="Microsoft YaHei"/>
              </a:rPr>
              <a:t/>
            </a:r>
          </a:p>
          <a:p>
            <a:pPr algn="l">
              <a:lnSpc>
                <a:spcPct val="110000"/>
              </a:lnSpc>
              <a:spcAft>
                <a:spcPts val="500"/>
              </a:spcAft>
            </a:pPr>
            <a:r>
              <a:rPr sz="1700" b="0" lang="zh-CN">
                <a:solidFill>
                  <a:srgbClr val="183A50"/>
                </a:solidFill>
                <a:latin typeface="Microsoft YaHei"/>
                <a:ea typeface="Microsoft YaHei"/>
              </a:rPr>
              <a:t>总结 / 评价 / 作业</a:t>
            </a:r>
          </a:p>
        </p:txBody>
      </p:sp>
      <p:sp>
        <p:nvSpPr>
          <p:cNvPr id="42" name="TextBox 41"/>
          <p:cNvSpPr txBox="1"/>
          <p:nvPr/>
        </p:nvSpPr>
        <p:spPr>
          <a:xfrm>
            <a:off x="1847088" y="5074920"/>
            <a:ext cx="9555480" cy="722376"/>
          </a:xfrm>
          <a:prstGeom prst="rect">
            <a:avLst/>
          </a:prstGeom>
          <a:noFill/>
        </p:spPr>
        <p:txBody>
          <a:bodyPr wrap="square" lIns="18288" rIns="18288" tIns="9144" bIns="9144">
            <a:spAutoFit/>
          </a:bodyPr>
          <a:lstStyle/>
          <a:p>
            <a:pPr algn="l">
              <a:lnSpc>
                <a:spcPct val="110000"/>
              </a:lnSpc>
              <a:spcAft>
                <a:spcPts val="500"/>
              </a:spcAft>
            </a:pPr>
            <a:r>
              <a:rPr sz="2000" b="1" lang="zh-CN">
                <a:solidFill>
                  <a:srgbClr val="183A50"/>
                </a:solidFill>
                <a:latin typeface="Microsoft YaHei"/>
                <a:ea typeface="Microsoft YaHei"/>
              </a:rPr>
              <a:t>展示完整学习链条：从文本证据到给 Tim 的建议。</a:t>
            </a:r>
          </a:p>
          <a:p>
            <a:pPr algn="l">
              <a:lnSpc>
                <a:spcPct val="110000"/>
              </a:lnSpc>
              <a:spcAft>
                <a:spcPts val="500"/>
              </a:spcAft>
            </a:pPr>
            <a:r>
              <a:rPr sz="2000" b="1" lang="zh-CN">
                <a:solidFill>
                  <a:srgbClr val="183A50"/>
                </a:solidFill>
                <a:latin typeface="Microsoft YaHei"/>
                <a:ea typeface="Microsoft YaHei"/>
              </a:rPr>
              <a:t>真实课堂的独立阅读和合作时间，在本次试讲中压缩展示。</a:t>
            </a:r>
          </a:p>
        </p:txBody>
      </p:sp>
    </p:spTree>
  </p:cSld>
  <p:clrMapOvr>
    <a:masterClrMapping/>
  </p:clrMapOvr>
  <p:transition spd="fast">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9FA"/>
        </a:solidFill>
        <a:effectLst/>
      </p:bgPr>
    </p:bg>
    <p:spTree>
      <p:nvGrpSpPr>
        <p:cNvPr id="1" name=""/>
        <p:cNvGrpSpPr/>
        <p:nvPr/>
      </p:nvGrpSpPr>
      <p:grpSpPr/>
      <p:sp>
        <p:nvSpPr>
          <p:cNvPr id="2" name="Rectangle 1"/>
          <p:cNvSpPr/>
          <p:nvPr/>
        </p:nvSpPr>
        <p:spPr>
          <a:xfrm>
            <a:off x="0" y="0"/>
            <a:ext cx="1325880" cy="6858000"/>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329184"/>
            <a:ext cx="896112" cy="457200"/>
          </a:xfrm>
          <a:prstGeom prst="rect">
            <a:avLst/>
          </a:prstGeom>
          <a:noFill/>
        </p:spPr>
        <p:txBody>
          <a:bodyPr wrap="square" lIns="18288" rIns="18288" tIns="9144" bIns="9144">
            <a:spAutoFit/>
          </a:bodyPr>
          <a:lstStyle/>
          <a:p>
            <a:pPr algn="l">
              <a:lnSpc>
                <a:spcPct val="110000"/>
              </a:lnSpc>
              <a:spcAft>
                <a:spcPts val="500"/>
              </a:spcAft>
            </a:pPr>
            <a:r>
              <a:rPr sz="1800" b="1" lang="en-US">
                <a:solidFill>
                  <a:srgbClr val="FFFFFF"/>
                </a:solidFill>
                <a:latin typeface="Arial"/>
                <a:ea typeface="Microsoft YaHei"/>
              </a:rPr>
              <a:t>UNIT 4</a:t>
            </a:r>
          </a:p>
        </p:txBody>
      </p:sp>
      <p:sp>
        <p:nvSpPr>
          <p:cNvPr id="4" name="TextBox 3"/>
          <p:cNvSpPr txBox="1"/>
          <p:nvPr/>
        </p:nvSpPr>
        <p:spPr>
          <a:xfrm>
            <a:off x="219456" y="868680"/>
            <a:ext cx="914400" cy="658368"/>
          </a:xfrm>
          <a:prstGeom prst="rect">
            <a:avLst/>
          </a:prstGeom>
          <a:noFill/>
        </p:spPr>
        <p:txBody>
          <a:bodyPr wrap="square" lIns="18288" rIns="18288" tIns="9144" bIns="9144">
            <a:spAutoFit/>
          </a:bodyPr>
          <a:lstStyle/>
          <a:p>
            <a:pPr algn="l">
              <a:lnSpc>
                <a:spcPct val="110000"/>
              </a:lnSpc>
              <a:spcAft>
                <a:spcPts val="500"/>
              </a:spcAft>
            </a:pPr>
            <a:r>
              <a:rPr sz="1200" b="1" lang="en-US">
                <a:solidFill>
                  <a:srgbClr val="93C3D4"/>
                </a:solidFill>
                <a:latin typeface="Arial"/>
                <a:ea typeface="Microsoft YaHei"/>
              </a:rPr>
              <a:t>READ</a:t>
            </a:r>
          </a:p>
          <a:p>
            <a:pPr algn="l">
              <a:lnSpc>
                <a:spcPct val="110000"/>
              </a:lnSpc>
              <a:spcAft>
                <a:spcPts val="500"/>
              </a:spcAft>
            </a:pPr>
            <a:r>
              <a:rPr sz="1200" b="1" lang="en-US">
                <a:solidFill>
                  <a:srgbClr val="93C3D4"/>
                </a:solidFill>
                <a:latin typeface="Arial"/>
                <a:ea typeface="Microsoft YaHei"/>
              </a:rPr>
              <a:t>&amp; THINK</a:t>
            </a:r>
          </a:p>
        </p:txBody>
      </p:sp>
      <p:sp>
        <p:nvSpPr>
          <p:cNvPr id="5" name="Rectangle 4">
            <a:hlinkClick action="ppaction://hlinksldjump" r:id="rId3"/>
          </p:cNvPr>
          <p:cNvSpPr/>
          <p:nvPr/>
        </p:nvSpPr>
        <p:spPr>
          <a:xfrm>
            <a:off x="109728" y="1874519"/>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146304" y="1933955"/>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说教材</a:t>
            </a:r>
          </a:p>
        </p:txBody>
      </p:sp>
      <p:sp>
        <p:nvSpPr>
          <p:cNvPr id="7" name="Rectangle 6">
            <a:hlinkClick action="ppaction://hlinksldjump" r:id="rId4"/>
          </p:cNvPr>
          <p:cNvSpPr/>
          <p:nvPr/>
        </p:nvSpPr>
        <p:spPr>
          <a:xfrm>
            <a:off x="109728" y="2441448"/>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46304" y="2500884"/>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说学情</a:t>
            </a:r>
          </a:p>
        </p:txBody>
      </p:sp>
      <p:sp>
        <p:nvSpPr>
          <p:cNvPr id="9" name="Rectangle 8">
            <a:hlinkClick action="ppaction://hlinksldjump" r:id="rId5"/>
          </p:cNvPr>
          <p:cNvSpPr/>
          <p:nvPr/>
        </p:nvSpPr>
        <p:spPr>
          <a:xfrm>
            <a:off x="109728" y="3008376"/>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46304" y="3067812"/>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说目标</a:t>
            </a:r>
          </a:p>
        </p:txBody>
      </p:sp>
      <p:sp>
        <p:nvSpPr>
          <p:cNvPr id="11" name="Rectangle 10">
            <a:hlinkClick action="ppaction://hlinksldjump" r:id="rId6"/>
          </p:cNvPr>
          <p:cNvSpPr/>
          <p:nvPr/>
        </p:nvSpPr>
        <p:spPr>
          <a:xfrm>
            <a:off x="109728" y="3575303"/>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6"/>
          </p:cNvPr>
          <p:cNvSpPr txBox="1"/>
          <p:nvPr/>
        </p:nvSpPr>
        <p:spPr>
          <a:xfrm>
            <a:off x="146304" y="3634739"/>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说重难</a:t>
            </a:r>
          </a:p>
        </p:txBody>
      </p:sp>
      <p:sp>
        <p:nvSpPr>
          <p:cNvPr id="13" name="Rectangle 12">
            <a:hlinkClick action="ppaction://hlinksldjump" r:id="rId7"/>
          </p:cNvPr>
          <p:cNvSpPr/>
          <p:nvPr/>
        </p:nvSpPr>
        <p:spPr>
          <a:xfrm>
            <a:off x="109728" y="4142231"/>
            <a:ext cx="1097280" cy="42976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7"/>
          </p:cNvPr>
          <p:cNvSpPr txBox="1"/>
          <p:nvPr/>
        </p:nvSpPr>
        <p:spPr>
          <a:xfrm>
            <a:off x="146304" y="4201668"/>
            <a:ext cx="1024128" cy="301752"/>
          </a:xfrm>
          <a:prstGeom prst="rect">
            <a:avLst/>
          </a:prstGeom>
          <a:noFill/>
        </p:spPr>
        <p:txBody>
          <a:bodyPr wrap="square" lIns="18288" rIns="18288" tIns="9144" bIns="9144">
            <a:spAutoFit/>
          </a:bodyPr>
          <a:lstStyle/>
          <a:p>
            <a:pPr algn="ctr">
              <a:lnSpc>
                <a:spcPct val="110000"/>
              </a:lnSpc>
              <a:spcAft>
                <a:spcPts val="500"/>
              </a:spcAft>
            </a:pPr>
            <a:r>
              <a:rPr sz="1500" b="1" lang="zh-CN">
                <a:solidFill>
                  <a:srgbClr val="FFFFFF"/>
                </a:solidFill>
                <a:latin typeface="Microsoft YaHei"/>
                <a:ea typeface="Microsoft YaHei"/>
              </a:rPr>
              <a:t>说过程</a:t>
            </a:r>
          </a:p>
        </p:txBody>
      </p:sp>
      <p:sp>
        <p:nvSpPr>
          <p:cNvPr id="15" name="Rectangle 14">
            <a:hlinkClick action="ppaction://hlinksldjump" r:id="rId8"/>
          </p:cNvPr>
          <p:cNvSpPr/>
          <p:nvPr/>
        </p:nvSpPr>
        <p:spPr>
          <a:xfrm>
            <a:off x="109728" y="4709160"/>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8"/>
          </p:cNvPr>
          <p:cNvSpPr txBox="1"/>
          <p:nvPr/>
        </p:nvSpPr>
        <p:spPr>
          <a:xfrm>
            <a:off x="146304" y="4768596"/>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说反思</a:t>
            </a:r>
          </a:p>
        </p:txBody>
      </p:sp>
      <p:sp>
        <p:nvSpPr>
          <p:cNvPr id="17" name="TextBox 16"/>
          <p:cNvSpPr txBox="1"/>
          <p:nvPr/>
        </p:nvSpPr>
        <p:spPr>
          <a:xfrm>
            <a:off x="210312" y="6062472"/>
            <a:ext cx="950976" cy="393192"/>
          </a:xfrm>
          <a:prstGeom prst="rect">
            <a:avLst/>
          </a:prstGeom>
          <a:noFill/>
        </p:spPr>
        <p:txBody>
          <a:bodyPr wrap="square" lIns="18288" rIns="18288" tIns="9144" bIns="9144">
            <a:spAutoFit/>
          </a:bodyPr>
          <a:lstStyle/>
          <a:p>
            <a:pPr algn="ctr">
              <a:lnSpc>
                <a:spcPct val="110000"/>
              </a:lnSpc>
              <a:spcAft>
                <a:spcPts val="500"/>
              </a:spcAft>
            </a:pPr>
            <a:r>
              <a:rPr sz="1300" b="0" lang="en-US">
                <a:solidFill>
                  <a:srgbClr val="BCD3DF"/>
                </a:solidFill>
                <a:latin typeface="Arial"/>
                <a:ea typeface="Microsoft YaHei"/>
              </a:rPr>
              <a:t>08 / 20</a:t>
            </a:r>
          </a:p>
        </p:txBody>
      </p:sp>
      <p:sp>
        <p:nvSpPr>
          <p:cNvPr id="18" name="Rectangle 17"/>
          <p:cNvSpPr/>
          <p:nvPr/>
        </p:nvSpPr>
        <p:spPr>
          <a:xfrm>
            <a:off x="1325880" y="0"/>
            <a:ext cx="10872216" cy="6858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00784" y="283464"/>
            <a:ext cx="7315200" cy="274320"/>
          </a:xfrm>
          <a:prstGeom prst="rect">
            <a:avLst/>
          </a:prstGeom>
          <a:noFill/>
        </p:spPr>
        <p:txBody>
          <a:bodyPr wrap="square" lIns="18288" rIns="18288" tIns="9144" bIns="9144">
            <a:spAutoFit/>
          </a:bodyPr>
          <a:lstStyle/>
          <a:p>
            <a:pPr algn="l">
              <a:lnSpc>
                <a:spcPct val="110000"/>
              </a:lnSpc>
              <a:spcAft>
                <a:spcPts val="500"/>
              </a:spcAft>
            </a:pPr>
            <a:r>
              <a:rPr sz="1100" b="1" lang="en-US">
                <a:solidFill>
                  <a:srgbClr val="167D89"/>
                </a:solidFill>
                <a:latin typeface="Arial"/>
                <a:ea typeface="Microsoft YaHei"/>
              </a:rPr>
              <a:t>BODY LANGUAGE   /   READING AND THINKING</a:t>
            </a:r>
          </a:p>
        </p:txBody>
      </p:sp>
      <p:sp>
        <p:nvSpPr>
          <p:cNvPr id="20" name="TextBox 19"/>
          <p:cNvSpPr txBox="1"/>
          <p:nvPr/>
        </p:nvSpPr>
        <p:spPr>
          <a:xfrm>
            <a:off x="9802368" y="283464"/>
            <a:ext cx="1920240" cy="274320"/>
          </a:xfrm>
          <a:prstGeom prst="rect">
            <a:avLst/>
          </a:prstGeom>
          <a:noFill/>
        </p:spPr>
        <p:txBody>
          <a:bodyPr wrap="square" lIns="18288" rIns="18288" tIns="9144" bIns="9144">
            <a:spAutoFit/>
          </a:bodyPr>
          <a:lstStyle/>
          <a:p>
            <a:pPr algn="r">
              <a:lnSpc>
                <a:spcPct val="110000"/>
              </a:lnSpc>
              <a:spcAft>
                <a:spcPts val="500"/>
              </a:spcAft>
            </a:pPr>
            <a:r>
              <a:rPr sz="1100" b="0" lang="en-US">
                <a:solidFill>
                  <a:srgbClr val="526B78"/>
                </a:solidFill>
                <a:latin typeface="Arial"/>
                <a:ea typeface="Microsoft YaHei"/>
              </a:rPr>
              <a:t>03:40–04:15</a:t>
            </a:r>
          </a:p>
        </p:txBody>
      </p:sp>
      <p:sp>
        <p:nvSpPr>
          <p:cNvPr id="21" name="TextBox 20"/>
          <p:cNvSpPr txBox="1"/>
          <p:nvPr/>
        </p:nvSpPr>
        <p:spPr>
          <a:xfrm>
            <a:off x="1691640" y="859536"/>
            <a:ext cx="10021824" cy="630936"/>
          </a:xfrm>
          <a:prstGeom prst="rect">
            <a:avLst/>
          </a:prstGeom>
          <a:noFill/>
        </p:spPr>
        <p:txBody>
          <a:bodyPr wrap="square" lIns="18288" rIns="18288" tIns="9144" bIns="9144">
            <a:spAutoFit/>
          </a:bodyPr>
          <a:lstStyle/>
          <a:p>
            <a:pPr algn="l">
              <a:lnSpc>
                <a:spcPct val="110000"/>
              </a:lnSpc>
              <a:spcAft>
                <a:spcPts val="500"/>
              </a:spcAft>
            </a:pPr>
            <a:r>
              <a:rPr sz="3000" b="1" lang="en-US">
                <a:solidFill>
                  <a:srgbClr val="183A50"/>
                </a:solidFill>
                <a:latin typeface="Arial"/>
                <a:ea typeface="Microsoft YaHei"/>
              </a:rPr>
              <a:t>What can our bodies say?</a:t>
            </a:r>
          </a:p>
        </p:txBody>
      </p:sp>
      <p:sp>
        <p:nvSpPr>
          <p:cNvPr id="22" name="TextBox 21"/>
          <p:cNvSpPr txBox="1"/>
          <p:nvPr/>
        </p:nvSpPr>
        <p:spPr>
          <a:xfrm>
            <a:off x="1719072" y="1545336"/>
            <a:ext cx="9921240" cy="521207"/>
          </a:xfrm>
          <a:prstGeom prst="rect">
            <a:avLst/>
          </a:prstGeom>
          <a:noFill/>
        </p:spPr>
        <p:txBody>
          <a:bodyPr wrap="square" lIns="18288" rIns="18288" tIns="9144" bIns="9144">
            <a:spAutoFit/>
          </a:bodyPr>
          <a:lstStyle/>
          <a:p>
            <a:pPr algn="l">
              <a:lnSpc>
                <a:spcPct val="110000"/>
              </a:lnSpc>
              <a:spcAft>
                <a:spcPts val="500"/>
              </a:spcAft>
            </a:pPr>
            <a:r>
              <a:rPr sz="1500" b="0" lang="en-US">
                <a:solidFill>
                  <a:srgbClr val="526B78"/>
                </a:solidFill>
                <a:latin typeface="Arial"/>
                <a:ea typeface="Microsoft YaHei"/>
              </a:rPr>
              <a:t>Watch two movements. Separate what you see from what you think.</a:t>
            </a:r>
          </a:p>
        </p:txBody>
      </p:sp>
      <p:sp>
        <p:nvSpPr>
          <p:cNvPr id="23" name="Rectangle 22"/>
          <p:cNvSpPr/>
          <p:nvPr/>
        </p:nvSpPr>
        <p:spPr>
          <a:xfrm>
            <a:off x="1719072" y="6400800"/>
            <a:ext cx="9985248" cy="10058"/>
          </a:xfrm>
          <a:prstGeom prst="rect">
            <a:avLst/>
          </a:prstGeom>
          <a:solidFill>
            <a:srgbClr val="C8D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37360" y="6492240"/>
            <a:ext cx="9784080" cy="228600"/>
          </a:xfrm>
          <a:prstGeom prst="rect">
            <a:avLst/>
          </a:prstGeom>
          <a:noFill/>
        </p:spPr>
        <p:txBody>
          <a:bodyPr wrap="square" lIns="18288" rIns="18288" tIns="9144" bIns="9144">
            <a:spAutoFit/>
          </a:bodyPr>
          <a:lstStyle/>
          <a:p>
            <a:pPr algn="l">
              <a:lnSpc>
                <a:spcPct val="110000"/>
              </a:lnSpc>
              <a:spcAft>
                <a:spcPts val="500"/>
              </a:spcAft>
            </a:pPr>
            <a:r>
              <a:rPr sz="1050" b="0" lang="zh-CN">
                <a:solidFill>
                  <a:srgbClr val="526B78"/>
                </a:solidFill>
                <a:latin typeface="Microsoft YaHei"/>
                <a:ea typeface="Microsoft YaHei"/>
              </a:rPr>
              <a:t>设计意图  激活经验，区分观察与解释</a:t>
            </a:r>
          </a:p>
        </p:txBody>
      </p:sp>
      <p:sp>
        <p:nvSpPr>
          <p:cNvPr id="25" name="Rectangle 24"/>
          <p:cNvSpPr/>
          <p:nvPr/>
        </p:nvSpPr>
        <p:spPr>
          <a:xfrm>
            <a:off x="1719072" y="6345936"/>
            <a:ext cx="3994099" cy="2286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783080" y="2258568"/>
            <a:ext cx="9738360" cy="1298448"/>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984248" y="2459736"/>
            <a:ext cx="3063240" cy="685800"/>
          </a:xfrm>
          <a:prstGeom prst="rect">
            <a:avLst/>
          </a:prstGeom>
          <a:noFill/>
        </p:spPr>
        <p:txBody>
          <a:bodyPr wrap="square" lIns="18288" rIns="18288" tIns="9144" bIns="9144">
            <a:spAutoFit/>
          </a:bodyPr>
          <a:lstStyle/>
          <a:p>
            <a:pPr algn="l">
              <a:lnSpc>
                <a:spcPct val="110000"/>
              </a:lnSpc>
              <a:spcAft>
                <a:spcPts val="500"/>
              </a:spcAft>
            </a:pPr>
            <a:r>
              <a:rPr sz="2400" b="1" lang="en-US">
                <a:solidFill>
                  <a:srgbClr val="167D89"/>
                </a:solidFill>
                <a:latin typeface="Arial"/>
                <a:ea typeface="Microsoft YaHei"/>
              </a:rPr>
              <a:t>A wave</a:t>
            </a:r>
          </a:p>
        </p:txBody>
      </p:sp>
      <p:sp>
        <p:nvSpPr>
          <p:cNvPr id="28" name="TextBox 27"/>
          <p:cNvSpPr txBox="1"/>
          <p:nvPr/>
        </p:nvSpPr>
        <p:spPr>
          <a:xfrm>
            <a:off x="5294376" y="2404872"/>
            <a:ext cx="5916168" cy="475488"/>
          </a:xfrm>
          <a:prstGeom prst="rect">
            <a:avLst/>
          </a:prstGeom>
          <a:noFill/>
        </p:spPr>
        <p:txBody>
          <a:bodyPr wrap="square" lIns="18288" rIns="18288" tIns="9144" bIns="9144">
            <a:spAutoFit/>
          </a:bodyPr>
          <a:lstStyle/>
          <a:p>
            <a:pPr algn="l">
              <a:lnSpc>
                <a:spcPct val="110000"/>
              </a:lnSpc>
              <a:spcAft>
                <a:spcPts val="500"/>
              </a:spcAft>
            </a:pPr>
            <a:r>
              <a:rPr sz="2000" b="0" lang="en-US">
                <a:solidFill>
                  <a:srgbClr val="183A50"/>
                </a:solidFill>
                <a:latin typeface="Arial"/>
                <a:ea typeface="Microsoft YaHei"/>
              </a:rPr>
              <a:t>Observation: a hand moves.</a:t>
            </a:r>
          </a:p>
        </p:txBody>
      </p:sp>
      <p:sp>
        <p:nvSpPr>
          <p:cNvPr id="29" name="TextBox 28"/>
          <p:cNvSpPr txBox="1"/>
          <p:nvPr/>
        </p:nvSpPr>
        <p:spPr>
          <a:xfrm>
            <a:off x="5294376" y="2953512"/>
            <a:ext cx="5916168" cy="402336"/>
          </a:xfrm>
          <a:prstGeom prst="rect">
            <a:avLst/>
          </a:prstGeom>
          <a:noFill/>
        </p:spPr>
        <p:txBody>
          <a:bodyPr wrap="square" lIns="18288" rIns="18288" tIns="9144" bIns="9144">
            <a:spAutoFit/>
          </a:bodyPr>
          <a:lstStyle/>
          <a:p>
            <a:pPr algn="l">
              <a:lnSpc>
                <a:spcPct val="110000"/>
              </a:lnSpc>
              <a:spcAft>
                <a:spcPts val="500"/>
              </a:spcAft>
            </a:pPr>
            <a:r>
              <a:rPr sz="2000" b="0" lang="en-US">
                <a:solidFill>
                  <a:srgbClr val="526B78"/>
                </a:solidFill>
                <a:latin typeface="Arial"/>
                <a:ea typeface="Microsoft YaHei"/>
              </a:rPr>
              <a:t>Interpretation: “Hello”, here.</a:t>
            </a:r>
          </a:p>
        </p:txBody>
      </p:sp>
      <p:sp>
        <p:nvSpPr>
          <p:cNvPr id="30" name="Rectangle 29"/>
          <p:cNvSpPr/>
          <p:nvPr/>
        </p:nvSpPr>
        <p:spPr>
          <a:xfrm>
            <a:off x="1783080" y="3749039"/>
            <a:ext cx="9738360" cy="1298448"/>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984248" y="3950207"/>
            <a:ext cx="3063240" cy="685800"/>
          </a:xfrm>
          <a:prstGeom prst="rect">
            <a:avLst/>
          </a:prstGeom>
          <a:noFill/>
        </p:spPr>
        <p:txBody>
          <a:bodyPr wrap="square" lIns="18288" rIns="18288" tIns="9144" bIns="9144">
            <a:spAutoFit/>
          </a:bodyPr>
          <a:lstStyle/>
          <a:p>
            <a:pPr algn="l">
              <a:lnSpc>
                <a:spcPct val="110000"/>
              </a:lnSpc>
              <a:spcAft>
                <a:spcPts val="500"/>
              </a:spcAft>
            </a:pPr>
            <a:r>
              <a:rPr sz="2400" b="1" lang="en-US">
                <a:solidFill>
                  <a:srgbClr val="167D89"/>
                </a:solidFill>
                <a:latin typeface="Arial"/>
                <a:ea typeface="Microsoft YaHei"/>
              </a:rPr>
              <a:t>Hands beside the head</a:t>
            </a:r>
          </a:p>
        </p:txBody>
      </p:sp>
      <p:sp>
        <p:nvSpPr>
          <p:cNvPr id="32" name="TextBox 31"/>
          <p:cNvSpPr txBox="1"/>
          <p:nvPr/>
        </p:nvSpPr>
        <p:spPr>
          <a:xfrm>
            <a:off x="5294376" y="3895344"/>
            <a:ext cx="5916168" cy="475488"/>
          </a:xfrm>
          <a:prstGeom prst="rect">
            <a:avLst/>
          </a:prstGeom>
          <a:noFill/>
        </p:spPr>
        <p:txBody>
          <a:bodyPr wrap="square" lIns="18288" rIns="18288" tIns="9144" bIns="9144">
            <a:spAutoFit/>
          </a:bodyPr>
          <a:lstStyle/>
          <a:p>
            <a:pPr algn="l">
              <a:lnSpc>
                <a:spcPct val="110000"/>
              </a:lnSpc>
              <a:spcAft>
                <a:spcPts val="500"/>
              </a:spcAft>
            </a:pPr>
            <a:r>
              <a:rPr sz="2000" b="0" lang="en-US">
                <a:solidFill>
                  <a:srgbClr val="183A50"/>
                </a:solidFill>
                <a:latin typeface="Arial"/>
                <a:ea typeface="Microsoft YaHei"/>
              </a:rPr>
              <a:t>Observation: hands together; eyes closed.</a:t>
            </a:r>
          </a:p>
        </p:txBody>
      </p:sp>
      <p:sp>
        <p:nvSpPr>
          <p:cNvPr id="33" name="TextBox 32"/>
          <p:cNvSpPr txBox="1"/>
          <p:nvPr/>
        </p:nvSpPr>
        <p:spPr>
          <a:xfrm>
            <a:off x="5294376" y="4443983"/>
            <a:ext cx="5916168" cy="402336"/>
          </a:xfrm>
          <a:prstGeom prst="rect">
            <a:avLst/>
          </a:prstGeom>
          <a:noFill/>
        </p:spPr>
        <p:txBody>
          <a:bodyPr wrap="square" lIns="18288" rIns="18288" tIns="9144" bIns="9144">
            <a:spAutoFit/>
          </a:bodyPr>
          <a:lstStyle/>
          <a:p>
            <a:pPr algn="l">
              <a:lnSpc>
                <a:spcPct val="110000"/>
              </a:lnSpc>
              <a:spcAft>
                <a:spcPts val="500"/>
              </a:spcAft>
            </a:pPr>
            <a:r>
              <a:rPr sz="2000" b="0" lang="en-US">
                <a:solidFill>
                  <a:srgbClr val="526B78"/>
                </a:solidFill>
                <a:latin typeface="Arial"/>
                <a:ea typeface="Microsoft YaHei"/>
              </a:rPr>
              <a:t>Interpretation: “Sleep”, here.</a:t>
            </a:r>
          </a:p>
        </p:txBody>
      </p:sp>
      <p:sp>
        <p:nvSpPr>
          <p:cNvPr id="34" name="TextBox 33"/>
          <p:cNvSpPr txBox="1"/>
          <p:nvPr/>
        </p:nvSpPr>
        <p:spPr>
          <a:xfrm>
            <a:off x="1920240" y="5586984"/>
            <a:ext cx="9326880" cy="448056"/>
          </a:xfrm>
          <a:prstGeom prst="rect">
            <a:avLst/>
          </a:prstGeom>
          <a:noFill/>
        </p:spPr>
        <p:txBody>
          <a:bodyPr wrap="square" lIns="18288" rIns="18288" tIns="9144" bIns="9144">
            <a:spAutoFit/>
          </a:bodyPr>
          <a:lstStyle/>
          <a:p>
            <a:pPr algn="l">
              <a:lnSpc>
                <a:spcPct val="110000"/>
              </a:lnSpc>
              <a:spcAft>
                <a:spcPts val="500"/>
              </a:spcAft>
            </a:pPr>
            <a:r>
              <a:rPr sz="2200" b="1" lang="en-US">
                <a:solidFill>
                  <a:srgbClr val="167D89"/>
                </a:solidFill>
                <a:latin typeface="Arial"/>
                <a:ea typeface="Microsoft YaHei"/>
              </a:rPr>
              <a:t>Read for meanings.  Respect differences.  Advise a visitor.</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3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3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3" grpId="0"/>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9FA"/>
        </a:solidFill>
        <a:effectLst/>
      </p:bgPr>
    </p:bg>
    <p:spTree>
      <p:nvGrpSpPr>
        <p:cNvPr id="1" name=""/>
        <p:cNvGrpSpPr/>
        <p:nvPr/>
      </p:nvGrpSpPr>
      <p:grpSpPr/>
      <p:sp>
        <p:nvSpPr>
          <p:cNvPr id="2" name="Rectangle 1"/>
          <p:cNvSpPr/>
          <p:nvPr/>
        </p:nvSpPr>
        <p:spPr>
          <a:xfrm>
            <a:off x="0" y="0"/>
            <a:ext cx="1325880" cy="6858000"/>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329184"/>
            <a:ext cx="896112" cy="457200"/>
          </a:xfrm>
          <a:prstGeom prst="rect">
            <a:avLst/>
          </a:prstGeom>
          <a:noFill/>
        </p:spPr>
        <p:txBody>
          <a:bodyPr wrap="square" lIns="18288" rIns="18288" tIns="9144" bIns="9144">
            <a:spAutoFit/>
          </a:bodyPr>
          <a:lstStyle/>
          <a:p>
            <a:pPr algn="l">
              <a:lnSpc>
                <a:spcPct val="110000"/>
              </a:lnSpc>
              <a:spcAft>
                <a:spcPts val="500"/>
              </a:spcAft>
            </a:pPr>
            <a:r>
              <a:rPr sz="1800" b="1" lang="en-US">
                <a:solidFill>
                  <a:srgbClr val="FFFFFF"/>
                </a:solidFill>
                <a:latin typeface="Arial"/>
                <a:ea typeface="Microsoft YaHei"/>
              </a:rPr>
              <a:t>UNIT 4</a:t>
            </a:r>
          </a:p>
        </p:txBody>
      </p:sp>
      <p:sp>
        <p:nvSpPr>
          <p:cNvPr id="4" name="TextBox 3"/>
          <p:cNvSpPr txBox="1"/>
          <p:nvPr/>
        </p:nvSpPr>
        <p:spPr>
          <a:xfrm>
            <a:off x="219456" y="868680"/>
            <a:ext cx="914400" cy="658368"/>
          </a:xfrm>
          <a:prstGeom prst="rect">
            <a:avLst/>
          </a:prstGeom>
          <a:noFill/>
        </p:spPr>
        <p:txBody>
          <a:bodyPr wrap="square" lIns="18288" rIns="18288" tIns="9144" bIns="9144">
            <a:spAutoFit/>
          </a:bodyPr>
          <a:lstStyle/>
          <a:p>
            <a:pPr algn="l">
              <a:lnSpc>
                <a:spcPct val="110000"/>
              </a:lnSpc>
              <a:spcAft>
                <a:spcPts val="500"/>
              </a:spcAft>
            </a:pPr>
            <a:r>
              <a:rPr sz="1200" b="1" lang="en-US">
                <a:solidFill>
                  <a:srgbClr val="93C3D4"/>
                </a:solidFill>
                <a:latin typeface="Arial"/>
                <a:ea typeface="Microsoft YaHei"/>
              </a:rPr>
              <a:t>READ</a:t>
            </a:r>
          </a:p>
          <a:p>
            <a:pPr algn="l">
              <a:lnSpc>
                <a:spcPct val="110000"/>
              </a:lnSpc>
              <a:spcAft>
                <a:spcPts val="500"/>
              </a:spcAft>
            </a:pPr>
            <a:r>
              <a:rPr sz="1200" b="1" lang="en-US">
                <a:solidFill>
                  <a:srgbClr val="93C3D4"/>
                </a:solidFill>
                <a:latin typeface="Arial"/>
                <a:ea typeface="Microsoft YaHei"/>
              </a:rPr>
              <a:t>&amp; THINK</a:t>
            </a:r>
          </a:p>
        </p:txBody>
      </p:sp>
      <p:sp>
        <p:nvSpPr>
          <p:cNvPr id="5" name="Rectangle 4">
            <a:hlinkClick action="ppaction://hlinksldjump" r:id="rId3"/>
          </p:cNvPr>
          <p:cNvSpPr/>
          <p:nvPr/>
        </p:nvSpPr>
        <p:spPr>
          <a:xfrm>
            <a:off x="109728" y="1874519"/>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146304" y="1933955"/>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说教材</a:t>
            </a:r>
          </a:p>
        </p:txBody>
      </p:sp>
      <p:sp>
        <p:nvSpPr>
          <p:cNvPr id="7" name="Rectangle 6">
            <a:hlinkClick action="ppaction://hlinksldjump" r:id="rId4"/>
          </p:cNvPr>
          <p:cNvSpPr/>
          <p:nvPr/>
        </p:nvSpPr>
        <p:spPr>
          <a:xfrm>
            <a:off x="109728" y="2441448"/>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46304" y="2500884"/>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说学情</a:t>
            </a:r>
          </a:p>
        </p:txBody>
      </p:sp>
      <p:sp>
        <p:nvSpPr>
          <p:cNvPr id="9" name="Rectangle 8">
            <a:hlinkClick action="ppaction://hlinksldjump" r:id="rId5"/>
          </p:cNvPr>
          <p:cNvSpPr/>
          <p:nvPr/>
        </p:nvSpPr>
        <p:spPr>
          <a:xfrm>
            <a:off x="109728" y="3008376"/>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46304" y="3067812"/>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说目标</a:t>
            </a:r>
          </a:p>
        </p:txBody>
      </p:sp>
      <p:sp>
        <p:nvSpPr>
          <p:cNvPr id="11" name="Rectangle 10">
            <a:hlinkClick action="ppaction://hlinksldjump" r:id="rId6"/>
          </p:cNvPr>
          <p:cNvSpPr/>
          <p:nvPr/>
        </p:nvSpPr>
        <p:spPr>
          <a:xfrm>
            <a:off x="109728" y="3575303"/>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6"/>
          </p:cNvPr>
          <p:cNvSpPr txBox="1"/>
          <p:nvPr/>
        </p:nvSpPr>
        <p:spPr>
          <a:xfrm>
            <a:off x="146304" y="3634739"/>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说重难</a:t>
            </a:r>
          </a:p>
        </p:txBody>
      </p:sp>
      <p:sp>
        <p:nvSpPr>
          <p:cNvPr id="13" name="Rectangle 12">
            <a:hlinkClick action="ppaction://hlinksldjump" r:id="rId7"/>
          </p:cNvPr>
          <p:cNvSpPr/>
          <p:nvPr/>
        </p:nvSpPr>
        <p:spPr>
          <a:xfrm>
            <a:off x="109728" y="4142231"/>
            <a:ext cx="1097280" cy="42976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7"/>
          </p:cNvPr>
          <p:cNvSpPr txBox="1"/>
          <p:nvPr/>
        </p:nvSpPr>
        <p:spPr>
          <a:xfrm>
            <a:off x="146304" y="4201668"/>
            <a:ext cx="1024128" cy="301752"/>
          </a:xfrm>
          <a:prstGeom prst="rect">
            <a:avLst/>
          </a:prstGeom>
          <a:noFill/>
        </p:spPr>
        <p:txBody>
          <a:bodyPr wrap="square" lIns="18288" rIns="18288" tIns="9144" bIns="9144">
            <a:spAutoFit/>
          </a:bodyPr>
          <a:lstStyle/>
          <a:p>
            <a:pPr algn="ctr">
              <a:lnSpc>
                <a:spcPct val="110000"/>
              </a:lnSpc>
              <a:spcAft>
                <a:spcPts val="500"/>
              </a:spcAft>
            </a:pPr>
            <a:r>
              <a:rPr sz="1500" b="1" lang="zh-CN">
                <a:solidFill>
                  <a:srgbClr val="FFFFFF"/>
                </a:solidFill>
                <a:latin typeface="Microsoft YaHei"/>
                <a:ea typeface="Microsoft YaHei"/>
              </a:rPr>
              <a:t>说过程</a:t>
            </a:r>
          </a:p>
        </p:txBody>
      </p:sp>
      <p:sp>
        <p:nvSpPr>
          <p:cNvPr id="15" name="Rectangle 14">
            <a:hlinkClick action="ppaction://hlinksldjump" r:id="rId8"/>
          </p:cNvPr>
          <p:cNvSpPr/>
          <p:nvPr/>
        </p:nvSpPr>
        <p:spPr>
          <a:xfrm>
            <a:off x="109728" y="4709160"/>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8"/>
          </p:cNvPr>
          <p:cNvSpPr txBox="1"/>
          <p:nvPr/>
        </p:nvSpPr>
        <p:spPr>
          <a:xfrm>
            <a:off x="146304" y="4768596"/>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说反思</a:t>
            </a:r>
          </a:p>
        </p:txBody>
      </p:sp>
      <p:sp>
        <p:nvSpPr>
          <p:cNvPr id="17" name="TextBox 16"/>
          <p:cNvSpPr txBox="1"/>
          <p:nvPr/>
        </p:nvSpPr>
        <p:spPr>
          <a:xfrm>
            <a:off x="210312" y="6062472"/>
            <a:ext cx="950976" cy="393192"/>
          </a:xfrm>
          <a:prstGeom prst="rect">
            <a:avLst/>
          </a:prstGeom>
          <a:noFill/>
        </p:spPr>
        <p:txBody>
          <a:bodyPr wrap="square" lIns="18288" rIns="18288" tIns="9144" bIns="9144">
            <a:spAutoFit/>
          </a:bodyPr>
          <a:lstStyle/>
          <a:p>
            <a:pPr algn="ctr">
              <a:lnSpc>
                <a:spcPct val="110000"/>
              </a:lnSpc>
              <a:spcAft>
                <a:spcPts val="500"/>
              </a:spcAft>
            </a:pPr>
            <a:r>
              <a:rPr sz="1300" b="0" lang="en-US">
                <a:solidFill>
                  <a:srgbClr val="BCD3DF"/>
                </a:solidFill>
                <a:latin typeface="Arial"/>
                <a:ea typeface="Microsoft YaHei"/>
              </a:rPr>
              <a:t>09 / 20</a:t>
            </a:r>
          </a:p>
        </p:txBody>
      </p:sp>
      <p:sp>
        <p:nvSpPr>
          <p:cNvPr id="18" name="Rectangle 17"/>
          <p:cNvSpPr/>
          <p:nvPr/>
        </p:nvSpPr>
        <p:spPr>
          <a:xfrm>
            <a:off x="1325880" y="0"/>
            <a:ext cx="10872216" cy="6858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00784" y="283464"/>
            <a:ext cx="7315200" cy="274320"/>
          </a:xfrm>
          <a:prstGeom prst="rect">
            <a:avLst/>
          </a:prstGeom>
          <a:noFill/>
        </p:spPr>
        <p:txBody>
          <a:bodyPr wrap="square" lIns="18288" rIns="18288" tIns="9144" bIns="9144">
            <a:spAutoFit/>
          </a:bodyPr>
          <a:lstStyle/>
          <a:p>
            <a:pPr algn="l">
              <a:lnSpc>
                <a:spcPct val="110000"/>
              </a:lnSpc>
              <a:spcAft>
                <a:spcPts val="500"/>
              </a:spcAft>
            </a:pPr>
            <a:r>
              <a:rPr sz="1100" b="1" lang="en-US">
                <a:solidFill>
                  <a:srgbClr val="167D89"/>
                </a:solidFill>
                <a:latin typeface="Arial"/>
                <a:ea typeface="Microsoft YaHei"/>
              </a:rPr>
              <a:t>BODY LANGUAGE   /   READING AND THINKING</a:t>
            </a:r>
          </a:p>
        </p:txBody>
      </p:sp>
      <p:sp>
        <p:nvSpPr>
          <p:cNvPr id="20" name="TextBox 19"/>
          <p:cNvSpPr txBox="1"/>
          <p:nvPr/>
        </p:nvSpPr>
        <p:spPr>
          <a:xfrm>
            <a:off x="9802368" y="283464"/>
            <a:ext cx="1920240" cy="274320"/>
          </a:xfrm>
          <a:prstGeom prst="rect">
            <a:avLst/>
          </a:prstGeom>
          <a:noFill/>
        </p:spPr>
        <p:txBody>
          <a:bodyPr wrap="square" lIns="18288" rIns="18288" tIns="9144" bIns="9144">
            <a:spAutoFit/>
          </a:bodyPr>
          <a:lstStyle/>
          <a:p>
            <a:pPr algn="r">
              <a:lnSpc>
                <a:spcPct val="110000"/>
              </a:lnSpc>
              <a:spcAft>
                <a:spcPts val="500"/>
              </a:spcAft>
            </a:pPr>
            <a:r>
              <a:rPr sz="1100" b="0" lang="en-US">
                <a:solidFill>
                  <a:srgbClr val="526B78"/>
                </a:solidFill>
                <a:latin typeface="Arial"/>
                <a:ea typeface="Microsoft YaHei"/>
              </a:rPr>
              <a:t>04:15–05:00</a:t>
            </a:r>
          </a:p>
        </p:txBody>
      </p:sp>
      <p:sp>
        <p:nvSpPr>
          <p:cNvPr id="21" name="TextBox 20"/>
          <p:cNvSpPr txBox="1"/>
          <p:nvPr/>
        </p:nvSpPr>
        <p:spPr>
          <a:xfrm>
            <a:off x="1691640" y="859536"/>
            <a:ext cx="10021824" cy="630936"/>
          </a:xfrm>
          <a:prstGeom prst="rect">
            <a:avLst/>
          </a:prstGeom>
          <a:noFill/>
        </p:spPr>
        <p:txBody>
          <a:bodyPr wrap="square" lIns="18288" rIns="18288" tIns="9144" bIns="9144">
            <a:spAutoFit/>
          </a:bodyPr>
          <a:lstStyle/>
          <a:p>
            <a:pPr algn="l">
              <a:lnSpc>
                <a:spcPct val="110000"/>
              </a:lnSpc>
              <a:spcAft>
                <a:spcPts val="500"/>
              </a:spcAft>
            </a:pPr>
            <a:r>
              <a:rPr sz="3000" b="1" lang="en-US">
                <a:solidFill>
                  <a:srgbClr val="183A50"/>
                </a:solidFill>
                <a:latin typeface="Arial"/>
                <a:ea typeface="Microsoft YaHei"/>
              </a:rPr>
              <a:t>Predict from the title.</a:t>
            </a:r>
          </a:p>
        </p:txBody>
      </p:sp>
      <p:sp>
        <p:nvSpPr>
          <p:cNvPr id="22" name="TextBox 21"/>
          <p:cNvSpPr txBox="1"/>
          <p:nvPr/>
        </p:nvSpPr>
        <p:spPr>
          <a:xfrm>
            <a:off x="1719072" y="1545336"/>
            <a:ext cx="9921240" cy="521207"/>
          </a:xfrm>
          <a:prstGeom prst="rect">
            <a:avLst/>
          </a:prstGeom>
          <a:noFill/>
        </p:spPr>
        <p:txBody>
          <a:bodyPr wrap="square" lIns="18288" rIns="18288" tIns="9144" bIns="9144">
            <a:spAutoFit/>
          </a:bodyPr>
          <a:lstStyle/>
          <a:p>
            <a:pPr algn="l">
              <a:lnSpc>
                <a:spcPct val="110000"/>
              </a:lnSpc>
              <a:spcAft>
                <a:spcPts val="500"/>
              </a:spcAft>
            </a:pPr>
            <a:r>
              <a:rPr sz="1500" b="0" lang="en-US">
                <a:solidFill>
                  <a:srgbClr val="526B78"/>
                </a:solidFill>
                <a:latin typeface="Arial"/>
                <a:ea typeface="Microsoft YaHei"/>
              </a:rPr>
              <a:t>Listening to How Bodies Talk</a:t>
            </a:r>
          </a:p>
        </p:txBody>
      </p:sp>
      <p:sp>
        <p:nvSpPr>
          <p:cNvPr id="23" name="Rectangle 22"/>
          <p:cNvSpPr/>
          <p:nvPr/>
        </p:nvSpPr>
        <p:spPr>
          <a:xfrm>
            <a:off x="1719072" y="6400800"/>
            <a:ext cx="9985248" cy="10058"/>
          </a:xfrm>
          <a:prstGeom prst="rect">
            <a:avLst/>
          </a:prstGeom>
          <a:solidFill>
            <a:srgbClr val="C8D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37360" y="6492240"/>
            <a:ext cx="9784080" cy="228600"/>
          </a:xfrm>
          <a:prstGeom prst="rect">
            <a:avLst/>
          </a:prstGeom>
          <a:noFill/>
        </p:spPr>
        <p:txBody>
          <a:bodyPr wrap="square" lIns="18288" rIns="18288" tIns="9144" bIns="9144">
            <a:spAutoFit/>
          </a:bodyPr>
          <a:lstStyle/>
          <a:p>
            <a:pPr algn="l">
              <a:lnSpc>
                <a:spcPct val="110000"/>
              </a:lnSpc>
              <a:spcAft>
                <a:spcPts val="500"/>
              </a:spcAft>
            </a:pPr>
            <a:r>
              <a:rPr sz="1050" b="0" lang="zh-CN">
                <a:solidFill>
                  <a:srgbClr val="526B78"/>
                </a:solidFill>
                <a:latin typeface="Microsoft YaHei"/>
                <a:ea typeface="Microsoft YaHei"/>
              </a:rPr>
              <a:t>设计意图  用标题预测，并通过阅读核验</a:t>
            </a:r>
          </a:p>
        </p:txBody>
      </p:sp>
      <p:sp>
        <p:nvSpPr>
          <p:cNvPr id="25" name="Rectangle 24"/>
          <p:cNvSpPr/>
          <p:nvPr/>
        </p:nvSpPr>
        <p:spPr>
          <a:xfrm>
            <a:off x="1719072" y="6345936"/>
            <a:ext cx="4493361" cy="2286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773936" y="2240280"/>
            <a:ext cx="9710928" cy="923544"/>
          </a:xfrm>
          <a:prstGeom prst="rect">
            <a:avLst/>
          </a:prstGeom>
          <a:solidFill>
            <a:srgbClr val="E7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02536" y="2459736"/>
            <a:ext cx="9244584" cy="457200"/>
          </a:xfrm>
          <a:prstGeom prst="rect">
            <a:avLst/>
          </a:prstGeom>
          <a:noFill/>
        </p:spPr>
        <p:txBody>
          <a:bodyPr wrap="square" lIns="18288" rIns="18288" tIns="9144" bIns="9144">
            <a:spAutoFit/>
          </a:bodyPr>
          <a:lstStyle/>
          <a:p>
            <a:pPr algn="l">
              <a:lnSpc>
                <a:spcPct val="110000"/>
              </a:lnSpc>
              <a:spcAft>
                <a:spcPts val="500"/>
              </a:spcAft>
            </a:pPr>
            <a:r>
              <a:rPr sz="2800" b="1" lang="en-US">
                <a:solidFill>
                  <a:srgbClr val="183A50"/>
                </a:solidFill>
                <a:latin typeface="Arial"/>
                <a:ea typeface="Microsoft YaHei"/>
              </a:rPr>
              <a:t>How can bodies “talk”?</a:t>
            </a:r>
          </a:p>
        </p:txBody>
      </p:sp>
      <p:sp>
        <p:nvSpPr>
          <p:cNvPr id="28" name="TextBox 27"/>
          <p:cNvSpPr txBox="1"/>
          <p:nvPr/>
        </p:nvSpPr>
        <p:spPr>
          <a:xfrm>
            <a:off x="1984248" y="3346704"/>
            <a:ext cx="9153144" cy="438912"/>
          </a:xfrm>
          <a:prstGeom prst="rect">
            <a:avLst/>
          </a:prstGeom>
          <a:noFill/>
        </p:spPr>
        <p:txBody>
          <a:bodyPr wrap="square" lIns="18288" rIns="18288" tIns="9144" bIns="9144">
            <a:spAutoFit/>
          </a:bodyPr>
          <a:lstStyle/>
          <a:p>
            <a:pPr algn="l">
              <a:lnSpc>
                <a:spcPct val="110000"/>
              </a:lnSpc>
              <a:spcAft>
                <a:spcPts val="500"/>
              </a:spcAft>
            </a:pPr>
            <a:r>
              <a:rPr sz="2100" b="1" lang="en-US">
                <a:solidFill>
                  <a:srgbClr val="167D89"/>
                </a:solidFill>
                <a:latin typeface="Arial"/>
                <a:ea typeface="Microsoft YaHei"/>
              </a:rPr>
              <a:t>PERSONIFICATION  ·  Movements communicate meanings.</a:t>
            </a:r>
          </a:p>
        </p:txBody>
      </p:sp>
      <p:sp>
        <p:nvSpPr>
          <p:cNvPr id="29" name="TextBox 28"/>
          <p:cNvSpPr txBox="1"/>
          <p:nvPr/>
        </p:nvSpPr>
        <p:spPr>
          <a:xfrm>
            <a:off x="1993392" y="4041648"/>
            <a:ext cx="9070848" cy="594360"/>
          </a:xfrm>
          <a:prstGeom prst="rect">
            <a:avLst/>
          </a:prstGeom>
          <a:noFill/>
        </p:spPr>
        <p:txBody>
          <a:bodyPr wrap="square" lIns="18288" rIns="18288" tIns="9144" bIns="9144">
            <a:spAutoFit/>
          </a:bodyPr>
          <a:lstStyle/>
          <a:p>
            <a:pPr algn="l">
              <a:lnSpc>
                <a:spcPct val="110000"/>
              </a:lnSpc>
              <a:spcAft>
                <a:spcPts val="500"/>
              </a:spcAft>
            </a:pPr>
            <a:r>
              <a:rPr sz="1800" b="0" lang="en-US">
                <a:solidFill>
                  <a:srgbClr val="183A50"/>
                </a:solidFill>
                <a:latin typeface="Arial"/>
                <a:ea typeface="Microsoft YaHei"/>
              </a:rPr>
              <a:t>A  Similarities only               B  Body language vs spoken language</a:t>
            </a:r>
          </a:p>
          <a:p>
            <a:pPr algn="l">
              <a:lnSpc>
                <a:spcPct val="110000"/>
              </a:lnSpc>
              <a:spcAft>
                <a:spcPts val="500"/>
              </a:spcAft>
            </a:pPr>
            <a:r>
              <a:rPr sz="1800" b="0" lang="en-US">
                <a:solidFill>
                  <a:srgbClr val="183A50"/>
                </a:solidFill>
                <a:latin typeface="Arial"/>
                <a:ea typeface="Microsoft YaHei"/>
              </a:rPr>
              <a:t>C  Characteristics only            D  Body language in different cultures</a:t>
            </a:r>
          </a:p>
        </p:txBody>
      </p:sp>
      <p:sp>
        <p:nvSpPr>
          <p:cNvPr id="30" name="TextBox 29"/>
          <p:cNvSpPr txBox="1"/>
          <p:nvPr/>
        </p:nvSpPr>
        <p:spPr>
          <a:xfrm>
            <a:off x="2002536" y="5138928"/>
            <a:ext cx="9153144" cy="420624"/>
          </a:xfrm>
          <a:prstGeom prst="rect">
            <a:avLst/>
          </a:prstGeom>
          <a:noFill/>
        </p:spPr>
        <p:txBody>
          <a:bodyPr wrap="square" lIns="18288" rIns="18288" tIns="9144" bIns="9144">
            <a:spAutoFit/>
          </a:bodyPr>
          <a:lstStyle/>
          <a:p>
            <a:pPr algn="l">
              <a:lnSpc>
                <a:spcPct val="110000"/>
              </a:lnSpc>
              <a:spcAft>
                <a:spcPts val="500"/>
              </a:spcAft>
            </a:pPr>
            <a:r>
              <a:rPr sz="2100" b="1" lang="en-US">
                <a:solidFill>
                  <a:srgbClr val="167D89"/>
                </a:solidFill>
                <a:latin typeface="Arial"/>
                <a:ea typeface="Microsoft YaHei"/>
              </a:rPr>
              <a:t>Best prediction: D.  Read to check, not just to confirm a guess.</a:t>
            </a:r>
          </a:p>
        </p:txBody>
      </p:sp>
      <p:sp>
        <p:nvSpPr>
          <p:cNvPr id="31" name="TextBox 30"/>
          <p:cNvSpPr txBox="1"/>
          <p:nvPr/>
        </p:nvSpPr>
        <p:spPr>
          <a:xfrm>
            <a:off x="2002536" y="5824728"/>
            <a:ext cx="9144000" cy="329184"/>
          </a:xfrm>
          <a:prstGeom prst="rect">
            <a:avLst/>
          </a:prstGeom>
          <a:noFill/>
        </p:spPr>
        <p:txBody>
          <a:bodyPr wrap="square" lIns="18288" rIns="18288" tIns="9144" bIns="9144">
            <a:spAutoFit/>
          </a:bodyPr>
          <a:lstStyle/>
          <a:p>
            <a:pPr algn="l">
              <a:lnSpc>
                <a:spcPct val="110000"/>
              </a:lnSpc>
              <a:spcAft>
                <a:spcPts val="500"/>
              </a:spcAft>
            </a:pPr>
            <a:r>
              <a:rPr sz="1600" b="1" lang="en-US">
                <a:solidFill>
                  <a:srgbClr val="526B78"/>
                </a:solidFill>
                <a:latin typeface="Arial"/>
                <a:ea typeface="Microsoft YaHei"/>
              </a:rPr>
              <a:t>CLUE → PREDICTION → TEXTUAL EVIDENCE</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3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3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0" grpId="0"/>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9FA"/>
        </a:solidFill>
        <a:effectLst/>
      </p:bgPr>
    </p:bg>
    <p:spTree>
      <p:nvGrpSpPr>
        <p:cNvPr id="1" name=""/>
        <p:cNvGrpSpPr/>
        <p:nvPr/>
      </p:nvGrpSpPr>
      <p:grpSpPr/>
      <p:sp>
        <p:nvSpPr>
          <p:cNvPr id="2" name="Rectangle 1"/>
          <p:cNvSpPr/>
          <p:nvPr/>
        </p:nvSpPr>
        <p:spPr>
          <a:xfrm>
            <a:off x="0" y="0"/>
            <a:ext cx="1325880" cy="6858000"/>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329184"/>
            <a:ext cx="896112" cy="457200"/>
          </a:xfrm>
          <a:prstGeom prst="rect">
            <a:avLst/>
          </a:prstGeom>
          <a:noFill/>
        </p:spPr>
        <p:txBody>
          <a:bodyPr wrap="square" lIns="18288" rIns="18288" tIns="9144" bIns="9144">
            <a:spAutoFit/>
          </a:bodyPr>
          <a:lstStyle/>
          <a:p>
            <a:pPr algn="l">
              <a:lnSpc>
                <a:spcPct val="110000"/>
              </a:lnSpc>
              <a:spcAft>
                <a:spcPts val="500"/>
              </a:spcAft>
            </a:pPr>
            <a:r>
              <a:rPr sz="1800" b="1" lang="en-US">
                <a:solidFill>
                  <a:srgbClr val="FFFFFF"/>
                </a:solidFill>
                <a:latin typeface="Arial"/>
                <a:ea typeface="Microsoft YaHei"/>
              </a:rPr>
              <a:t>UNIT 4</a:t>
            </a:r>
          </a:p>
        </p:txBody>
      </p:sp>
      <p:sp>
        <p:nvSpPr>
          <p:cNvPr id="4" name="TextBox 3"/>
          <p:cNvSpPr txBox="1"/>
          <p:nvPr/>
        </p:nvSpPr>
        <p:spPr>
          <a:xfrm>
            <a:off x="219456" y="868680"/>
            <a:ext cx="914400" cy="658368"/>
          </a:xfrm>
          <a:prstGeom prst="rect">
            <a:avLst/>
          </a:prstGeom>
          <a:noFill/>
        </p:spPr>
        <p:txBody>
          <a:bodyPr wrap="square" lIns="18288" rIns="18288" tIns="9144" bIns="9144">
            <a:spAutoFit/>
          </a:bodyPr>
          <a:lstStyle/>
          <a:p>
            <a:pPr algn="l">
              <a:lnSpc>
                <a:spcPct val="110000"/>
              </a:lnSpc>
              <a:spcAft>
                <a:spcPts val="500"/>
              </a:spcAft>
            </a:pPr>
            <a:r>
              <a:rPr sz="1200" b="1" lang="en-US">
                <a:solidFill>
                  <a:srgbClr val="93C3D4"/>
                </a:solidFill>
                <a:latin typeface="Arial"/>
                <a:ea typeface="Microsoft YaHei"/>
              </a:rPr>
              <a:t>READ</a:t>
            </a:r>
          </a:p>
          <a:p>
            <a:pPr algn="l">
              <a:lnSpc>
                <a:spcPct val="110000"/>
              </a:lnSpc>
              <a:spcAft>
                <a:spcPts val="500"/>
              </a:spcAft>
            </a:pPr>
            <a:r>
              <a:rPr sz="1200" b="1" lang="en-US">
                <a:solidFill>
                  <a:srgbClr val="93C3D4"/>
                </a:solidFill>
                <a:latin typeface="Arial"/>
                <a:ea typeface="Microsoft YaHei"/>
              </a:rPr>
              <a:t>&amp; THINK</a:t>
            </a:r>
          </a:p>
        </p:txBody>
      </p:sp>
      <p:sp>
        <p:nvSpPr>
          <p:cNvPr id="5" name="Rectangle 4">
            <a:hlinkClick action="ppaction://hlinksldjump" r:id="rId3"/>
          </p:cNvPr>
          <p:cNvSpPr/>
          <p:nvPr/>
        </p:nvSpPr>
        <p:spPr>
          <a:xfrm>
            <a:off x="109728" y="1874519"/>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146304" y="1933955"/>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说教材</a:t>
            </a:r>
          </a:p>
        </p:txBody>
      </p:sp>
      <p:sp>
        <p:nvSpPr>
          <p:cNvPr id="7" name="Rectangle 6">
            <a:hlinkClick action="ppaction://hlinksldjump" r:id="rId4"/>
          </p:cNvPr>
          <p:cNvSpPr/>
          <p:nvPr/>
        </p:nvSpPr>
        <p:spPr>
          <a:xfrm>
            <a:off x="109728" y="2441448"/>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46304" y="2500884"/>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说学情</a:t>
            </a:r>
          </a:p>
        </p:txBody>
      </p:sp>
      <p:sp>
        <p:nvSpPr>
          <p:cNvPr id="9" name="Rectangle 8">
            <a:hlinkClick action="ppaction://hlinksldjump" r:id="rId5"/>
          </p:cNvPr>
          <p:cNvSpPr/>
          <p:nvPr/>
        </p:nvSpPr>
        <p:spPr>
          <a:xfrm>
            <a:off x="109728" y="3008376"/>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46304" y="3067812"/>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说目标</a:t>
            </a:r>
          </a:p>
        </p:txBody>
      </p:sp>
      <p:sp>
        <p:nvSpPr>
          <p:cNvPr id="11" name="Rectangle 10">
            <a:hlinkClick action="ppaction://hlinksldjump" r:id="rId6"/>
          </p:cNvPr>
          <p:cNvSpPr/>
          <p:nvPr/>
        </p:nvSpPr>
        <p:spPr>
          <a:xfrm>
            <a:off x="109728" y="3575303"/>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6"/>
          </p:cNvPr>
          <p:cNvSpPr txBox="1"/>
          <p:nvPr/>
        </p:nvSpPr>
        <p:spPr>
          <a:xfrm>
            <a:off x="146304" y="3634739"/>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说重难</a:t>
            </a:r>
          </a:p>
        </p:txBody>
      </p:sp>
      <p:sp>
        <p:nvSpPr>
          <p:cNvPr id="13" name="Rectangle 12">
            <a:hlinkClick action="ppaction://hlinksldjump" r:id="rId7"/>
          </p:cNvPr>
          <p:cNvSpPr/>
          <p:nvPr/>
        </p:nvSpPr>
        <p:spPr>
          <a:xfrm>
            <a:off x="109728" y="4142231"/>
            <a:ext cx="1097280" cy="42976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7"/>
          </p:cNvPr>
          <p:cNvSpPr txBox="1"/>
          <p:nvPr/>
        </p:nvSpPr>
        <p:spPr>
          <a:xfrm>
            <a:off x="146304" y="4201668"/>
            <a:ext cx="1024128" cy="301752"/>
          </a:xfrm>
          <a:prstGeom prst="rect">
            <a:avLst/>
          </a:prstGeom>
          <a:noFill/>
        </p:spPr>
        <p:txBody>
          <a:bodyPr wrap="square" lIns="18288" rIns="18288" tIns="9144" bIns="9144">
            <a:spAutoFit/>
          </a:bodyPr>
          <a:lstStyle/>
          <a:p>
            <a:pPr algn="ctr">
              <a:lnSpc>
                <a:spcPct val="110000"/>
              </a:lnSpc>
              <a:spcAft>
                <a:spcPts val="500"/>
              </a:spcAft>
            </a:pPr>
            <a:r>
              <a:rPr sz="1500" b="1" lang="zh-CN">
                <a:solidFill>
                  <a:srgbClr val="FFFFFF"/>
                </a:solidFill>
                <a:latin typeface="Microsoft YaHei"/>
                <a:ea typeface="Microsoft YaHei"/>
              </a:rPr>
              <a:t>说过程</a:t>
            </a:r>
          </a:p>
        </p:txBody>
      </p:sp>
      <p:sp>
        <p:nvSpPr>
          <p:cNvPr id="15" name="Rectangle 14">
            <a:hlinkClick action="ppaction://hlinksldjump" r:id="rId8"/>
          </p:cNvPr>
          <p:cNvSpPr/>
          <p:nvPr/>
        </p:nvSpPr>
        <p:spPr>
          <a:xfrm>
            <a:off x="109728" y="4709160"/>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8"/>
          </p:cNvPr>
          <p:cNvSpPr txBox="1"/>
          <p:nvPr/>
        </p:nvSpPr>
        <p:spPr>
          <a:xfrm>
            <a:off x="146304" y="4768596"/>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说反思</a:t>
            </a:r>
          </a:p>
        </p:txBody>
      </p:sp>
      <p:sp>
        <p:nvSpPr>
          <p:cNvPr id="17" name="TextBox 16"/>
          <p:cNvSpPr txBox="1"/>
          <p:nvPr/>
        </p:nvSpPr>
        <p:spPr>
          <a:xfrm>
            <a:off x="210312" y="6062472"/>
            <a:ext cx="950976" cy="393192"/>
          </a:xfrm>
          <a:prstGeom prst="rect">
            <a:avLst/>
          </a:prstGeom>
          <a:noFill/>
        </p:spPr>
        <p:txBody>
          <a:bodyPr wrap="square" lIns="18288" rIns="18288" tIns="9144" bIns="9144">
            <a:spAutoFit/>
          </a:bodyPr>
          <a:lstStyle/>
          <a:p>
            <a:pPr algn="ctr">
              <a:lnSpc>
                <a:spcPct val="110000"/>
              </a:lnSpc>
              <a:spcAft>
                <a:spcPts val="500"/>
              </a:spcAft>
            </a:pPr>
            <a:r>
              <a:rPr sz="1300" b="0" lang="en-US">
                <a:solidFill>
                  <a:srgbClr val="BCD3DF"/>
                </a:solidFill>
                <a:latin typeface="Arial"/>
                <a:ea typeface="Microsoft YaHei"/>
              </a:rPr>
              <a:t>10 / 20</a:t>
            </a:r>
          </a:p>
        </p:txBody>
      </p:sp>
      <p:sp>
        <p:nvSpPr>
          <p:cNvPr id="18" name="Rectangle 17"/>
          <p:cNvSpPr/>
          <p:nvPr/>
        </p:nvSpPr>
        <p:spPr>
          <a:xfrm>
            <a:off x="1325880" y="0"/>
            <a:ext cx="10872216" cy="6858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00784" y="283464"/>
            <a:ext cx="7315200" cy="274320"/>
          </a:xfrm>
          <a:prstGeom prst="rect">
            <a:avLst/>
          </a:prstGeom>
          <a:noFill/>
        </p:spPr>
        <p:txBody>
          <a:bodyPr wrap="square" lIns="18288" rIns="18288" tIns="9144" bIns="9144">
            <a:spAutoFit/>
          </a:bodyPr>
          <a:lstStyle/>
          <a:p>
            <a:pPr algn="l">
              <a:lnSpc>
                <a:spcPct val="110000"/>
              </a:lnSpc>
              <a:spcAft>
                <a:spcPts val="500"/>
              </a:spcAft>
            </a:pPr>
            <a:r>
              <a:rPr sz="1100" b="1" lang="en-US">
                <a:solidFill>
                  <a:srgbClr val="167D89"/>
                </a:solidFill>
                <a:latin typeface="Arial"/>
                <a:ea typeface="Microsoft YaHei"/>
              </a:rPr>
              <a:t>BODY LANGUAGE   /   READING AND THINKING</a:t>
            </a:r>
          </a:p>
        </p:txBody>
      </p:sp>
      <p:sp>
        <p:nvSpPr>
          <p:cNvPr id="20" name="TextBox 19"/>
          <p:cNvSpPr txBox="1"/>
          <p:nvPr/>
        </p:nvSpPr>
        <p:spPr>
          <a:xfrm>
            <a:off x="9802368" y="283464"/>
            <a:ext cx="1920240" cy="274320"/>
          </a:xfrm>
          <a:prstGeom prst="rect">
            <a:avLst/>
          </a:prstGeom>
          <a:noFill/>
        </p:spPr>
        <p:txBody>
          <a:bodyPr wrap="square" lIns="18288" rIns="18288" tIns="9144" bIns="9144">
            <a:spAutoFit/>
          </a:bodyPr>
          <a:lstStyle/>
          <a:p>
            <a:pPr algn="r">
              <a:lnSpc>
                <a:spcPct val="110000"/>
              </a:lnSpc>
              <a:spcAft>
                <a:spcPts val="500"/>
              </a:spcAft>
            </a:pPr>
            <a:r>
              <a:rPr sz="1100" b="0" lang="en-US">
                <a:solidFill>
                  <a:srgbClr val="526B78"/>
                </a:solidFill>
                <a:latin typeface="Arial"/>
                <a:ea typeface="Microsoft YaHei"/>
              </a:rPr>
              <a:t>05:00–06:00</a:t>
            </a:r>
          </a:p>
        </p:txBody>
      </p:sp>
      <p:sp>
        <p:nvSpPr>
          <p:cNvPr id="21" name="TextBox 20"/>
          <p:cNvSpPr txBox="1"/>
          <p:nvPr/>
        </p:nvSpPr>
        <p:spPr>
          <a:xfrm>
            <a:off x="1691640" y="859536"/>
            <a:ext cx="10021824" cy="630936"/>
          </a:xfrm>
          <a:prstGeom prst="rect">
            <a:avLst/>
          </a:prstGeom>
          <a:noFill/>
        </p:spPr>
        <p:txBody>
          <a:bodyPr wrap="square" lIns="18288" rIns="18288" tIns="9144" bIns="9144">
            <a:spAutoFit/>
          </a:bodyPr>
          <a:lstStyle/>
          <a:p>
            <a:pPr algn="l">
              <a:lnSpc>
                <a:spcPct val="110000"/>
              </a:lnSpc>
              <a:spcAft>
                <a:spcPts val="500"/>
              </a:spcAft>
            </a:pPr>
            <a:r>
              <a:rPr sz="3000" b="1" lang="en-US">
                <a:solidFill>
                  <a:srgbClr val="183A50"/>
                </a:solidFill>
                <a:latin typeface="Arial"/>
                <a:ea typeface="Microsoft YaHei"/>
              </a:rPr>
              <a:t>Skim: find the route through the text.</a:t>
            </a:r>
          </a:p>
        </p:txBody>
      </p:sp>
      <p:sp>
        <p:nvSpPr>
          <p:cNvPr id="22" name="TextBox 21"/>
          <p:cNvSpPr txBox="1"/>
          <p:nvPr/>
        </p:nvSpPr>
        <p:spPr>
          <a:xfrm>
            <a:off x="1719072" y="1545336"/>
            <a:ext cx="9921240" cy="521207"/>
          </a:xfrm>
          <a:prstGeom prst="rect">
            <a:avLst/>
          </a:prstGeom>
          <a:noFill/>
        </p:spPr>
        <p:txBody>
          <a:bodyPr wrap="square" lIns="18288" rIns="18288" tIns="9144" bIns="9144">
            <a:spAutoFit/>
          </a:bodyPr>
          <a:lstStyle/>
          <a:p>
            <a:pPr algn="l">
              <a:lnSpc>
                <a:spcPct val="110000"/>
              </a:lnSpc>
              <a:spcAft>
                <a:spcPts val="500"/>
              </a:spcAft>
            </a:pPr>
            <a:r>
              <a:rPr sz="1500" b="0" lang="en-US">
                <a:solidFill>
                  <a:srgbClr val="526B78"/>
                </a:solidFill>
                <a:latin typeface="Arial"/>
                <a:ea typeface="Microsoft YaHei"/>
              </a:rPr>
              <a:t>Topic sentences + supporting examples</a:t>
            </a:r>
          </a:p>
        </p:txBody>
      </p:sp>
      <p:sp>
        <p:nvSpPr>
          <p:cNvPr id="23" name="Rectangle 22"/>
          <p:cNvSpPr/>
          <p:nvPr/>
        </p:nvSpPr>
        <p:spPr>
          <a:xfrm>
            <a:off x="1719072" y="6400800"/>
            <a:ext cx="9985248" cy="10058"/>
          </a:xfrm>
          <a:prstGeom prst="rect">
            <a:avLst/>
          </a:prstGeom>
          <a:solidFill>
            <a:srgbClr val="C8D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37360" y="6492240"/>
            <a:ext cx="9784080" cy="228600"/>
          </a:xfrm>
          <a:prstGeom prst="rect">
            <a:avLst/>
          </a:prstGeom>
          <a:noFill/>
        </p:spPr>
        <p:txBody>
          <a:bodyPr wrap="square" lIns="18288" rIns="18288" tIns="9144" bIns="9144">
            <a:spAutoFit/>
          </a:bodyPr>
          <a:lstStyle/>
          <a:p>
            <a:pPr algn="l">
              <a:lnSpc>
                <a:spcPct val="110000"/>
              </a:lnSpc>
              <a:spcAft>
                <a:spcPts val="500"/>
              </a:spcAft>
            </a:pPr>
            <a:r>
              <a:rPr sz="1050" b="0" lang="zh-CN">
                <a:solidFill>
                  <a:srgbClr val="526B78"/>
                </a:solidFill>
                <a:latin typeface="Microsoft YaHei"/>
                <a:ea typeface="Microsoft YaHei"/>
              </a:rPr>
              <a:t>设计意图  借助主题句建立四部分结构</a:t>
            </a:r>
          </a:p>
        </p:txBody>
      </p:sp>
      <p:sp>
        <p:nvSpPr>
          <p:cNvPr id="25" name="Rectangle 24"/>
          <p:cNvSpPr/>
          <p:nvPr/>
        </p:nvSpPr>
        <p:spPr>
          <a:xfrm>
            <a:off x="1719072" y="6345936"/>
            <a:ext cx="4992624" cy="2286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773936" y="2194560"/>
            <a:ext cx="4937760" cy="448056"/>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892807" y="2258568"/>
            <a:ext cx="1042415" cy="292608"/>
          </a:xfrm>
          <a:prstGeom prst="rect">
            <a:avLst/>
          </a:prstGeom>
          <a:noFill/>
        </p:spPr>
        <p:txBody>
          <a:bodyPr wrap="square" lIns="18288" rIns="18288" tIns="9144" bIns="9144">
            <a:spAutoFit/>
          </a:bodyPr>
          <a:lstStyle/>
          <a:p>
            <a:pPr algn="l">
              <a:lnSpc>
                <a:spcPct val="110000"/>
              </a:lnSpc>
              <a:spcAft>
                <a:spcPts val="500"/>
              </a:spcAft>
            </a:pPr>
            <a:r>
              <a:rPr sz="1700" b="1" lang="en-US">
                <a:solidFill>
                  <a:srgbClr val="167D89"/>
                </a:solidFill>
                <a:latin typeface="Arial"/>
                <a:ea typeface="Microsoft YaHei"/>
              </a:rPr>
              <a:t>1 · B</a:t>
            </a:r>
          </a:p>
        </p:txBody>
      </p:sp>
      <p:sp>
        <p:nvSpPr>
          <p:cNvPr id="28" name="TextBox 27"/>
          <p:cNvSpPr txBox="1"/>
          <p:nvPr/>
        </p:nvSpPr>
        <p:spPr>
          <a:xfrm>
            <a:off x="2999232" y="2258568"/>
            <a:ext cx="3566160" cy="320040"/>
          </a:xfrm>
          <a:prstGeom prst="rect">
            <a:avLst/>
          </a:prstGeom>
          <a:noFill/>
        </p:spPr>
        <p:txBody>
          <a:bodyPr wrap="square" lIns="18288" rIns="18288" tIns="9144" bIns="9144">
            <a:spAutoFit/>
          </a:bodyPr>
          <a:lstStyle/>
          <a:p>
            <a:pPr algn="l">
              <a:lnSpc>
                <a:spcPct val="110000"/>
              </a:lnSpc>
              <a:spcAft>
                <a:spcPts val="500"/>
              </a:spcAft>
            </a:pPr>
            <a:r>
              <a:rPr sz="1700" b="0" lang="en-US">
                <a:solidFill>
                  <a:srgbClr val="183A50"/>
                </a:solidFill>
                <a:latin typeface="Arial"/>
                <a:ea typeface="Microsoft YaHei"/>
              </a:rPr>
              <a:t>Introduction</a:t>
            </a:r>
          </a:p>
        </p:txBody>
      </p:sp>
      <p:sp>
        <p:nvSpPr>
          <p:cNvPr id="29" name="Rectangle 28"/>
          <p:cNvSpPr/>
          <p:nvPr/>
        </p:nvSpPr>
        <p:spPr>
          <a:xfrm>
            <a:off x="1773936" y="2715768"/>
            <a:ext cx="4937760" cy="448056"/>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892807" y="2779775"/>
            <a:ext cx="1042415" cy="292608"/>
          </a:xfrm>
          <a:prstGeom prst="rect">
            <a:avLst/>
          </a:prstGeom>
          <a:noFill/>
        </p:spPr>
        <p:txBody>
          <a:bodyPr wrap="square" lIns="18288" rIns="18288" tIns="9144" bIns="9144">
            <a:spAutoFit/>
          </a:bodyPr>
          <a:lstStyle/>
          <a:p>
            <a:pPr algn="l">
              <a:lnSpc>
                <a:spcPct val="110000"/>
              </a:lnSpc>
              <a:spcAft>
                <a:spcPts val="500"/>
              </a:spcAft>
            </a:pPr>
            <a:r>
              <a:rPr sz="1700" b="1" lang="en-US">
                <a:solidFill>
                  <a:srgbClr val="167D89"/>
                </a:solidFill>
                <a:latin typeface="Arial"/>
                <a:ea typeface="Microsoft YaHei"/>
              </a:rPr>
              <a:t>2 · A</a:t>
            </a:r>
          </a:p>
        </p:txBody>
      </p:sp>
      <p:sp>
        <p:nvSpPr>
          <p:cNvPr id="31" name="TextBox 30"/>
          <p:cNvSpPr txBox="1"/>
          <p:nvPr/>
        </p:nvSpPr>
        <p:spPr>
          <a:xfrm>
            <a:off x="2999232" y="2779775"/>
            <a:ext cx="3566160" cy="320040"/>
          </a:xfrm>
          <a:prstGeom prst="rect">
            <a:avLst/>
          </a:prstGeom>
          <a:noFill/>
        </p:spPr>
        <p:txBody>
          <a:bodyPr wrap="square" lIns="18288" rIns="18288" tIns="9144" bIns="9144">
            <a:spAutoFit/>
          </a:bodyPr>
          <a:lstStyle/>
          <a:p>
            <a:pPr algn="l">
              <a:lnSpc>
                <a:spcPct val="110000"/>
              </a:lnSpc>
              <a:spcAft>
                <a:spcPts val="500"/>
              </a:spcAft>
            </a:pPr>
            <a:r>
              <a:rPr sz="1700" b="0" lang="en-US">
                <a:solidFill>
                  <a:srgbClr val="183A50"/>
                </a:solidFill>
                <a:latin typeface="Arial"/>
                <a:ea typeface="Microsoft YaHei"/>
              </a:rPr>
              <a:t>Culture-to-culture variation</a:t>
            </a:r>
          </a:p>
        </p:txBody>
      </p:sp>
      <p:sp>
        <p:nvSpPr>
          <p:cNvPr id="32" name="Rectangle 31"/>
          <p:cNvSpPr/>
          <p:nvPr/>
        </p:nvSpPr>
        <p:spPr>
          <a:xfrm>
            <a:off x="1773936" y="3236976"/>
            <a:ext cx="4937760" cy="448056"/>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892807" y="3300984"/>
            <a:ext cx="1042415" cy="292608"/>
          </a:xfrm>
          <a:prstGeom prst="rect">
            <a:avLst/>
          </a:prstGeom>
          <a:noFill/>
        </p:spPr>
        <p:txBody>
          <a:bodyPr wrap="square" lIns="18288" rIns="18288" tIns="9144" bIns="9144">
            <a:spAutoFit/>
          </a:bodyPr>
          <a:lstStyle/>
          <a:p>
            <a:pPr algn="l">
              <a:lnSpc>
                <a:spcPct val="110000"/>
              </a:lnSpc>
              <a:spcAft>
                <a:spcPts val="500"/>
              </a:spcAft>
            </a:pPr>
            <a:r>
              <a:rPr sz="1700" b="1" lang="en-US">
                <a:solidFill>
                  <a:srgbClr val="167D89"/>
                </a:solidFill>
                <a:latin typeface="Arial"/>
                <a:ea typeface="Microsoft YaHei"/>
              </a:rPr>
              <a:t>3 · F</a:t>
            </a:r>
          </a:p>
        </p:txBody>
      </p:sp>
      <p:sp>
        <p:nvSpPr>
          <p:cNvPr id="34" name="TextBox 33"/>
          <p:cNvSpPr txBox="1"/>
          <p:nvPr/>
        </p:nvSpPr>
        <p:spPr>
          <a:xfrm>
            <a:off x="2999232" y="3300984"/>
            <a:ext cx="3566160" cy="320040"/>
          </a:xfrm>
          <a:prstGeom prst="rect">
            <a:avLst/>
          </a:prstGeom>
          <a:noFill/>
        </p:spPr>
        <p:txBody>
          <a:bodyPr wrap="square" lIns="18288" rIns="18288" tIns="9144" bIns="9144">
            <a:spAutoFit/>
          </a:bodyPr>
          <a:lstStyle/>
          <a:p>
            <a:pPr algn="l">
              <a:lnSpc>
                <a:spcPct val="110000"/>
              </a:lnSpc>
              <a:spcAft>
                <a:spcPts val="500"/>
              </a:spcAft>
            </a:pPr>
            <a:r>
              <a:rPr sz="1700" b="0" lang="en-US">
                <a:solidFill>
                  <a:srgbClr val="183A50"/>
                </a:solidFill>
                <a:latin typeface="Arial"/>
                <a:ea typeface="Microsoft YaHei"/>
              </a:rPr>
              <a:t>Different meanings of OK</a:t>
            </a:r>
          </a:p>
        </p:txBody>
      </p:sp>
      <p:sp>
        <p:nvSpPr>
          <p:cNvPr id="35" name="Rectangle 34"/>
          <p:cNvSpPr/>
          <p:nvPr/>
        </p:nvSpPr>
        <p:spPr>
          <a:xfrm>
            <a:off x="1773936" y="3758183"/>
            <a:ext cx="4937760" cy="448056"/>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892807" y="3822191"/>
            <a:ext cx="1042415" cy="292608"/>
          </a:xfrm>
          <a:prstGeom prst="rect">
            <a:avLst/>
          </a:prstGeom>
          <a:noFill/>
        </p:spPr>
        <p:txBody>
          <a:bodyPr wrap="square" lIns="18288" rIns="18288" tIns="9144" bIns="9144">
            <a:spAutoFit/>
          </a:bodyPr>
          <a:lstStyle/>
          <a:p>
            <a:pPr algn="l">
              <a:lnSpc>
                <a:spcPct val="110000"/>
              </a:lnSpc>
              <a:spcAft>
                <a:spcPts val="500"/>
              </a:spcAft>
            </a:pPr>
            <a:r>
              <a:rPr sz="1700" b="1" lang="en-US">
                <a:solidFill>
                  <a:srgbClr val="167D89"/>
                </a:solidFill>
                <a:latin typeface="Arial"/>
                <a:ea typeface="Microsoft YaHei"/>
              </a:rPr>
              <a:t>4 · C</a:t>
            </a:r>
          </a:p>
        </p:txBody>
      </p:sp>
      <p:sp>
        <p:nvSpPr>
          <p:cNvPr id="37" name="TextBox 36"/>
          <p:cNvSpPr txBox="1"/>
          <p:nvPr/>
        </p:nvSpPr>
        <p:spPr>
          <a:xfrm>
            <a:off x="2999232" y="3822191"/>
            <a:ext cx="3566160" cy="320040"/>
          </a:xfrm>
          <a:prstGeom prst="rect">
            <a:avLst/>
          </a:prstGeom>
          <a:noFill/>
        </p:spPr>
        <p:txBody>
          <a:bodyPr wrap="square" lIns="18288" rIns="18288" tIns="9144" bIns="9144">
            <a:spAutoFit/>
          </a:bodyPr>
          <a:lstStyle/>
          <a:p>
            <a:pPr algn="l">
              <a:lnSpc>
                <a:spcPct val="110000"/>
              </a:lnSpc>
              <a:spcAft>
                <a:spcPts val="500"/>
              </a:spcAft>
            </a:pPr>
            <a:r>
              <a:rPr sz="1700" b="0" lang="en-US">
                <a:solidFill>
                  <a:srgbClr val="183A50"/>
                </a:solidFill>
                <a:latin typeface="Arial"/>
                <a:ea typeface="Microsoft YaHei"/>
              </a:rPr>
              <a:t>Yes / no and greetings</a:t>
            </a:r>
          </a:p>
        </p:txBody>
      </p:sp>
      <p:sp>
        <p:nvSpPr>
          <p:cNvPr id="38" name="Rectangle 37"/>
          <p:cNvSpPr/>
          <p:nvPr/>
        </p:nvSpPr>
        <p:spPr>
          <a:xfrm>
            <a:off x="1773936" y="4279392"/>
            <a:ext cx="4937760" cy="448056"/>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892807" y="4343400"/>
            <a:ext cx="1042415" cy="292608"/>
          </a:xfrm>
          <a:prstGeom prst="rect">
            <a:avLst/>
          </a:prstGeom>
          <a:noFill/>
        </p:spPr>
        <p:txBody>
          <a:bodyPr wrap="square" lIns="18288" rIns="18288" tIns="9144" bIns="9144">
            <a:spAutoFit/>
          </a:bodyPr>
          <a:lstStyle/>
          <a:p>
            <a:pPr algn="l">
              <a:lnSpc>
                <a:spcPct val="110000"/>
              </a:lnSpc>
              <a:spcAft>
                <a:spcPts val="500"/>
              </a:spcAft>
            </a:pPr>
            <a:r>
              <a:rPr sz="1700" b="1" lang="en-US">
                <a:solidFill>
                  <a:srgbClr val="167D89"/>
                </a:solidFill>
                <a:latin typeface="Arial"/>
                <a:ea typeface="Microsoft YaHei"/>
              </a:rPr>
              <a:t>5 · D</a:t>
            </a:r>
          </a:p>
        </p:txBody>
      </p:sp>
      <p:sp>
        <p:nvSpPr>
          <p:cNvPr id="40" name="TextBox 39"/>
          <p:cNvSpPr txBox="1"/>
          <p:nvPr/>
        </p:nvSpPr>
        <p:spPr>
          <a:xfrm>
            <a:off x="2999232" y="4343400"/>
            <a:ext cx="3566160" cy="320040"/>
          </a:xfrm>
          <a:prstGeom prst="rect">
            <a:avLst/>
          </a:prstGeom>
          <a:noFill/>
        </p:spPr>
        <p:txBody>
          <a:bodyPr wrap="square" lIns="18288" rIns="18288" tIns="9144" bIns="9144">
            <a:spAutoFit/>
          </a:bodyPr>
          <a:lstStyle/>
          <a:p>
            <a:pPr algn="l">
              <a:lnSpc>
                <a:spcPct val="110000"/>
              </a:lnSpc>
              <a:spcAft>
                <a:spcPts val="500"/>
              </a:spcAft>
            </a:pPr>
            <a:r>
              <a:rPr sz="1700" b="0" lang="en-US">
                <a:solidFill>
                  <a:srgbClr val="183A50"/>
                </a:solidFill>
                <a:latin typeface="Arial"/>
                <a:ea typeface="Microsoft YaHei"/>
              </a:rPr>
              <a:t>Shared examples</a:t>
            </a:r>
          </a:p>
        </p:txBody>
      </p:sp>
      <p:sp>
        <p:nvSpPr>
          <p:cNvPr id="41" name="Rectangle 40"/>
          <p:cNvSpPr/>
          <p:nvPr/>
        </p:nvSpPr>
        <p:spPr>
          <a:xfrm>
            <a:off x="1773936" y="4800600"/>
            <a:ext cx="4937760" cy="448056"/>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892807" y="4864608"/>
            <a:ext cx="1042415" cy="292608"/>
          </a:xfrm>
          <a:prstGeom prst="rect">
            <a:avLst/>
          </a:prstGeom>
          <a:noFill/>
        </p:spPr>
        <p:txBody>
          <a:bodyPr wrap="square" lIns="18288" rIns="18288" tIns="9144" bIns="9144">
            <a:spAutoFit/>
          </a:bodyPr>
          <a:lstStyle/>
          <a:p>
            <a:pPr algn="l">
              <a:lnSpc>
                <a:spcPct val="110000"/>
              </a:lnSpc>
              <a:spcAft>
                <a:spcPts val="500"/>
              </a:spcAft>
            </a:pPr>
            <a:r>
              <a:rPr sz="1700" b="1" lang="en-US">
                <a:solidFill>
                  <a:srgbClr val="167D89"/>
                </a:solidFill>
                <a:latin typeface="Arial"/>
                <a:ea typeface="Microsoft YaHei"/>
              </a:rPr>
              <a:t>6 · E</a:t>
            </a:r>
          </a:p>
        </p:txBody>
      </p:sp>
      <p:sp>
        <p:nvSpPr>
          <p:cNvPr id="43" name="TextBox 42"/>
          <p:cNvSpPr txBox="1"/>
          <p:nvPr/>
        </p:nvSpPr>
        <p:spPr>
          <a:xfrm>
            <a:off x="2999232" y="4864608"/>
            <a:ext cx="3566160" cy="320040"/>
          </a:xfrm>
          <a:prstGeom prst="rect">
            <a:avLst/>
          </a:prstGeom>
          <a:noFill/>
        </p:spPr>
        <p:txBody>
          <a:bodyPr wrap="square" lIns="18288" rIns="18288" tIns="9144" bIns="9144">
            <a:spAutoFit/>
          </a:bodyPr>
          <a:lstStyle/>
          <a:p>
            <a:pPr algn="l">
              <a:lnSpc>
                <a:spcPct val="110000"/>
              </a:lnSpc>
              <a:spcAft>
                <a:spcPts val="500"/>
              </a:spcAft>
            </a:pPr>
            <a:r>
              <a:rPr sz="1700" b="0" lang="en-US">
                <a:solidFill>
                  <a:srgbClr val="183A50"/>
                </a:solidFill>
                <a:latin typeface="Arial"/>
                <a:ea typeface="Microsoft YaHei"/>
              </a:rPr>
              <a:t>Multiple uses</a:t>
            </a:r>
          </a:p>
        </p:txBody>
      </p:sp>
      <p:sp>
        <p:nvSpPr>
          <p:cNvPr id="44" name="Rectangle 43"/>
          <p:cNvSpPr/>
          <p:nvPr/>
        </p:nvSpPr>
        <p:spPr>
          <a:xfrm>
            <a:off x="7114032" y="2276856"/>
            <a:ext cx="4297680" cy="612648"/>
          </a:xfrm>
          <a:prstGeom prst="rect">
            <a:avLst/>
          </a:prstGeom>
          <a:solidFill>
            <a:srgbClr val="E7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269480" y="2423160"/>
            <a:ext cx="3986784" cy="347472"/>
          </a:xfrm>
          <a:prstGeom prst="rect">
            <a:avLst/>
          </a:prstGeom>
          <a:noFill/>
        </p:spPr>
        <p:txBody>
          <a:bodyPr wrap="square" lIns="18288" rIns="18288" tIns="9144" bIns="9144">
            <a:spAutoFit/>
          </a:bodyPr>
          <a:lstStyle/>
          <a:p>
            <a:pPr algn="l">
              <a:lnSpc>
                <a:spcPct val="110000"/>
              </a:lnSpc>
              <a:spcAft>
                <a:spcPts val="500"/>
              </a:spcAft>
            </a:pPr>
            <a:r>
              <a:rPr sz="2200" b="1" lang="en-US">
                <a:solidFill>
                  <a:srgbClr val="167D89"/>
                </a:solidFill>
                <a:latin typeface="Arial"/>
                <a:ea typeface="Microsoft YaHei"/>
              </a:rPr>
              <a:t>P1   Introduction</a:t>
            </a:r>
          </a:p>
        </p:txBody>
      </p:sp>
      <p:sp>
        <p:nvSpPr>
          <p:cNvPr id="46" name="Rectangle 45"/>
          <p:cNvSpPr/>
          <p:nvPr/>
        </p:nvSpPr>
        <p:spPr>
          <a:xfrm>
            <a:off x="7114032" y="3035808"/>
            <a:ext cx="4297680" cy="612648"/>
          </a:xfrm>
          <a:prstGeom prst="rect">
            <a:avLst/>
          </a:prstGeom>
          <a:solidFill>
            <a:srgbClr val="E7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69480" y="3182112"/>
            <a:ext cx="3986784" cy="347472"/>
          </a:xfrm>
          <a:prstGeom prst="rect">
            <a:avLst/>
          </a:prstGeom>
          <a:noFill/>
        </p:spPr>
        <p:txBody>
          <a:bodyPr wrap="square" lIns="18288" rIns="18288" tIns="9144" bIns="9144">
            <a:spAutoFit/>
          </a:bodyPr>
          <a:lstStyle/>
          <a:p>
            <a:pPr algn="l">
              <a:lnSpc>
                <a:spcPct val="110000"/>
              </a:lnSpc>
              <a:spcAft>
                <a:spcPts val="500"/>
              </a:spcAft>
            </a:pPr>
            <a:r>
              <a:rPr sz="2200" b="1" lang="en-US">
                <a:solidFill>
                  <a:srgbClr val="167D89"/>
                </a:solidFill>
                <a:latin typeface="Arial"/>
                <a:ea typeface="Microsoft YaHei"/>
              </a:rPr>
              <a:t>P2–4   Differences</a:t>
            </a:r>
          </a:p>
        </p:txBody>
      </p:sp>
      <p:sp>
        <p:nvSpPr>
          <p:cNvPr id="48" name="Rectangle 47"/>
          <p:cNvSpPr/>
          <p:nvPr/>
        </p:nvSpPr>
        <p:spPr>
          <a:xfrm>
            <a:off x="7114032" y="3794760"/>
            <a:ext cx="4297680" cy="612648"/>
          </a:xfrm>
          <a:prstGeom prst="rect">
            <a:avLst/>
          </a:prstGeom>
          <a:solidFill>
            <a:srgbClr val="E7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269480" y="3941064"/>
            <a:ext cx="3986784" cy="347472"/>
          </a:xfrm>
          <a:prstGeom prst="rect">
            <a:avLst/>
          </a:prstGeom>
          <a:noFill/>
        </p:spPr>
        <p:txBody>
          <a:bodyPr wrap="square" lIns="18288" rIns="18288" tIns="9144" bIns="9144">
            <a:spAutoFit/>
          </a:bodyPr>
          <a:lstStyle/>
          <a:p>
            <a:pPr algn="l">
              <a:lnSpc>
                <a:spcPct val="110000"/>
              </a:lnSpc>
              <a:spcAft>
                <a:spcPts val="500"/>
              </a:spcAft>
            </a:pPr>
            <a:r>
              <a:rPr sz="2200" b="1" lang="en-US">
                <a:solidFill>
                  <a:srgbClr val="167D89"/>
                </a:solidFill>
                <a:latin typeface="Arial"/>
                <a:ea typeface="Microsoft YaHei"/>
              </a:rPr>
              <a:t>P5   Similarities</a:t>
            </a:r>
          </a:p>
        </p:txBody>
      </p:sp>
      <p:sp>
        <p:nvSpPr>
          <p:cNvPr id="50" name="Rectangle 49"/>
          <p:cNvSpPr/>
          <p:nvPr/>
        </p:nvSpPr>
        <p:spPr>
          <a:xfrm>
            <a:off x="7114032" y="4553712"/>
            <a:ext cx="4297680" cy="612648"/>
          </a:xfrm>
          <a:prstGeom prst="rect">
            <a:avLst/>
          </a:prstGeom>
          <a:solidFill>
            <a:srgbClr val="E7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269480" y="4700016"/>
            <a:ext cx="3986784" cy="347472"/>
          </a:xfrm>
          <a:prstGeom prst="rect">
            <a:avLst/>
          </a:prstGeom>
          <a:noFill/>
        </p:spPr>
        <p:txBody>
          <a:bodyPr wrap="square" lIns="18288" rIns="18288" tIns="9144" bIns="9144">
            <a:spAutoFit/>
          </a:bodyPr>
          <a:lstStyle/>
          <a:p>
            <a:pPr algn="l">
              <a:lnSpc>
                <a:spcPct val="110000"/>
              </a:lnSpc>
              <a:spcAft>
                <a:spcPts val="500"/>
              </a:spcAft>
            </a:pPr>
            <a:r>
              <a:rPr sz="2200" b="1" lang="en-US">
                <a:solidFill>
                  <a:srgbClr val="167D89"/>
                </a:solidFill>
                <a:latin typeface="Arial"/>
                <a:ea typeface="Microsoft YaHei"/>
              </a:rPr>
              <a:t>P6   Different uses</a:t>
            </a:r>
          </a:p>
        </p:txBody>
      </p:sp>
      <p:sp>
        <p:nvSpPr>
          <p:cNvPr id="52" name="TextBox 51"/>
          <p:cNvSpPr txBox="1"/>
          <p:nvPr/>
        </p:nvSpPr>
        <p:spPr>
          <a:xfrm>
            <a:off x="1883664" y="5623560"/>
            <a:ext cx="9518904" cy="502920"/>
          </a:xfrm>
          <a:prstGeom prst="rect">
            <a:avLst/>
          </a:prstGeom>
          <a:noFill/>
        </p:spPr>
        <p:txBody>
          <a:bodyPr wrap="square" lIns="18288" rIns="18288" tIns="9144" bIns="9144">
            <a:spAutoFit/>
          </a:bodyPr>
          <a:lstStyle/>
          <a:p>
            <a:pPr algn="l">
              <a:lnSpc>
                <a:spcPct val="110000"/>
              </a:lnSpc>
              <a:spcAft>
                <a:spcPts val="500"/>
              </a:spcAft>
            </a:pPr>
            <a:r>
              <a:rPr sz="1600" b="0" lang="en-US">
                <a:solidFill>
                  <a:srgbClr val="526B78"/>
                </a:solidFill>
                <a:latin typeface="Arial"/>
                <a:ea typeface="Microsoft YaHei"/>
              </a:rPr>
              <a:t>B is a summary of P1, not its exact opening sentence.</a:t>
            </a:r>
          </a:p>
          <a:p>
            <a:pPr algn="l">
              <a:lnSpc>
                <a:spcPct val="110000"/>
              </a:lnSpc>
              <a:spcAft>
                <a:spcPts val="500"/>
              </a:spcAft>
            </a:pPr>
            <a:r>
              <a:rPr sz="1600" b="0" lang="en-US">
                <a:solidFill>
                  <a:srgbClr val="526B78"/>
                </a:solidFill>
                <a:latin typeface="Arial"/>
                <a:ea typeface="Microsoft YaHei"/>
              </a:rPr>
              <a:t>Use topic sentences to map the text; use examples to verify the ideas.</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3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3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3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3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fade">
                                      <p:cBhvr>
                                        <p:cTn id="27" dur="300"/>
                                        <p:tgtEl>
                                          <p:spTgt spid="4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300"/>
                                        <p:tgtEl>
                                          <p:spTgt spid="4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5"/>
                                        </p:tgtEl>
                                        <p:attrNameLst>
                                          <p:attrName>style.visibility</p:attrName>
                                        </p:attrNameLst>
                                      </p:cBhvr>
                                      <p:to>
                                        <p:strVal val="visible"/>
                                      </p:to>
                                    </p:set>
                                    <p:animEffect transition="in" filter="fade">
                                      <p:cBhvr>
                                        <p:cTn id="37" dur="300"/>
                                        <p:tgtEl>
                                          <p:spTgt spid="4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7"/>
                                        </p:tgtEl>
                                        <p:attrNameLst>
                                          <p:attrName>style.visibility</p:attrName>
                                        </p:attrNameLst>
                                      </p:cBhvr>
                                      <p:to>
                                        <p:strVal val="visible"/>
                                      </p:to>
                                    </p:set>
                                    <p:animEffect transition="in" filter="fade">
                                      <p:cBhvr>
                                        <p:cTn id="42" dur="300"/>
                                        <p:tgtEl>
                                          <p:spTgt spid="4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9"/>
                                        </p:tgtEl>
                                        <p:attrNameLst>
                                          <p:attrName>style.visibility</p:attrName>
                                        </p:attrNameLst>
                                      </p:cBhvr>
                                      <p:to>
                                        <p:strVal val="visible"/>
                                      </p:to>
                                    </p:set>
                                    <p:animEffect transition="in" filter="fade">
                                      <p:cBhvr>
                                        <p:cTn id="47" dur="300"/>
                                        <p:tgtEl>
                                          <p:spTgt spid="4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51"/>
                                        </p:tgtEl>
                                        <p:attrNameLst>
                                          <p:attrName>style.visibility</p:attrName>
                                        </p:attrNameLst>
                                      </p:cBhvr>
                                      <p:to>
                                        <p:strVal val="visible"/>
                                      </p:to>
                                    </p:set>
                                    <p:animEffect transition="in" filter="fade">
                                      <p:cBhvr>
                                        <p:cTn id="52" dur="3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1" grpId="0"/>
      <p:bldP spid="34" grpId="0"/>
      <p:bldP spid="37" grpId="0"/>
      <p:bldP spid="40" grpId="0"/>
      <p:bldP spid="43" grpId="0"/>
      <p:bldP spid="45" grpId="0"/>
      <p:bldP spid="47" grpId="0"/>
      <p:bldP spid="49" grpId="0"/>
      <p:bldP spid="51" grpId="0"/>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9FA"/>
        </a:solidFill>
        <a:effectLst/>
      </p:bgPr>
    </p:bg>
    <p:spTree>
      <p:nvGrpSpPr>
        <p:cNvPr id="1" name=""/>
        <p:cNvGrpSpPr/>
        <p:nvPr/>
      </p:nvGrpSpPr>
      <p:grpSpPr/>
      <p:sp>
        <p:nvSpPr>
          <p:cNvPr id="2" name="Rectangle 1"/>
          <p:cNvSpPr/>
          <p:nvPr/>
        </p:nvSpPr>
        <p:spPr>
          <a:xfrm>
            <a:off x="0" y="0"/>
            <a:ext cx="1325880" cy="6858000"/>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329184"/>
            <a:ext cx="896112" cy="457200"/>
          </a:xfrm>
          <a:prstGeom prst="rect">
            <a:avLst/>
          </a:prstGeom>
          <a:noFill/>
        </p:spPr>
        <p:txBody>
          <a:bodyPr wrap="square" lIns="18288" rIns="18288" tIns="9144" bIns="9144">
            <a:spAutoFit/>
          </a:bodyPr>
          <a:lstStyle/>
          <a:p>
            <a:pPr algn="l">
              <a:lnSpc>
                <a:spcPct val="110000"/>
              </a:lnSpc>
              <a:spcAft>
                <a:spcPts val="500"/>
              </a:spcAft>
            </a:pPr>
            <a:r>
              <a:rPr sz="1800" b="1" lang="en-US">
                <a:solidFill>
                  <a:srgbClr val="FFFFFF"/>
                </a:solidFill>
                <a:latin typeface="Arial"/>
                <a:ea typeface="Microsoft YaHei"/>
              </a:rPr>
              <a:t>UNIT 4</a:t>
            </a:r>
          </a:p>
        </p:txBody>
      </p:sp>
      <p:sp>
        <p:nvSpPr>
          <p:cNvPr id="4" name="TextBox 3"/>
          <p:cNvSpPr txBox="1"/>
          <p:nvPr/>
        </p:nvSpPr>
        <p:spPr>
          <a:xfrm>
            <a:off x="219456" y="868680"/>
            <a:ext cx="914400" cy="658368"/>
          </a:xfrm>
          <a:prstGeom prst="rect">
            <a:avLst/>
          </a:prstGeom>
          <a:noFill/>
        </p:spPr>
        <p:txBody>
          <a:bodyPr wrap="square" lIns="18288" rIns="18288" tIns="9144" bIns="9144">
            <a:spAutoFit/>
          </a:bodyPr>
          <a:lstStyle/>
          <a:p>
            <a:pPr algn="l">
              <a:lnSpc>
                <a:spcPct val="110000"/>
              </a:lnSpc>
              <a:spcAft>
                <a:spcPts val="500"/>
              </a:spcAft>
            </a:pPr>
            <a:r>
              <a:rPr sz="1200" b="1" lang="en-US">
                <a:solidFill>
                  <a:srgbClr val="93C3D4"/>
                </a:solidFill>
                <a:latin typeface="Arial"/>
                <a:ea typeface="Microsoft YaHei"/>
              </a:rPr>
              <a:t>READ</a:t>
            </a:r>
          </a:p>
          <a:p>
            <a:pPr algn="l">
              <a:lnSpc>
                <a:spcPct val="110000"/>
              </a:lnSpc>
              <a:spcAft>
                <a:spcPts val="500"/>
              </a:spcAft>
            </a:pPr>
            <a:r>
              <a:rPr sz="1200" b="1" lang="en-US">
                <a:solidFill>
                  <a:srgbClr val="93C3D4"/>
                </a:solidFill>
                <a:latin typeface="Arial"/>
                <a:ea typeface="Microsoft YaHei"/>
              </a:rPr>
              <a:t>&amp; THINK</a:t>
            </a:r>
          </a:p>
        </p:txBody>
      </p:sp>
      <p:sp>
        <p:nvSpPr>
          <p:cNvPr id="5" name="Rectangle 4">
            <a:hlinkClick action="ppaction://hlinksldjump" r:id="rId3"/>
          </p:cNvPr>
          <p:cNvSpPr/>
          <p:nvPr/>
        </p:nvSpPr>
        <p:spPr>
          <a:xfrm>
            <a:off x="109728" y="1874519"/>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146304" y="1933955"/>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说教材</a:t>
            </a:r>
          </a:p>
        </p:txBody>
      </p:sp>
      <p:sp>
        <p:nvSpPr>
          <p:cNvPr id="7" name="Rectangle 6">
            <a:hlinkClick action="ppaction://hlinksldjump" r:id="rId4"/>
          </p:cNvPr>
          <p:cNvSpPr/>
          <p:nvPr/>
        </p:nvSpPr>
        <p:spPr>
          <a:xfrm>
            <a:off x="109728" y="2441448"/>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46304" y="2500884"/>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说学情</a:t>
            </a:r>
          </a:p>
        </p:txBody>
      </p:sp>
      <p:sp>
        <p:nvSpPr>
          <p:cNvPr id="9" name="Rectangle 8">
            <a:hlinkClick action="ppaction://hlinksldjump" r:id="rId5"/>
          </p:cNvPr>
          <p:cNvSpPr/>
          <p:nvPr/>
        </p:nvSpPr>
        <p:spPr>
          <a:xfrm>
            <a:off x="109728" y="3008376"/>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46304" y="3067812"/>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说目标</a:t>
            </a:r>
          </a:p>
        </p:txBody>
      </p:sp>
      <p:sp>
        <p:nvSpPr>
          <p:cNvPr id="11" name="Rectangle 10">
            <a:hlinkClick action="ppaction://hlinksldjump" r:id="rId6"/>
          </p:cNvPr>
          <p:cNvSpPr/>
          <p:nvPr/>
        </p:nvSpPr>
        <p:spPr>
          <a:xfrm>
            <a:off x="109728" y="3575303"/>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6"/>
          </p:cNvPr>
          <p:cNvSpPr txBox="1"/>
          <p:nvPr/>
        </p:nvSpPr>
        <p:spPr>
          <a:xfrm>
            <a:off x="146304" y="3634739"/>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说重难</a:t>
            </a:r>
          </a:p>
        </p:txBody>
      </p:sp>
      <p:sp>
        <p:nvSpPr>
          <p:cNvPr id="13" name="Rectangle 12">
            <a:hlinkClick action="ppaction://hlinksldjump" r:id="rId7"/>
          </p:cNvPr>
          <p:cNvSpPr/>
          <p:nvPr/>
        </p:nvSpPr>
        <p:spPr>
          <a:xfrm>
            <a:off x="109728" y="4142231"/>
            <a:ext cx="1097280" cy="42976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7"/>
          </p:cNvPr>
          <p:cNvSpPr txBox="1"/>
          <p:nvPr/>
        </p:nvSpPr>
        <p:spPr>
          <a:xfrm>
            <a:off x="146304" y="4201668"/>
            <a:ext cx="1024128" cy="301752"/>
          </a:xfrm>
          <a:prstGeom prst="rect">
            <a:avLst/>
          </a:prstGeom>
          <a:noFill/>
        </p:spPr>
        <p:txBody>
          <a:bodyPr wrap="square" lIns="18288" rIns="18288" tIns="9144" bIns="9144">
            <a:spAutoFit/>
          </a:bodyPr>
          <a:lstStyle/>
          <a:p>
            <a:pPr algn="ctr">
              <a:lnSpc>
                <a:spcPct val="110000"/>
              </a:lnSpc>
              <a:spcAft>
                <a:spcPts val="500"/>
              </a:spcAft>
            </a:pPr>
            <a:r>
              <a:rPr sz="1500" b="1" lang="zh-CN">
                <a:solidFill>
                  <a:srgbClr val="FFFFFF"/>
                </a:solidFill>
                <a:latin typeface="Microsoft YaHei"/>
                <a:ea typeface="Microsoft YaHei"/>
              </a:rPr>
              <a:t>说过程</a:t>
            </a:r>
          </a:p>
        </p:txBody>
      </p:sp>
      <p:sp>
        <p:nvSpPr>
          <p:cNvPr id="15" name="Rectangle 14">
            <a:hlinkClick action="ppaction://hlinksldjump" r:id="rId8"/>
          </p:cNvPr>
          <p:cNvSpPr/>
          <p:nvPr/>
        </p:nvSpPr>
        <p:spPr>
          <a:xfrm>
            <a:off x="109728" y="4709160"/>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8"/>
          </p:cNvPr>
          <p:cNvSpPr txBox="1"/>
          <p:nvPr/>
        </p:nvSpPr>
        <p:spPr>
          <a:xfrm>
            <a:off x="146304" y="4768596"/>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说反思</a:t>
            </a:r>
          </a:p>
        </p:txBody>
      </p:sp>
      <p:sp>
        <p:nvSpPr>
          <p:cNvPr id="17" name="TextBox 16"/>
          <p:cNvSpPr txBox="1"/>
          <p:nvPr/>
        </p:nvSpPr>
        <p:spPr>
          <a:xfrm>
            <a:off x="210312" y="6062472"/>
            <a:ext cx="950976" cy="393192"/>
          </a:xfrm>
          <a:prstGeom prst="rect">
            <a:avLst/>
          </a:prstGeom>
          <a:noFill/>
        </p:spPr>
        <p:txBody>
          <a:bodyPr wrap="square" lIns="18288" rIns="18288" tIns="9144" bIns="9144">
            <a:spAutoFit/>
          </a:bodyPr>
          <a:lstStyle/>
          <a:p>
            <a:pPr algn="ctr">
              <a:lnSpc>
                <a:spcPct val="110000"/>
              </a:lnSpc>
              <a:spcAft>
                <a:spcPts val="500"/>
              </a:spcAft>
            </a:pPr>
            <a:r>
              <a:rPr sz="1300" b="0" lang="en-US">
                <a:solidFill>
                  <a:srgbClr val="BCD3DF"/>
                </a:solidFill>
                <a:latin typeface="Arial"/>
                <a:ea typeface="Microsoft YaHei"/>
              </a:rPr>
              <a:t>11 / 20</a:t>
            </a:r>
          </a:p>
        </p:txBody>
      </p:sp>
      <p:sp>
        <p:nvSpPr>
          <p:cNvPr id="18" name="Rectangle 17"/>
          <p:cNvSpPr/>
          <p:nvPr/>
        </p:nvSpPr>
        <p:spPr>
          <a:xfrm>
            <a:off x="1325880" y="0"/>
            <a:ext cx="10872216" cy="6858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00784" y="283464"/>
            <a:ext cx="7315200" cy="274320"/>
          </a:xfrm>
          <a:prstGeom prst="rect">
            <a:avLst/>
          </a:prstGeom>
          <a:noFill/>
        </p:spPr>
        <p:txBody>
          <a:bodyPr wrap="square" lIns="18288" rIns="18288" tIns="9144" bIns="9144">
            <a:spAutoFit/>
          </a:bodyPr>
          <a:lstStyle/>
          <a:p>
            <a:pPr algn="l">
              <a:lnSpc>
                <a:spcPct val="110000"/>
              </a:lnSpc>
              <a:spcAft>
                <a:spcPts val="500"/>
              </a:spcAft>
            </a:pPr>
            <a:r>
              <a:rPr sz="1100" b="1" lang="en-US">
                <a:solidFill>
                  <a:srgbClr val="167D89"/>
                </a:solidFill>
                <a:latin typeface="Arial"/>
                <a:ea typeface="Microsoft YaHei"/>
              </a:rPr>
              <a:t>BODY LANGUAGE   /   READING AND THINKING</a:t>
            </a:r>
          </a:p>
        </p:txBody>
      </p:sp>
      <p:sp>
        <p:nvSpPr>
          <p:cNvPr id="20" name="TextBox 19"/>
          <p:cNvSpPr txBox="1"/>
          <p:nvPr/>
        </p:nvSpPr>
        <p:spPr>
          <a:xfrm>
            <a:off x="9802368" y="283464"/>
            <a:ext cx="1920240" cy="274320"/>
          </a:xfrm>
          <a:prstGeom prst="rect">
            <a:avLst/>
          </a:prstGeom>
          <a:noFill/>
        </p:spPr>
        <p:txBody>
          <a:bodyPr wrap="square" lIns="18288" rIns="18288" tIns="9144" bIns="9144">
            <a:spAutoFit/>
          </a:bodyPr>
          <a:lstStyle/>
          <a:p>
            <a:pPr algn="r">
              <a:lnSpc>
                <a:spcPct val="110000"/>
              </a:lnSpc>
              <a:spcAft>
                <a:spcPts val="500"/>
              </a:spcAft>
            </a:pPr>
            <a:r>
              <a:rPr sz="1100" b="0" lang="en-US">
                <a:solidFill>
                  <a:srgbClr val="526B78"/>
                </a:solidFill>
                <a:latin typeface="Arial"/>
                <a:ea typeface="Microsoft YaHei"/>
              </a:rPr>
              <a:t>06:00–07:05</a:t>
            </a:r>
          </a:p>
        </p:txBody>
      </p:sp>
      <p:sp>
        <p:nvSpPr>
          <p:cNvPr id="21" name="TextBox 20"/>
          <p:cNvSpPr txBox="1"/>
          <p:nvPr/>
        </p:nvSpPr>
        <p:spPr>
          <a:xfrm>
            <a:off x="1691640" y="859536"/>
            <a:ext cx="10021824" cy="630936"/>
          </a:xfrm>
          <a:prstGeom prst="rect">
            <a:avLst/>
          </a:prstGeom>
          <a:noFill/>
        </p:spPr>
        <p:txBody>
          <a:bodyPr wrap="square" lIns="18288" rIns="18288" tIns="9144" bIns="9144">
            <a:spAutoFit/>
          </a:bodyPr>
          <a:lstStyle/>
          <a:p>
            <a:pPr algn="l">
              <a:lnSpc>
                <a:spcPct val="110000"/>
              </a:lnSpc>
              <a:spcAft>
                <a:spcPts val="500"/>
              </a:spcAft>
            </a:pPr>
            <a:r>
              <a:rPr sz="3000" b="1" lang="en-US">
                <a:solidFill>
                  <a:srgbClr val="183A50"/>
                </a:solidFill>
                <a:latin typeface="Arial"/>
                <a:ea typeface="Microsoft YaHei"/>
              </a:rPr>
              <a:t>Read P2: the same action, different meanings.</a:t>
            </a:r>
          </a:p>
        </p:txBody>
      </p:sp>
      <p:sp>
        <p:nvSpPr>
          <p:cNvPr id="22" name="TextBox 21"/>
          <p:cNvSpPr txBox="1"/>
          <p:nvPr/>
        </p:nvSpPr>
        <p:spPr>
          <a:xfrm>
            <a:off x="1719072" y="1545336"/>
            <a:ext cx="9921240" cy="521207"/>
          </a:xfrm>
          <a:prstGeom prst="rect">
            <a:avLst/>
          </a:prstGeom>
          <a:noFill/>
        </p:spPr>
        <p:txBody>
          <a:bodyPr wrap="square" lIns="18288" rIns="18288" tIns="9144" bIns="9144">
            <a:spAutoFit/>
          </a:bodyPr>
          <a:lstStyle/>
          <a:p>
            <a:pPr algn="l">
              <a:lnSpc>
                <a:spcPct val="110000"/>
              </a:lnSpc>
              <a:spcAft>
                <a:spcPts val="500"/>
              </a:spcAft>
            </a:pPr>
            <a:r>
              <a:rPr sz="1500" b="0" lang="en-US">
                <a:solidFill>
                  <a:srgbClr val="526B78"/>
                </a:solidFill>
                <a:latin typeface="Arial"/>
                <a:ea typeface="Microsoft YaHei"/>
              </a:rPr>
              <a:t>Record the gesture, meaning and context together.</a:t>
            </a:r>
          </a:p>
        </p:txBody>
      </p:sp>
      <p:sp>
        <p:nvSpPr>
          <p:cNvPr id="23" name="Rectangle 22"/>
          <p:cNvSpPr/>
          <p:nvPr/>
        </p:nvSpPr>
        <p:spPr>
          <a:xfrm>
            <a:off x="1719072" y="6400800"/>
            <a:ext cx="9985248" cy="10058"/>
          </a:xfrm>
          <a:prstGeom prst="rect">
            <a:avLst/>
          </a:prstGeom>
          <a:solidFill>
            <a:srgbClr val="C8D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37360" y="6492240"/>
            <a:ext cx="9784080" cy="228600"/>
          </a:xfrm>
          <a:prstGeom prst="rect">
            <a:avLst/>
          </a:prstGeom>
          <a:noFill/>
        </p:spPr>
        <p:txBody>
          <a:bodyPr wrap="square" lIns="18288" rIns="18288" tIns="9144" bIns="9144">
            <a:spAutoFit/>
          </a:bodyPr>
          <a:lstStyle/>
          <a:p>
            <a:pPr algn="l">
              <a:lnSpc>
                <a:spcPct val="110000"/>
              </a:lnSpc>
              <a:spcAft>
                <a:spcPts val="500"/>
              </a:spcAft>
            </a:pPr>
            <a:r>
              <a:rPr sz="1050" b="0" lang="zh-CN">
                <a:solidFill>
                  <a:srgbClr val="526B78"/>
                </a:solidFill>
                <a:latin typeface="Microsoft YaHei"/>
                <a:ea typeface="Microsoft YaHei"/>
              </a:rPr>
              <a:t>设计意图  示范三栏信息提取，保留原文限定条件</a:t>
            </a:r>
          </a:p>
        </p:txBody>
      </p:sp>
      <p:sp>
        <p:nvSpPr>
          <p:cNvPr id="25" name="Rectangle 24"/>
          <p:cNvSpPr/>
          <p:nvPr/>
        </p:nvSpPr>
        <p:spPr>
          <a:xfrm>
            <a:off x="1719072" y="6345936"/>
            <a:ext cx="5491886" cy="2286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773936" y="2176272"/>
            <a:ext cx="9701784" cy="960120"/>
          </a:xfrm>
          <a:prstGeom prst="rect">
            <a:avLst/>
          </a:prstGeom>
          <a:solidFill>
            <a:srgbClr val="E7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975104" y="2359152"/>
            <a:ext cx="9262872" cy="630936"/>
          </a:xfrm>
          <a:prstGeom prst="rect">
            <a:avLst/>
          </a:prstGeom>
          <a:noFill/>
        </p:spPr>
        <p:txBody>
          <a:bodyPr wrap="square" lIns="18288" rIns="18288" tIns="9144" bIns="9144">
            <a:spAutoFit/>
          </a:bodyPr>
          <a:lstStyle/>
          <a:p>
            <a:pPr algn="l">
              <a:lnSpc>
                <a:spcPct val="110000"/>
              </a:lnSpc>
              <a:spcAft>
                <a:spcPts val="500"/>
              </a:spcAft>
            </a:pPr>
            <a:r>
              <a:rPr sz="2300" b="0" lang="en-US">
                <a:solidFill>
                  <a:srgbClr val="183A50"/>
                </a:solidFill>
                <a:latin typeface="Arial"/>
                <a:ea typeface="Microsoft YaHei"/>
              </a:rPr>
              <a:t>“In Japan, it may demonstrate respect to look down</a:t>
            </a:r>
          </a:p>
          <a:p>
            <a:pPr algn="l">
              <a:lnSpc>
                <a:spcPct val="110000"/>
              </a:lnSpc>
              <a:spcAft>
                <a:spcPts val="500"/>
              </a:spcAft>
            </a:pPr>
            <a:r>
              <a:rPr sz="2300" b="0" lang="en-US">
                <a:solidFill>
                  <a:srgbClr val="183A50"/>
                </a:solidFill>
                <a:latin typeface="Arial"/>
                <a:ea typeface="Microsoft YaHei"/>
              </a:rPr>
              <a:t>when talking to an older person.”</a:t>
            </a:r>
          </a:p>
        </p:txBody>
      </p:sp>
      <p:sp>
        <p:nvSpPr>
          <p:cNvPr id="28" name="Rectangle 27"/>
          <p:cNvSpPr/>
          <p:nvPr/>
        </p:nvSpPr>
        <p:spPr>
          <a:xfrm>
            <a:off x="1773936" y="3383280"/>
            <a:ext cx="2615184" cy="41148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892807" y="3465576"/>
            <a:ext cx="2395728" cy="256032"/>
          </a:xfrm>
          <a:prstGeom prst="rect">
            <a:avLst/>
          </a:prstGeom>
          <a:noFill/>
        </p:spPr>
        <p:txBody>
          <a:bodyPr wrap="square" lIns="18288" rIns="18288" tIns="9144" bIns="9144">
            <a:spAutoFit/>
          </a:bodyPr>
          <a:lstStyle/>
          <a:p>
            <a:pPr algn="l">
              <a:lnSpc>
                <a:spcPct val="110000"/>
              </a:lnSpc>
              <a:spcAft>
                <a:spcPts val="500"/>
              </a:spcAft>
            </a:pPr>
            <a:r>
              <a:rPr sz="1300" b="1" lang="en-US">
                <a:solidFill>
                  <a:srgbClr val="FFFFFF"/>
                </a:solidFill>
                <a:latin typeface="Arial"/>
                <a:ea typeface="Microsoft YaHei"/>
              </a:rPr>
              <a:t>GESTURE</a:t>
            </a:r>
          </a:p>
        </p:txBody>
      </p:sp>
      <p:sp>
        <p:nvSpPr>
          <p:cNvPr id="30" name="Rectangle 29"/>
          <p:cNvSpPr/>
          <p:nvPr/>
        </p:nvSpPr>
        <p:spPr>
          <a:xfrm>
            <a:off x="4389120" y="3383280"/>
            <a:ext cx="2734056" cy="41148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07992" y="3465576"/>
            <a:ext cx="2514600" cy="256032"/>
          </a:xfrm>
          <a:prstGeom prst="rect">
            <a:avLst/>
          </a:prstGeom>
          <a:noFill/>
        </p:spPr>
        <p:txBody>
          <a:bodyPr wrap="square" lIns="18288" rIns="18288" tIns="9144" bIns="9144">
            <a:spAutoFit/>
          </a:bodyPr>
          <a:lstStyle/>
          <a:p>
            <a:pPr algn="l">
              <a:lnSpc>
                <a:spcPct val="110000"/>
              </a:lnSpc>
              <a:spcAft>
                <a:spcPts val="500"/>
              </a:spcAft>
            </a:pPr>
            <a:r>
              <a:rPr sz="1300" b="1" lang="en-US">
                <a:solidFill>
                  <a:srgbClr val="FFFFFF"/>
                </a:solidFill>
                <a:latin typeface="Arial"/>
                <a:ea typeface="Microsoft YaHei"/>
              </a:rPr>
              <a:t>MEANING</a:t>
            </a:r>
          </a:p>
        </p:txBody>
      </p:sp>
      <p:sp>
        <p:nvSpPr>
          <p:cNvPr id="32" name="Rectangle 31"/>
          <p:cNvSpPr/>
          <p:nvPr/>
        </p:nvSpPr>
        <p:spPr>
          <a:xfrm>
            <a:off x="7123176" y="3383280"/>
            <a:ext cx="4352544" cy="41148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42048" y="3465576"/>
            <a:ext cx="4133087" cy="256032"/>
          </a:xfrm>
          <a:prstGeom prst="rect">
            <a:avLst/>
          </a:prstGeom>
          <a:noFill/>
        </p:spPr>
        <p:txBody>
          <a:bodyPr wrap="square" lIns="18288" rIns="18288" tIns="9144" bIns="9144">
            <a:spAutoFit/>
          </a:bodyPr>
          <a:lstStyle/>
          <a:p>
            <a:pPr algn="l">
              <a:lnSpc>
                <a:spcPct val="110000"/>
              </a:lnSpc>
              <a:spcAft>
                <a:spcPts val="500"/>
              </a:spcAft>
            </a:pPr>
            <a:r>
              <a:rPr sz="1300" b="1" lang="en-US">
                <a:solidFill>
                  <a:srgbClr val="FFFFFF"/>
                </a:solidFill>
                <a:latin typeface="Arial"/>
                <a:ea typeface="Microsoft YaHei"/>
              </a:rPr>
              <a:t>CONTEXT IN THE PASSAGE</a:t>
            </a:r>
          </a:p>
        </p:txBody>
      </p:sp>
      <p:sp>
        <p:nvSpPr>
          <p:cNvPr id="34" name="Rectangle 33"/>
          <p:cNvSpPr/>
          <p:nvPr/>
        </p:nvSpPr>
        <p:spPr>
          <a:xfrm>
            <a:off x="1773936" y="3794760"/>
            <a:ext cx="2615184" cy="594360"/>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92807" y="3904488"/>
            <a:ext cx="2377439" cy="420624"/>
          </a:xfrm>
          <a:prstGeom prst="rect">
            <a:avLst/>
          </a:prstGeom>
          <a:noFill/>
        </p:spPr>
        <p:txBody>
          <a:bodyPr wrap="square" lIns="18288" rIns="18288" tIns="9144" bIns="9144">
            <a:spAutoFit/>
          </a:bodyPr>
          <a:lstStyle/>
          <a:p>
            <a:pPr algn="l">
              <a:lnSpc>
                <a:spcPct val="110000"/>
              </a:lnSpc>
              <a:spcAft>
                <a:spcPts val="500"/>
              </a:spcAft>
            </a:pPr>
            <a:r>
              <a:rPr sz="1700" b="0" lang="en-US">
                <a:solidFill>
                  <a:srgbClr val="183A50"/>
                </a:solidFill>
                <a:latin typeface="Arial"/>
                <a:ea typeface="Microsoft YaHei"/>
              </a:rPr>
              <a:t>Eye contact</a:t>
            </a:r>
          </a:p>
        </p:txBody>
      </p:sp>
      <p:sp>
        <p:nvSpPr>
          <p:cNvPr id="36" name="Rectangle 35"/>
          <p:cNvSpPr/>
          <p:nvPr/>
        </p:nvSpPr>
        <p:spPr>
          <a:xfrm>
            <a:off x="4389120" y="3794760"/>
            <a:ext cx="2734056" cy="594360"/>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07992" y="3904488"/>
            <a:ext cx="2496312" cy="420624"/>
          </a:xfrm>
          <a:prstGeom prst="rect">
            <a:avLst/>
          </a:prstGeom>
          <a:noFill/>
        </p:spPr>
        <p:txBody>
          <a:bodyPr wrap="square" lIns="18288" rIns="18288" tIns="9144" bIns="9144">
            <a:spAutoFit/>
          </a:bodyPr>
          <a:lstStyle/>
          <a:p>
            <a:pPr algn="l">
              <a:lnSpc>
                <a:spcPct val="110000"/>
              </a:lnSpc>
              <a:spcAft>
                <a:spcPts val="500"/>
              </a:spcAft>
            </a:pPr>
            <a:r>
              <a:rPr sz="1700" b="0" lang="en-US">
                <a:solidFill>
                  <a:srgbClr val="183A50"/>
                </a:solidFill>
                <a:latin typeface="Arial"/>
                <a:ea typeface="Microsoft YaHei"/>
              </a:rPr>
              <a:t>Displays interest</a:t>
            </a:r>
          </a:p>
        </p:txBody>
      </p:sp>
      <p:sp>
        <p:nvSpPr>
          <p:cNvPr id="38" name="Rectangle 37"/>
          <p:cNvSpPr/>
          <p:nvPr/>
        </p:nvSpPr>
        <p:spPr>
          <a:xfrm>
            <a:off x="7123176" y="3794760"/>
            <a:ext cx="4352544" cy="594360"/>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42048" y="3904488"/>
            <a:ext cx="4114800" cy="420624"/>
          </a:xfrm>
          <a:prstGeom prst="rect">
            <a:avLst/>
          </a:prstGeom>
          <a:noFill/>
        </p:spPr>
        <p:txBody>
          <a:bodyPr wrap="square" lIns="18288" rIns="18288" tIns="9144" bIns="9144">
            <a:spAutoFit/>
          </a:bodyPr>
          <a:lstStyle/>
          <a:p>
            <a:pPr algn="l">
              <a:lnSpc>
                <a:spcPct val="110000"/>
              </a:lnSpc>
              <a:spcAft>
                <a:spcPts val="500"/>
              </a:spcAft>
            </a:pPr>
            <a:r>
              <a:rPr sz="1700" b="0" lang="en-US">
                <a:solidFill>
                  <a:srgbClr val="183A50"/>
                </a:solidFill>
                <a:latin typeface="Arial"/>
                <a:ea typeface="Microsoft YaHei"/>
              </a:rPr>
              <a:t>Some countries (not named)</a:t>
            </a:r>
          </a:p>
        </p:txBody>
      </p:sp>
      <p:sp>
        <p:nvSpPr>
          <p:cNvPr id="40" name="Rectangle 39"/>
          <p:cNvSpPr/>
          <p:nvPr/>
        </p:nvSpPr>
        <p:spPr>
          <a:xfrm>
            <a:off x="1773936" y="4389120"/>
            <a:ext cx="2615184" cy="594360"/>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892807" y="4498848"/>
            <a:ext cx="2377439" cy="420624"/>
          </a:xfrm>
          <a:prstGeom prst="rect">
            <a:avLst/>
          </a:prstGeom>
          <a:noFill/>
        </p:spPr>
        <p:txBody>
          <a:bodyPr wrap="square" lIns="18288" rIns="18288" tIns="9144" bIns="9144">
            <a:spAutoFit/>
          </a:bodyPr>
          <a:lstStyle/>
          <a:p>
            <a:pPr algn="l">
              <a:lnSpc>
                <a:spcPct val="110000"/>
              </a:lnSpc>
              <a:spcAft>
                <a:spcPts val="500"/>
              </a:spcAft>
            </a:pPr>
            <a:r>
              <a:rPr sz="1700" b="0" lang="en-US">
                <a:solidFill>
                  <a:srgbClr val="183A50"/>
                </a:solidFill>
                <a:latin typeface="Arial"/>
                <a:ea typeface="Microsoft YaHei"/>
              </a:rPr>
              <a:t>Eye contact</a:t>
            </a:r>
          </a:p>
        </p:txBody>
      </p:sp>
      <p:sp>
        <p:nvSpPr>
          <p:cNvPr id="42" name="Rectangle 41"/>
          <p:cNvSpPr/>
          <p:nvPr/>
        </p:nvSpPr>
        <p:spPr>
          <a:xfrm>
            <a:off x="4389120" y="4389120"/>
            <a:ext cx="2734056" cy="594360"/>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07992" y="4498848"/>
            <a:ext cx="2496312" cy="420624"/>
          </a:xfrm>
          <a:prstGeom prst="rect">
            <a:avLst/>
          </a:prstGeom>
          <a:noFill/>
        </p:spPr>
        <p:txBody>
          <a:bodyPr wrap="square" lIns="18288" rIns="18288" tIns="9144" bIns="9144">
            <a:spAutoFit/>
          </a:bodyPr>
          <a:lstStyle/>
          <a:p>
            <a:pPr algn="l">
              <a:lnSpc>
                <a:spcPct val="110000"/>
              </a:lnSpc>
              <a:spcAft>
                <a:spcPts val="500"/>
              </a:spcAft>
            </a:pPr>
            <a:r>
              <a:rPr sz="1700" b="0" lang="en-US">
                <a:solidFill>
                  <a:srgbClr val="183A50"/>
                </a:solidFill>
                <a:latin typeface="Arial"/>
                <a:ea typeface="Microsoft YaHei"/>
              </a:rPr>
              <a:t>Not socially approved</a:t>
            </a:r>
          </a:p>
        </p:txBody>
      </p:sp>
      <p:sp>
        <p:nvSpPr>
          <p:cNvPr id="44" name="Rectangle 43"/>
          <p:cNvSpPr/>
          <p:nvPr/>
        </p:nvSpPr>
        <p:spPr>
          <a:xfrm>
            <a:off x="7123176" y="4389120"/>
            <a:ext cx="4352544" cy="594360"/>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242048" y="4498848"/>
            <a:ext cx="4114800" cy="420624"/>
          </a:xfrm>
          <a:prstGeom prst="rect">
            <a:avLst/>
          </a:prstGeom>
          <a:noFill/>
        </p:spPr>
        <p:txBody>
          <a:bodyPr wrap="square" lIns="18288" rIns="18288" tIns="9144" bIns="9144">
            <a:spAutoFit/>
          </a:bodyPr>
          <a:lstStyle/>
          <a:p>
            <a:pPr algn="l">
              <a:lnSpc>
                <a:spcPct val="110000"/>
              </a:lnSpc>
              <a:spcAft>
                <a:spcPts val="500"/>
              </a:spcAft>
            </a:pPr>
            <a:r>
              <a:rPr sz="1700" b="0" lang="en-US">
                <a:solidFill>
                  <a:srgbClr val="183A50"/>
                </a:solidFill>
                <a:latin typeface="Arial"/>
                <a:ea typeface="Microsoft YaHei"/>
              </a:rPr>
              <a:t>Men / women: stated Middle East example</a:t>
            </a:r>
          </a:p>
        </p:txBody>
      </p:sp>
      <p:sp>
        <p:nvSpPr>
          <p:cNvPr id="46" name="Rectangle 45"/>
          <p:cNvSpPr/>
          <p:nvPr/>
        </p:nvSpPr>
        <p:spPr>
          <a:xfrm>
            <a:off x="1773936" y="4983480"/>
            <a:ext cx="2615184" cy="594360"/>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892807" y="5093208"/>
            <a:ext cx="2377439" cy="420624"/>
          </a:xfrm>
          <a:prstGeom prst="rect">
            <a:avLst/>
          </a:prstGeom>
          <a:noFill/>
        </p:spPr>
        <p:txBody>
          <a:bodyPr wrap="square" lIns="18288" rIns="18288" tIns="9144" bIns="9144">
            <a:spAutoFit/>
          </a:bodyPr>
          <a:lstStyle/>
          <a:p>
            <a:pPr algn="l">
              <a:lnSpc>
                <a:spcPct val="110000"/>
              </a:lnSpc>
              <a:spcAft>
                <a:spcPts val="500"/>
              </a:spcAft>
            </a:pPr>
            <a:r>
              <a:rPr sz="1700" b="0" lang="en-US">
                <a:solidFill>
                  <a:srgbClr val="183A50"/>
                </a:solidFill>
                <a:latin typeface="Arial"/>
                <a:ea typeface="Microsoft YaHei"/>
              </a:rPr>
              <a:t>Looking down</a:t>
            </a:r>
          </a:p>
        </p:txBody>
      </p:sp>
      <p:sp>
        <p:nvSpPr>
          <p:cNvPr id="48" name="Rectangle 47"/>
          <p:cNvSpPr/>
          <p:nvPr/>
        </p:nvSpPr>
        <p:spPr>
          <a:xfrm>
            <a:off x="4389120" y="4983480"/>
            <a:ext cx="2734056" cy="594360"/>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07992" y="5093208"/>
            <a:ext cx="2496312" cy="420624"/>
          </a:xfrm>
          <a:prstGeom prst="rect">
            <a:avLst/>
          </a:prstGeom>
          <a:noFill/>
        </p:spPr>
        <p:txBody>
          <a:bodyPr wrap="square" lIns="18288" rIns="18288" tIns="9144" bIns="9144">
            <a:spAutoFit/>
          </a:bodyPr>
          <a:lstStyle/>
          <a:p>
            <a:pPr algn="l">
              <a:lnSpc>
                <a:spcPct val="110000"/>
              </a:lnSpc>
              <a:spcAft>
                <a:spcPts val="500"/>
              </a:spcAft>
            </a:pPr>
            <a:r>
              <a:rPr sz="1700" b="0" lang="en-US">
                <a:solidFill>
                  <a:srgbClr val="183A50"/>
                </a:solidFill>
                <a:latin typeface="Arial"/>
                <a:ea typeface="Microsoft YaHei"/>
              </a:rPr>
              <a:t>May show respect</a:t>
            </a:r>
          </a:p>
        </p:txBody>
      </p:sp>
      <p:sp>
        <p:nvSpPr>
          <p:cNvPr id="50" name="Rectangle 49"/>
          <p:cNvSpPr/>
          <p:nvPr/>
        </p:nvSpPr>
        <p:spPr>
          <a:xfrm>
            <a:off x="7123176" y="4983480"/>
            <a:ext cx="4352544" cy="594360"/>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242048" y="5093208"/>
            <a:ext cx="4114800" cy="420624"/>
          </a:xfrm>
          <a:prstGeom prst="rect">
            <a:avLst/>
          </a:prstGeom>
          <a:noFill/>
        </p:spPr>
        <p:txBody>
          <a:bodyPr wrap="square" lIns="18288" rIns="18288" tIns="9144" bIns="9144">
            <a:spAutoFit/>
          </a:bodyPr>
          <a:lstStyle/>
          <a:p>
            <a:pPr algn="l">
              <a:lnSpc>
                <a:spcPct val="110000"/>
              </a:lnSpc>
              <a:spcAft>
                <a:spcPts val="500"/>
              </a:spcAft>
            </a:pPr>
            <a:r>
              <a:rPr sz="1700" b="0" lang="en-US">
                <a:solidFill>
                  <a:srgbClr val="183A50"/>
                </a:solidFill>
                <a:latin typeface="Arial"/>
                <a:ea typeface="Microsoft YaHei"/>
              </a:rPr>
              <a:t>Japan: speaking to an older person</a:t>
            </a:r>
          </a:p>
        </p:txBody>
      </p:sp>
      <p:sp>
        <p:nvSpPr>
          <p:cNvPr id="52" name="TextBox 51"/>
          <p:cNvSpPr txBox="1"/>
          <p:nvPr/>
        </p:nvSpPr>
        <p:spPr>
          <a:xfrm>
            <a:off x="1911095" y="5806440"/>
            <a:ext cx="9326880" cy="384048"/>
          </a:xfrm>
          <a:prstGeom prst="rect">
            <a:avLst/>
          </a:prstGeom>
          <a:noFill/>
        </p:spPr>
        <p:txBody>
          <a:bodyPr wrap="square" lIns="18288" rIns="18288" tIns="9144" bIns="9144">
            <a:spAutoFit/>
          </a:bodyPr>
          <a:lstStyle/>
          <a:p>
            <a:pPr algn="l">
              <a:lnSpc>
                <a:spcPct val="110000"/>
              </a:lnSpc>
              <a:spcAft>
                <a:spcPts val="500"/>
              </a:spcAft>
            </a:pPr>
            <a:r>
              <a:rPr sz="1800" b="1" lang="en-US">
                <a:solidFill>
                  <a:srgbClr val="167D89"/>
                </a:solidFill>
                <a:latin typeface="Arial"/>
                <a:ea typeface="Microsoft YaHei"/>
              </a:rPr>
              <a:t>Does one cultural example describe every person?  Keep the context and “may”.</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3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3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fade">
                                      <p:cBhvr>
                                        <p:cTn id="17" dur="3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43" grpId="0"/>
      <p:bldP spid="49" grpId="0"/>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9FA"/>
        </a:solidFill>
        <a:effectLst/>
      </p:bgPr>
    </p:bg>
    <p:spTree>
      <p:nvGrpSpPr>
        <p:cNvPr id="1" name=""/>
        <p:cNvGrpSpPr/>
        <p:nvPr/>
      </p:nvGrpSpPr>
      <p:grpSpPr/>
      <p:sp>
        <p:nvSpPr>
          <p:cNvPr id="2" name="Rectangle 1"/>
          <p:cNvSpPr/>
          <p:nvPr/>
        </p:nvSpPr>
        <p:spPr>
          <a:xfrm>
            <a:off x="0" y="0"/>
            <a:ext cx="1325880" cy="6858000"/>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329184"/>
            <a:ext cx="896112" cy="457200"/>
          </a:xfrm>
          <a:prstGeom prst="rect">
            <a:avLst/>
          </a:prstGeom>
          <a:noFill/>
        </p:spPr>
        <p:txBody>
          <a:bodyPr wrap="square" lIns="18288" rIns="18288" tIns="9144" bIns="9144">
            <a:spAutoFit/>
          </a:bodyPr>
          <a:lstStyle/>
          <a:p>
            <a:pPr algn="l">
              <a:lnSpc>
                <a:spcPct val="110000"/>
              </a:lnSpc>
              <a:spcAft>
                <a:spcPts val="500"/>
              </a:spcAft>
            </a:pPr>
            <a:r>
              <a:rPr sz="1800" b="1" lang="en-US">
                <a:solidFill>
                  <a:srgbClr val="FFFFFF"/>
                </a:solidFill>
                <a:latin typeface="Arial"/>
                <a:ea typeface="Microsoft YaHei"/>
              </a:rPr>
              <a:t>UNIT 4</a:t>
            </a:r>
          </a:p>
        </p:txBody>
      </p:sp>
      <p:sp>
        <p:nvSpPr>
          <p:cNvPr id="4" name="TextBox 3"/>
          <p:cNvSpPr txBox="1"/>
          <p:nvPr/>
        </p:nvSpPr>
        <p:spPr>
          <a:xfrm>
            <a:off x="219456" y="868680"/>
            <a:ext cx="914400" cy="658368"/>
          </a:xfrm>
          <a:prstGeom prst="rect">
            <a:avLst/>
          </a:prstGeom>
          <a:noFill/>
        </p:spPr>
        <p:txBody>
          <a:bodyPr wrap="square" lIns="18288" rIns="18288" tIns="9144" bIns="9144">
            <a:spAutoFit/>
          </a:bodyPr>
          <a:lstStyle/>
          <a:p>
            <a:pPr algn="l">
              <a:lnSpc>
                <a:spcPct val="110000"/>
              </a:lnSpc>
              <a:spcAft>
                <a:spcPts val="500"/>
              </a:spcAft>
            </a:pPr>
            <a:r>
              <a:rPr sz="1200" b="1" lang="en-US">
                <a:solidFill>
                  <a:srgbClr val="93C3D4"/>
                </a:solidFill>
                <a:latin typeface="Arial"/>
                <a:ea typeface="Microsoft YaHei"/>
              </a:rPr>
              <a:t>READ</a:t>
            </a:r>
          </a:p>
          <a:p>
            <a:pPr algn="l">
              <a:lnSpc>
                <a:spcPct val="110000"/>
              </a:lnSpc>
              <a:spcAft>
                <a:spcPts val="500"/>
              </a:spcAft>
            </a:pPr>
            <a:r>
              <a:rPr sz="1200" b="1" lang="en-US">
                <a:solidFill>
                  <a:srgbClr val="93C3D4"/>
                </a:solidFill>
                <a:latin typeface="Arial"/>
                <a:ea typeface="Microsoft YaHei"/>
              </a:rPr>
              <a:t>&amp; THINK</a:t>
            </a:r>
          </a:p>
        </p:txBody>
      </p:sp>
      <p:sp>
        <p:nvSpPr>
          <p:cNvPr id="5" name="Rectangle 4">
            <a:hlinkClick action="ppaction://hlinksldjump" r:id="rId4"/>
          </p:cNvPr>
          <p:cNvSpPr/>
          <p:nvPr/>
        </p:nvSpPr>
        <p:spPr>
          <a:xfrm>
            <a:off x="109728" y="1874519"/>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4"/>
          </p:cNvPr>
          <p:cNvSpPr txBox="1"/>
          <p:nvPr/>
        </p:nvSpPr>
        <p:spPr>
          <a:xfrm>
            <a:off x="146304" y="1933955"/>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说教材</a:t>
            </a:r>
          </a:p>
        </p:txBody>
      </p:sp>
      <p:sp>
        <p:nvSpPr>
          <p:cNvPr id="7" name="Rectangle 6">
            <a:hlinkClick action="ppaction://hlinksldjump" r:id="rId5"/>
          </p:cNvPr>
          <p:cNvSpPr/>
          <p:nvPr/>
        </p:nvSpPr>
        <p:spPr>
          <a:xfrm>
            <a:off x="109728" y="2441448"/>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5"/>
          </p:cNvPr>
          <p:cNvSpPr txBox="1"/>
          <p:nvPr/>
        </p:nvSpPr>
        <p:spPr>
          <a:xfrm>
            <a:off x="146304" y="2500884"/>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说学情</a:t>
            </a:r>
          </a:p>
        </p:txBody>
      </p:sp>
      <p:sp>
        <p:nvSpPr>
          <p:cNvPr id="9" name="Rectangle 8">
            <a:hlinkClick action="ppaction://hlinksldjump" r:id="rId6"/>
          </p:cNvPr>
          <p:cNvSpPr/>
          <p:nvPr/>
        </p:nvSpPr>
        <p:spPr>
          <a:xfrm>
            <a:off x="109728" y="3008376"/>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6"/>
          </p:cNvPr>
          <p:cNvSpPr txBox="1"/>
          <p:nvPr/>
        </p:nvSpPr>
        <p:spPr>
          <a:xfrm>
            <a:off x="146304" y="3067812"/>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说目标</a:t>
            </a:r>
          </a:p>
        </p:txBody>
      </p:sp>
      <p:sp>
        <p:nvSpPr>
          <p:cNvPr id="11" name="Rectangle 10">
            <a:hlinkClick action="ppaction://hlinksldjump" r:id="rId7"/>
          </p:cNvPr>
          <p:cNvSpPr/>
          <p:nvPr/>
        </p:nvSpPr>
        <p:spPr>
          <a:xfrm>
            <a:off x="109728" y="3575303"/>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7"/>
          </p:cNvPr>
          <p:cNvSpPr txBox="1"/>
          <p:nvPr/>
        </p:nvSpPr>
        <p:spPr>
          <a:xfrm>
            <a:off x="146304" y="3634739"/>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说重难</a:t>
            </a:r>
          </a:p>
        </p:txBody>
      </p:sp>
      <p:sp>
        <p:nvSpPr>
          <p:cNvPr id="13" name="Rectangle 12">
            <a:hlinkClick action="ppaction://hlinksldjump" r:id="rId8"/>
          </p:cNvPr>
          <p:cNvSpPr/>
          <p:nvPr/>
        </p:nvSpPr>
        <p:spPr>
          <a:xfrm>
            <a:off x="109728" y="4142231"/>
            <a:ext cx="1097280" cy="42976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8"/>
          </p:cNvPr>
          <p:cNvSpPr txBox="1"/>
          <p:nvPr/>
        </p:nvSpPr>
        <p:spPr>
          <a:xfrm>
            <a:off x="146304" y="4201668"/>
            <a:ext cx="1024128" cy="301752"/>
          </a:xfrm>
          <a:prstGeom prst="rect">
            <a:avLst/>
          </a:prstGeom>
          <a:noFill/>
        </p:spPr>
        <p:txBody>
          <a:bodyPr wrap="square" lIns="18288" rIns="18288" tIns="9144" bIns="9144">
            <a:spAutoFit/>
          </a:bodyPr>
          <a:lstStyle/>
          <a:p>
            <a:pPr algn="ctr">
              <a:lnSpc>
                <a:spcPct val="110000"/>
              </a:lnSpc>
              <a:spcAft>
                <a:spcPts val="500"/>
              </a:spcAft>
            </a:pPr>
            <a:r>
              <a:rPr sz="1500" b="1" lang="zh-CN">
                <a:solidFill>
                  <a:srgbClr val="FFFFFF"/>
                </a:solidFill>
                <a:latin typeface="Microsoft YaHei"/>
                <a:ea typeface="Microsoft YaHei"/>
              </a:rPr>
              <a:t>说过程</a:t>
            </a:r>
          </a:p>
        </p:txBody>
      </p:sp>
      <p:sp>
        <p:nvSpPr>
          <p:cNvPr id="15" name="Rectangle 14">
            <a:hlinkClick action="ppaction://hlinksldjump" r:id="rId9"/>
          </p:cNvPr>
          <p:cNvSpPr/>
          <p:nvPr/>
        </p:nvSpPr>
        <p:spPr>
          <a:xfrm>
            <a:off x="109728" y="4709160"/>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9"/>
          </p:cNvPr>
          <p:cNvSpPr txBox="1"/>
          <p:nvPr/>
        </p:nvSpPr>
        <p:spPr>
          <a:xfrm>
            <a:off x="146304" y="4768596"/>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说反思</a:t>
            </a:r>
          </a:p>
        </p:txBody>
      </p:sp>
      <p:sp>
        <p:nvSpPr>
          <p:cNvPr id="17" name="TextBox 16"/>
          <p:cNvSpPr txBox="1"/>
          <p:nvPr/>
        </p:nvSpPr>
        <p:spPr>
          <a:xfrm>
            <a:off x="210312" y="6062472"/>
            <a:ext cx="950976" cy="393192"/>
          </a:xfrm>
          <a:prstGeom prst="rect">
            <a:avLst/>
          </a:prstGeom>
          <a:noFill/>
        </p:spPr>
        <p:txBody>
          <a:bodyPr wrap="square" lIns="18288" rIns="18288" tIns="9144" bIns="9144">
            <a:spAutoFit/>
          </a:bodyPr>
          <a:lstStyle/>
          <a:p>
            <a:pPr algn="ctr">
              <a:lnSpc>
                <a:spcPct val="110000"/>
              </a:lnSpc>
              <a:spcAft>
                <a:spcPts val="500"/>
              </a:spcAft>
            </a:pPr>
            <a:r>
              <a:rPr sz="1300" b="0" lang="en-US">
                <a:solidFill>
                  <a:srgbClr val="BCD3DF"/>
                </a:solidFill>
                <a:latin typeface="Arial"/>
                <a:ea typeface="Microsoft YaHei"/>
              </a:rPr>
              <a:t>12 / 20</a:t>
            </a:r>
          </a:p>
        </p:txBody>
      </p:sp>
      <p:sp>
        <p:nvSpPr>
          <p:cNvPr id="18" name="Rectangle 17"/>
          <p:cNvSpPr/>
          <p:nvPr/>
        </p:nvSpPr>
        <p:spPr>
          <a:xfrm>
            <a:off x="1325880" y="0"/>
            <a:ext cx="10872216" cy="6858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00784" y="283464"/>
            <a:ext cx="7315200" cy="274320"/>
          </a:xfrm>
          <a:prstGeom prst="rect">
            <a:avLst/>
          </a:prstGeom>
          <a:noFill/>
        </p:spPr>
        <p:txBody>
          <a:bodyPr wrap="square" lIns="18288" rIns="18288" tIns="9144" bIns="9144">
            <a:spAutoFit/>
          </a:bodyPr>
          <a:lstStyle/>
          <a:p>
            <a:pPr algn="l">
              <a:lnSpc>
                <a:spcPct val="110000"/>
              </a:lnSpc>
              <a:spcAft>
                <a:spcPts val="500"/>
              </a:spcAft>
            </a:pPr>
            <a:r>
              <a:rPr sz="1100" b="1" lang="en-US">
                <a:solidFill>
                  <a:srgbClr val="167D89"/>
                </a:solidFill>
                <a:latin typeface="Arial"/>
                <a:ea typeface="Microsoft YaHei"/>
              </a:rPr>
              <a:t>BODY LANGUAGE   /   READING AND THINKING</a:t>
            </a:r>
          </a:p>
        </p:txBody>
      </p:sp>
      <p:sp>
        <p:nvSpPr>
          <p:cNvPr id="20" name="TextBox 19"/>
          <p:cNvSpPr txBox="1"/>
          <p:nvPr/>
        </p:nvSpPr>
        <p:spPr>
          <a:xfrm>
            <a:off x="9802368" y="283464"/>
            <a:ext cx="1920240" cy="274320"/>
          </a:xfrm>
          <a:prstGeom prst="rect">
            <a:avLst/>
          </a:prstGeom>
          <a:noFill/>
        </p:spPr>
        <p:txBody>
          <a:bodyPr wrap="square" lIns="18288" rIns="18288" tIns="9144" bIns="9144">
            <a:spAutoFit/>
          </a:bodyPr>
          <a:lstStyle/>
          <a:p>
            <a:pPr algn="r">
              <a:lnSpc>
                <a:spcPct val="110000"/>
              </a:lnSpc>
              <a:spcAft>
                <a:spcPts val="500"/>
              </a:spcAft>
            </a:pPr>
            <a:r>
              <a:rPr sz="1100" b="0" lang="en-US">
                <a:solidFill>
                  <a:srgbClr val="526B78"/>
                </a:solidFill>
                <a:latin typeface="Arial"/>
                <a:ea typeface="Microsoft YaHei"/>
              </a:rPr>
              <a:t>07:05–08:00</a:t>
            </a:r>
          </a:p>
        </p:txBody>
      </p:sp>
      <p:sp>
        <p:nvSpPr>
          <p:cNvPr id="21" name="TextBox 20"/>
          <p:cNvSpPr txBox="1"/>
          <p:nvPr/>
        </p:nvSpPr>
        <p:spPr>
          <a:xfrm>
            <a:off x="1691640" y="859536"/>
            <a:ext cx="10021824" cy="630936"/>
          </a:xfrm>
          <a:prstGeom prst="rect">
            <a:avLst/>
          </a:prstGeom>
          <a:noFill/>
        </p:spPr>
        <p:txBody>
          <a:bodyPr wrap="square" lIns="18288" rIns="18288" tIns="9144" bIns="9144">
            <a:spAutoFit/>
          </a:bodyPr>
          <a:lstStyle/>
          <a:p>
            <a:pPr algn="l">
              <a:lnSpc>
                <a:spcPct val="110000"/>
              </a:lnSpc>
              <a:spcAft>
                <a:spcPts val="500"/>
              </a:spcAft>
            </a:pPr>
            <a:r>
              <a:rPr sz="3000" b="1" lang="en-US">
                <a:solidFill>
                  <a:srgbClr val="183A50"/>
                </a:solidFill>
                <a:latin typeface="Arial"/>
                <a:ea typeface="Microsoft YaHei"/>
              </a:rPr>
              <a:t>Read P3–4: compare, rather than guess.</a:t>
            </a:r>
          </a:p>
        </p:txBody>
      </p:sp>
      <p:sp>
        <p:nvSpPr>
          <p:cNvPr id="22" name="TextBox 21"/>
          <p:cNvSpPr txBox="1"/>
          <p:nvPr/>
        </p:nvSpPr>
        <p:spPr>
          <a:xfrm>
            <a:off x="1719072" y="1545336"/>
            <a:ext cx="9921240" cy="521207"/>
          </a:xfrm>
          <a:prstGeom prst="rect">
            <a:avLst/>
          </a:prstGeom>
          <a:noFill/>
        </p:spPr>
        <p:txBody>
          <a:bodyPr wrap="square" lIns="18288" rIns="18288" tIns="9144" bIns="9144">
            <a:spAutoFit/>
          </a:bodyPr>
          <a:lstStyle/>
          <a:p>
            <a:pPr algn="l">
              <a:lnSpc>
                <a:spcPct val="110000"/>
              </a:lnSpc>
              <a:spcAft>
                <a:spcPts val="500"/>
              </a:spcAft>
            </a:pPr>
            <a:r>
              <a:rPr sz="1500" b="0" lang="en-US">
                <a:solidFill>
                  <a:srgbClr val="526B78"/>
                </a:solidFill>
                <a:latin typeface="Arial"/>
                <a:ea typeface="Microsoft YaHei"/>
              </a:rPr>
              <a:t>These are examples in the passage; meanings depend on context.</a:t>
            </a:r>
          </a:p>
        </p:txBody>
      </p:sp>
      <p:sp>
        <p:nvSpPr>
          <p:cNvPr id="23" name="Rectangle 22"/>
          <p:cNvSpPr/>
          <p:nvPr/>
        </p:nvSpPr>
        <p:spPr>
          <a:xfrm>
            <a:off x="1719072" y="6400800"/>
            <a:ext cx="9985248" cy="10058"/>
          </a:xfrm>
          <a:prstGeom prst="rect">
            <a:avLst/>
          </a:prstGeom>
          <a:solidFill>
            <a:srgbClr val="C8D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37360" y="6492240"/>
            <a:ext cx="9784080" cy="228600"/>
          </a:xfrm>
          <a:prstGeom prst="rect">
            <a:avLst/>
          </a:prstGeom>
          <a:noFill/>
        </p:spPr>
        <p:txBody>
          <a:bodyPr wrap="square" lIns="18288" rIns="18288" tIns="9144" bIns="9144">
            <a:spAutoFit/>
          </a:bodyPr>
          <a:lstStyle/>
          <a:p>
            <a:pPr algn="l">
              <a:lnSpc>
                <a:spcPct val="110000"/>
              </a:lnSpc>
              <a:spcAft>
                <a:spcPts val="500"/>
              </a:spcAft>
            </a:pPr>
            <a:r>
              <a:rPr sz="1050" b="0" lang="zh-CN">
                <a:solidFill>
                  <a:srgbClr val="526B78"/>
                </a:solidFill>
                <a:latin typeface="Microsoft YaHei"/>
                <a:ea typeface="Microsoft YaHei"/>
              </a:rPr>
              <a:t>设计意图  将同一动作的不同意义并置比较</a:t>
            </a:r>
          </a:p>
        </p:txBody>
      </p:sp>
      <p:sp>
        <p:nvSpPr>
          <p:cNvPr id="25" name="Rectangle 24"/>
          <p:cNvSpPr/>
          <p:nvPr/>
        </p:nvSpPr>
        <p:spPr>
          <a:xfrm>
            <a:off x="1719072" y="6345936"/>
            <a:ext cx="5991148" cy="2286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s6_3.png"/>
          <p:cNvPicPr>
            <a:picLocks noChangeAspect="1"/>
          </p:cNvPicPr>
          <p:nvPr/>
        </p:nvPicPr>
        <p:blipFill>
          <a:blip r:embed="rId3"/>
          <a:stretch>
            <a:fillRect/>
          </a:stretch>
        </p:blipFill>
        <p:spPr>
          <a:xfrm>
            <a:off x="1792224" y="2286000"/>
            <a:ext cx="1389888" cy="2148840"/>
          </a:xfrm>
          <a:prstGeom prst="rect">
            <a:avLst/>
          </a:prstGeom>
        </p:spPr>
      </p:pic>
      <p:sp>
        <p:nvSpPr>
          <p:cNvPr id="27" name="TextBox 26"/>
          <p:cNvSpPr txBox="1"/>
          <p:nvPr/>
        </p:nvSpPr>
        <p:spPr>
          <a:xfrm>
            <a:off x="1746504" y="4663440"/>
            <a:ext cx="1600200" cy="548640"/>
          </a:xfrm>
          <a:prstGeom prst="rect">
            <a:avLst/>
          </a:prstGeom>
          <a:noFill/>
        </p:spPr>
        <p:txBody>
          <a:bodyPr wrap="square" lIns="18288" rIns="18288" tIns="9144" bIns="9144">
            <a:spAutoFit/>
          </a:bodyPr>
          <a:lstStyle/>
          <a:p>
            <a:pPr algn="ctr">
              <a:lnSpc>
                <a:spcPct val="110000"/>
              </a:lnSpc>
              <a:spcAft>
                <a:spcPts val="500"/>
              </a:spcAft>
            </a:pPr>
            <a:r>
              <a:rPr sz="1800" b="1" lang="en-US">
                <a:solidFill>
                  <a:srgbClr val="167D89"/>
                </a:solidFill>
                <a:latin typeface="Arial"/>
                <a:ea typeface="Microsoft YaHei"/>
              </a:rPr>
              <a:t>The OK sign</a:t>
            </a:r>
          </a:p>
        </p:txBody>
      </p:sp>
      <p:sp>
        <p:nvSpPr>
          <p:cNvPr id="28" name="Rectangle 27"/>
          <p:cNvSpPr/>
          <p:nvPr/>
        </p:nvSpPr>
        <p:spPr>
          <a:xfrm>
            <a:off x="3639312" y="2258568"/>
            <a:ext cx="7808975" cy="630936"/>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22191" y="2395728"/>
            <a:ext cx="2953512" cy="365760"/>
          </a:xfrm>
          <a:prstGeom prst="rect">
            <a:avLst/>
          </a:prstGeom>
          <a:noFill/>
        </p:spPr>
        <p:txBody>
          <a:bodyPr wrap="square" lIns="18288" rIns="18288" tIns="9144" bIns="9144">
            <a:spAutoFit/>
          </a:bodyPr>
          <a:lstStyle/>
          <a:p>
            <a:pPr algn="l">
              <a:lnSpc>
                <a:spcPct val="110000"/>
              </a:lnSpc>
              <a:spcAft>
                <a:spcPts val="500"/>
              </a:spcAft>
            </a:pPr>
            <a:r>
              <a:rPr sz="2200" b="1" lang="en-US">
                <a:solidFill>
                  <a:srgbClr val="167D89"/>
                </a:solidFill>
                <a:latin typeface="Arial"/>
                <a:ea typeface="Microsoft YaHei"/>
              </a:rPr>
              <a:t>Japan</a:t>
            </a:r>
          </a:p>
        </p:txBody>
      </p:sp>
      <p:sp>
        <p:nvSpPr>
          <p:cNvPr id="30" name="TextBox 29"/>
          <p:cNvSpPr txBox="1"/>
          <p:nvPr/>
        </p:nvSpPr>
        <p:spPr>
          <a:xfrm>
            <a:off x="7104888" y="2395728"/>
            <a:ext cx="4133087" cy="365760"/>
          </a:xfrm>
          <a:prstGeom prst="rect">
            <a:avLst/>
          </a:prstGeom>
          <a:noFill/>
        </p:spPr>
        <p:txBody>
          <a:bodyPr wrap="square" lIns="18288" rIns="18288" tIns="9144" bIns="9144">
            <a:spAutoFit/>
          </a:bodyPr>
          <a:lstStyle/>
          <a:p>
            <a:pPr algn="l">
              <a:lnSpc>
                <a:spcPct val="110000"/>
              </a:lnSpc>
              <a:spcAft>
                <a:spcPts val="500"/>
              </a:spcAft>
            </a:pPr>
            <a:r>
              <a:rPr sz="2200" b="0" lang="en-US">
                <a:solidFill>
                  <a:srgbClr val="183A50"/>
                </a:solidFill>
                <a:latin typeface="Arial"/>
                <a:ea typeface="Microsoft YaHei"/>
              </a:rPr>
              <a:t>Money</a:t>
            </a:r>
          </a:p>
        </p:txBody>
      </p:sp>
      <p:sp>
        <p:nvSpPr>
          <p:cNvPr id="31" name="Rectangle 30"/>
          <p:cNvSpPr/>
          <p:nvPr/>
        </p:nvSpPr>
        <p:spPr>
          <a:xfrm>
            <a:off x="3639312" y="3044952"/>
            <a:ext cx="7808975" cy="630936"/>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22191" y="3182112"/>
            <a:ext cx="2953512" cy="365760"/>
          </a:xfrm>
          <a:prstGeom prst="rect">
            <a:avLst/>
          </a:prstGeom>
          <a:noFill/>
        </p:spPr>
        <p:txBody>
          <a:bodyPr wrap="square" lIns="18288" rIns="18288" tIns="9144" bIns="9144">
            <a:spAutoFit/>
          </a:bodyPr>
          <a:lstStyle/>
          <a:p>
            <a:pPr algn="l">
              <a:lnSpc>
                <a:spcPct val="110000"/>
              </a:lnSpc>
              <a:spcAft>
                <a:spcPts val="500"/>
              </a:spcAft>
            </a:pPr>
            <a:r>
              <a:rPr sz="2200" b="1" lang="en-US">
                <a:solidFill>
                  <a:srgbClr val="167D89"/>
                </a:solidFill>
                <a:latin typeface="Arial"/>
                <a:ea typeface="Microsoft YaHei"/>
              </a:rPr>
              <a:t>France</a:t>
            </a:r>
          </a:p>
        </p:txBody>
      </p:sp>
      <p:sp>
        <p:nvSpPr>
          <p:cNvPr id="33" name="TextBox 32"/>
          <p:cNvSpPr txBox="1"/>
          <p:nvPr/>
        </p:nvSpPr>
        <p:spPr>
          <a:xfrm>
            <a:off x="7104888" y="3182112"/>
            <a:ext cx="4133087" cy="365760"/>
          </a:xfrm>
          <a:prstGeom prst="rect">
            <a:avLst/>
          </a:prstGeom>
          <a:noFill/>
        </p:spPr>
        <p:txBody>
          <a:bodyPr wrap="square" lIns="18288" rIns="18288" tIns="9144" bIns="9144">
            <a:spAutoFit/>
          </a:bodyPr>
          <a:lstStyle/>
          <a:p>
            <a:pPr algn="l">
              <a:lnSpc>
                <a:spcPct val="110000"/>
              </a:lnSpc>
              <a:spcAft>
                <a:spcPts val="500"/>
              </a:spcAft>
            </a:pPr>
            <a:r>
              <a:rPr sz="2200" b="0" lang="en-US">
                <a:solidFill>
                  <a:srgbClr val="183A50"/>
                </a:solidFill>
                <a:latin typeface="Arial"/>
                <a:ea typeface="Microsoft YaHei"/>
              </a:rPr>
              <a:t>Zero</a:t>
            </a:r>
          </a:p>
        </p:txBody>
      </p:sp>
      <p:sp>
        <p:nvSpPr>
          <p:cNvPr id="34" name="Rectangle 33"/>
          <p:cNvSpPr/>
          <p:nvPr/>
        </p:nvSpPr>
        <p:spPr>
          <a:xfrm>
            <a:off x="3639312" y="3831336"/>
            <a:ext cx="7808975" cy="630936"/>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22191" y="3968496"/>
            <a:ext cx="2953512" cy="365760"/>
          </a:xfrm>
          <a:prstGeom prst="rect">
            <a:avLst/>
          </a:prstGeom>
          <a:noFill/>
        </p:spPr>
        <p:txBody>
          <a:bodyPr wrap="square" lIns="18288" rIns="18288" tIns="9144" bIns="9144">
            <a:spAutoFit/>
          </a:bodyPr>
          <a:lstStyle/>
          <a:p>
            <a:pPr algn="l">
              <a:lnSpc>
                <a:spcPct val="110000"/>
              </a:lnSpc>
              <a:spcAft>
                <a:spcPts val="500"/>
              </a:spcAft>
            </a:pPr>
            <a:r>
              <a:rPr sz="2200" b="1" lang="en-US">
                <a:solidFill>
                  <a:srgbClr val="167D89"/>
                </a:solidFill>
                <a:latin typeface="Arial"/>
                <a:ea typeface="Microsoft YaHei"/>
              </a:rPr>
              <a:t>Brazil / Germany</a:t>
            </a:r>
          </a:p>
        </p:txBody>
      </p:sp>
      <p:sp>
        <p:nvSpPr>
          <p:cNvPr id="36" name="TextBox 35"/>
          <p:cNvSpPr txBox="1"/>
          <p:nvPr/>
        </p:nvSpPr>
        <p:spPr>
          <a:xfrm>
            <a:off x="7104888" y="3968496"/>
            <a:ext cx="4133087" cy="365760"/>
          </a:xfrm>
          <a:prstGeom prst="rect">
            <a:avLst/>
          </a:prstGeom>
          <a:noFill/>
        </p:spPr>
        <p:txBody>
          <a:bodyPr wrap="square" lIns="18288" rIns="18288" tIns="9144" bIns="9144">
            <a:spAutoFit/>
          </a:bodyPr>
          <a:lstStyle/>
          <a:p>
            <a:pPr algn="l">
              <a:lnSpc>
                <a:spcPct val="110000"/>
              </a:lnSpc>
              <a:spcAft>
                <a:spcPts val="500"/>
              </a:spcAft>
            </a:pPr>
            <a:r>
              <a:rPr sz="2200" b="0" lang="en-US">
                <a:solidFill>
                  <a:srgbClr val="183A50"/>
                </a:solidFill>
                <a:latin typeface="Arial"/>
                <a:ea typeface="Microsoft YaHei"/>
              </a:rPr>
              <a:t>Not polite</a:t>
            </a:r>
          </a:p>
        </p:txBody>
      </p:sp>
      <p:sp>
        <p:nvSpPr>
          <p:cNvPr id="37" name="TextBox 36"/>
          <p:cNvSpPr txBox="1"/>
          <p:nvPr/>
        </p:nvSpPr>
        <p:spPr>
          <a:xfrm>
            <a:off x="3739896" y="4882896"/>
            <a:ext cx="7589520" cy="685800"/>
          </a:xfrm>
          <a:prstGeom prst="rect">
            <a:avLst/>
          </a:prstGeom>
          <a:noFill/>
        </p:spPr>
        <p:txBody>
          <a:bodyPr wrap="square" lIns="18288" rIns="18288" tIns="9144" bIns="9144">
            <a:spAutoFit/>
          </a:bodyPr>
          <a:lstStyle/>
          <a:p>
            <a:pPr algn="l">
              <a:lnSpc>
                <a:spcPct val="110000"/>
              </a:lnSpc>
              <a:spcAft>
                <a:spcPts val="500"/>
              </a:spcAft>
            </a:pPr>
            <a:r>
              <a:rPr sz="1900" b="0" lang="en-US">
                <a:solidFill>
                  <a:srgbClr val="183A50"/>
                </a:solidFill>
                <a:latin typeface="Arial"/>
                <a:ea typeface="Microsoft YaHei"/>
              </a:rPr>
              <a:t>Bulgaria / southern Albania: shake = yes; nod = no.</a:t>
            </a:r>
          </a:p>
          <a:p>
            <a:pPr algn="l">
              <a:lnSpc>
                <a:spcPct val="110000"/>
              </a:lnSpc>
              <a:spcAft>
                <a:spcPts val="500"/>
              </a:spcAft>
            </a:pPr>
            <a:r>
              <a:rPr sz="1900" b="0" lang="en-US">
                <a:solidFill>
                  <a:srgbClr val="183A50"/>
                </a:solidFill>
                <a:latin typeface="Arial"/>
                <a:ea typeface="Microsoft YaHei"/>
              </a:rPr>
              <a:t>France / Russia: cheek kissing can greet a friend.</a:t>
            </a:r>
          </a:p>
        </p:txBody>
      </p:sp>
      <p:sp>
        <p:nvSpPr>
          <p:cNvPr id="38" name="TextBox 37"/>
          <p:cNvSpPr txBox="1"/>
          <p:nvPr/>
        </p:nvSpPr>
        <p:spPr>
          <a:xfrm>
            <a:off x="1828800" y="5861304"/>
            <a:ext cx="9482328" cy="301752"/>
          </a:xfrm>
          <a:prstGeom prst="rect">
            <a:avLst/>
          </a:prstGeom>
          <a:noFill/>
        </p:spPr>
        <p:txBody>
          <a:bodyPr wrap="square" lIns="18288" rIns="18288" tIns="9144" bIns="9144">
            <a:spAutoFit/>
          </a:bodyPr>
          <a:lstStyle/>
          <a:p>
            <a:pPr algn="l">
              <a:lnSpc>
                <a:spcPct val="110000"/>
              </a:lnSpc>
              <a:spcAft>
                <a:spcPts val="500"/>
              </a:spcAft>
            </a:pPr>
            <a:r>
              <a:rPr sz="1500" b="1" lang="en-US">
                <a:solidFill>
                  <a:srgbClr val="167D89"/>
                </a:solidFill>
                <a:latin typeface="Arial"/>
                <a:ea typeface="Microsoft YaHei"/>
              </a:rPr>
              <a:t>CHECK  ·  Which action? Which meaning? Which people and situation?</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3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3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3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3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3" grpId="0"/>
      <p:bldP spid="36" grpId="0"/>
      <p:bldP spid="37" grpId="0"/>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9FA"/>
        </a:solidFill>
        <a:effectLst/>
      </p:bgPr>
    </p:bg>
    <p:spTree>
      <p:nvGrpSpPr>
        <p:cNvPr id="1" name=""/>
        <p:cNvGrpSpPr/>
        <p:nvPr/>
      </p:nvGrpSpPr>
      <p:grpSpPr/>
      <p:sp>
        <p:nvSpPr>
          <p:cNvPr id="2" name="Rectangle 1"/>
          <p:cNvSpPr/>
          <p:nvPr/>
        </p:nvSpPr>
        <p:spPr>
          <a:xfrm>
            <a:off x="0" y="0"/>
            <a:ext cx="1325880" cy="6858000"/>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329184"/>
            <a:ext cx="896112" cy="457200"/>
          </a:xfrm>
          <a:prstGeom prst="rect">
            <a:avLst/>
          </a:prstGeom>
          <a:noFill/>
        </p:spPr>
        <p:txBody>
          <a:bodyPr wrap="square" lIns="18288" rIns="18288" tIns="9144" bIns="9144">
            <a:spAutoFit/>
          </a:bodyPr>
          <a:lstStyle/>
          <a:p>
            <a:pPr algn="l">
              <a:lnSpc>
                <a:spcPct val="110000"/>
              </a:lnSpc>
              <a:spcAft>
                <a:spcPts val="500"/>
              </a:spcAft>
            </a:pPr>
            <a:r>
              <a:rPr sz="1800" b="1" lang="en-US">
                <a:solidFill>
                  <a:srgbClr val="FFFFFF"/>
                </a:solidFill>
                <a:latin typeface="Arial"/>
                <a:ea typeface="Microsoft YaHei"/>
              </a:rPr>
              <a:t>UNIT 4</a:t>
            </a:r>
          </a:p>
        </p:txBody>
      </p:sp>
      <p:sp>
        <p:nvSpPr>
          <p:cNvPr id="4" name="TextBox 3"/>
          <p:cNvSpPr txBox="1"/>
          <p:nvPr/>
        </p:nvSpPr>
        <p:spPr>
          <a:xfrm>
            <a:off x="219456" y="868680"/>
            <a:ext cx="914400" cy="658368"/>
          </a:xfrm>
          <a:prstGeom prst="rect">
            <a:avLst/>
          </a:prstGeom>
          <a:noFill/>
        </p:spPr>
        <p:txBody>
          <a:bodyPr wrap="square" lIns="18288" rIns="18288" tIns="9144" bIns="9144">
            <a:spAutoFit/>
          </a:bodyPr>
          <a:lstStyle/>
          <a:p>
            <a:pPr algn="l">
              <a:lnSpc>
                <a:spcPct val="110000"/>
              </a:lnSpc>
              <a:spcAft>
                <a:spcPts val="500"/>
              </a:spcAft>
            </a:pPr>
            <a:r>
              <a:rPr sz="1200" b="1" lang="en-US">
                <a:solidFill>
                  <a:srgbClr val="93C3D4"/>
                </a:solidFill>
                <a:latin typeface="Arial"/>
                <a:ea typeface="Microsoft YaHei"/>
              </a:rPr>
              <a:t>READ</a:t>
            </a:r>
          </a:p>
          <a:p>
            <a:pPr algn="l">
              <a:lnSpc>
                <a:spcPct val="110000"/>
              </a:lnSpc>
              <a:spcAft>
                <a:spcPts val="500"/>
              </a:spcAft>
            </a:pPr>
            <a:r>
              <a:rPr sz="1200" b="1" lang="en-US">
                <a:solidFill>
                  <a:srgbClr val="93C3D4"/>
                </a:solidFill>
                <a:latin typeface="Arial"/>
                <a:ea typeface="Microsoft YaHei"/>
              </a:rPr>
              <a:t>&amp; THINK</a:t>
            </a:r>
          </a:p>
        </p:txBody>
      </p:sp>
      <p:sp>
        <p:nvSpPr>
          <p:cNvPr id="5" name="Rectangle 4">
            <a:hlinkClick action="ppaction://hlinksldjump" r:id="rId3"/>
          </p:cNvPr>
          <p:cNvSpPr/>
          <p:nvPr/>
        </p:nvSpPr>
        <p:spPr>
          <a:xfrm>
            <a:off x="109728" y="1874519"/>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146304" y="1933955"/>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说教材</a:t>
            </a:r>
          </a:p>
        </p:txBody>
      </p:sp>
      <p:sp>
        <p:nvSpPr>
          <p:cNvPr id="7" name="Rectangle 6">
            <a:hlinkClick action="ppaction://hlinksldjump" r:id="rId4"/>
          </p:cNvPr>
          <p:cNvSpPr/>
          <p:nvPr/>
        </p:nvSpPr>
        <p:spPr>
          <a:xfrm>
            <a:off x="109728" y="2441448"/>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46304" y="2500884"/>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说学情</a:t>
            </a:r>
          </a:p>
        </p:txBody>
      </p:sp>
      <p:sp>
        <p:nvSpPr>
          <p:cNvPr id="9" name="Rectangle 8">
            <a:hlinkClick action="ppaction://hlinksldjump" r:id="rId5"/>
          </p:cNvPr>
          <p:cNvSpPr/>
          <p:nvPr/>
        </p:nvSpPr>
        <p:spPr>
          <a:xfrm>
            <a:off x="109728" y="3008376"/>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46304" y="3067812"/>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说目标</a:t>
            </a:r>
          </a:p>
        </p:txBody>
      </p:sp>
      <p:sp>
        <p:nvSpPr>
          <p:cNvPr id="11" name="Rectangle 10">
            <a:hlinkClick action="ppaction://hlinksldjump" r:id="rId6"/>
          </p:cNvPr>
          <p:cNvSpPr/>
          <p:nvPr/>
        </p:nvSpPr>
        <p:spPr>
          <a:xfrm>
            <a:off x="109728" y="3575303"/>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6"/>
          </p:cNvPr>
          <p:cNvSpPr txBox="1"/>
          <p:nvPr/>
        </p:nvSpPr>
        <p:spPr>
          <a:xfrm>
            <a:off x="146304" y="3634739"/>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说重难</a:t>
            </a:r>
          </a:p>
        </p:txBody>
      </p:sp>
      <p:sp>
        <p:nvSpPr>
          <p:cNvPr id="13" name="Rectangle 12">
            <a:hlinkClick action="ppaction://hlinksldjump" r:id="rId7"/>
          </p:cNvPr>
          <p:cNvSpPr/>
          <p:nvPr/>
        </p:nvSpPr>
        <p:spPr>
          <a:xfrm>
            <a:off x="109728" y="4142231"/>
            <a:ext cx="1097280" cy="42976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7"/>
          </p:cNvPr>
          <p:cNvSpPr txBox="1"/>
          <p:nvPr/>
        </p:nvSpPr>
        <p:spPr>
          <a:xfrm>
            <a:off x="146304" y="4201668"/>
            <a:ext cx="1024128" cy="301752"/>
          </a:xfrm>
          <a:prstGeom prst="rect">
            <a:avLst/>
          </a:prstGeom>
          <a:noFill/>
        </p:spPr>
        <p:txBody>
          <a:bodyPr wrap="square" lIns="18288" rIns="18288" tIns="9144" bIns="9144">
            <a:spAutoFit/>
          </a:bodyPr>
          <a:lstStyle/>
          <a:p>
            <a:pPr algn="ctr">
              <a:lnSpc>
                <a:spcPct val="110000"/>
              </a:lnSpc>
              <a:spcAft>
                <a:spcPts val="500"/>
              </a:spcAft>
            </a:pPr>
            <a:r>
              <a:rPr sz="1500" b="1" lang="zh-CN">
                <a:solidFill>
                  <a:srgbClr val="FFFFFF"/>
                </a:solidFill>
                <a:latin typeface="Microsoft YaHei"/>
                <a:ea typeface="Microsoft YaHei"/>
              </a:rPr>
              <a:t>说过程</a:t>
            </a:r>
          </a:p>
        </p:txBody>
      </p:sp>
      <p:sp>
        <p:nvSpPr>
          <p:cNvPr id="15" name="Rectangle 14">
            <a:hlinkClick action="ppaction://hlinksldjump" r:id="rId8"/>
          </p:cNvPr>
          <p:cNvSpPr/>
          <p:nvPr/>
        </p:nvSpPr>
        <p:spPr>
          <a:xfrm>
            <a:off x="109728" y="4709160"/>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8"/>
          </p:cNvPr>
          <p:cNvSpPr txBox="1"/>
          <p:nvPr/>
        </p:nvSpPr>
        <p:spPr>
          <a:xfrm>
            <a:off x="146304" y="4768596"/>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说反思</a:t>
            </a:r>
          </a:p>
        </p:txBody>
      </p:sp>
      <p:sp>
        <p:nvSpPr>
          <p:cNvPr id="17" name="TextBox 16"/>
          <p:cNvSpPr txBox="1"/>
          <p:nvPr/>
        </p:nvSpPr>
        <p:spPr>
          <a:xfrm>
            <a:off x="210312" y="6062472"/>
            <a:ext cx="950976" cy="393192"/>
          </a:xfrm>
          <a:prstGeom prst="rect">
            <a:avLst/>
          </a:prstGeom>
          <a:noFill/>
        </p:spPr>
        <p:txBody>
          <a:bodyPr wrap="square" lIns="18288" rIns="18288" tIns="9144" bIns="9144">
            <a:spAutoFit/>
          </a:bodyPr>
          <a:lstStyle/>
          <a:p>
            <a:pPr algn="ctr">
              <a:lnSpc>
                <a:spcPct val="110000"/>
              </a:lnSpc>
              <a:spcAft>
                <a:spcPts val="500"/>
              </a:spcAft>
            </a:pPr>
            <a:r>
              <a:rPr sz="1300" b="0" lang="en-US">
                <a:solidFill>
                  <a:srgbClr val="BCD3DF"/>
                </a:solidFill>
                <a:latin typeface="Arial"/>
                <a:ea typeface="Microsoft YaHei"/>
              </a:rPr>
              <a:t>13 / 20</a:t>
            </a:r>
          </a:p>
        </p:txBody>
      </p:sp>
      <p:sp>
        <p:nvSpPr>
          <p:cNvPr id="18" name="Rectangle 17"/>
          <p:cNvSpPr/>
          <p:nvPr/>
        </p:nvSpPr>
        <p:spPr>
          <a:xfrm>
            <a:off x="1325880" y="0"/>
            <a:ext cx="10872216" cy="6858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00784" y="283464"/>
            <a:ext cx="7315200" cy="274320"/>
          </a:xfrm>
          <a:prstGeom prst="rect">
            <a:avLst/>
          </a:prstGeom>
          <a:noFill/>
        </p:spPr>
        <p:txBody>
          <a:bodyPr wrap="square" lIns="18288" rIns="18288" tIns="9144" bIns="9144">
            <a:spAutoFit/>
          </a:bodyPr>
          <a:lstStyle/>
          <a:p>
            <a:pPr algn="l">
              <a:lnSpc>
                <a:spcPct val="110000"/>
              </a:lnSpc>
              <a:spcAft>
                <a:spcPts val="500"/>
              </a:spcAft>
            </a:pPr>
            <a:r>
              <a:rPr sz="1100" b="1" lang="en-US">
                <a:solidFill>
                  <a:srgbClr val="167D89"/>
                </a:solidFill>
                <a:latin typeface="Arial"/>
                <a:ea typeface="Microsoft YaHei"/>
              </a:rPr>
              <a:t>BODY LANGUAGE   /   READING AND THINKING</a:t>
            </a:r>
          </a:p>
        </p:txBody>
      </p:sp>
      <p:sp>
        <p:nvSpPr>
          <p:cNvPr id="20" name="TextBox 19"/>
          <p:cNvSpPr txBox="1"/>
          <p:nvPr/>
        </p:nvSpPr>
        <p:spPr>
          <a:xfrm>
            <a:off x="9802368" y="283464"/>
            <a:ext cx="1920240" cy="274320"/>
          </a:xfrm>
          <a:prstGeom prst="rect">
            <a:avLst/>
          </a:prstGeom>
          <a:noFill/>
        </p:spPr>
        <p:txBody>
          <a:bodyPr wrap="square" lIns="18288" rIns="18288" tIns="9144" bIns="9144">
            <a:spAutoFit/>
          </a:bodyPr>
          <a:lstStyle/>
          <a:p>
            <a:pPr algn="r">
              <a:lnSpc>
                <a:spcPct val="110000"/>
              </a:lnSpc>
              <a:spcAft>
                <a:spcPts val="500"/>
              </a:spcAft>
            </a:pPr>
            <a:r>
              <a:rPr sz="1100" b="0" lang="en-US">
                <a:solidFill>
                  <a:srgbClr val="526B78"/>
                </a:solidFill>
                <a:latin typeface="Arial"/>
                <a:ea typeface="Microsoft YaHei"/>
              </a:rPr>
              <a:t>08:00–08:40</a:t>
            </a:r>
          </a:p>
        </p:txBody>
      </p:sp>
      <p:sp>
        <p:nvSpPr>
          <p:cNvPr id="21" name="TextBox 20"/>
          <p:cNvSpPr txBox="1"/>
          <p:nvPr/>
        </p:nvSpPr>
        <p:spPr>
          <a:xfrm>
            <a:off x="1691640" y="859536"/>
            <a:ext cx="10021824" cy="630936"/>
          </a:xfrm>
          <a:prstGeom prst="rect">
            <a:avLst/>
          </a:prstGeom>
          <a:noFill/>
        </p:spPr>
        <p:txBody>
          <a:bodyPr wrap="square" lIns="18288" rIns="18288" tIns="9144" bIns="9144">
            <a:spAutoFit/>
          </a:bodyPr>
          <a:lstStyle/>
          <a:p>
            <a:pPr algn="l">
              <a:lnSpc>
                <a:spcPct val="110000"/>
              </a:lnSpc>
              <a:spcAft>
                <a:spcPts val="500"/>
              </a:spcAft>
            </a:pPr>
            <a:r>
              <a:rPr sz="3000" b="1" lang="en-US">
                <a:solidFill>
                  <a:srgbClr val="183A50"/>
                </a:solidFill>
                <a:latin typeface="Arial"/>
                <a:ea typeface="Microsoft YaHei"/>
              </a:rPr>
              <a:t>Read P5: what do we share?</a:t>
            </a:r>
          </a:p>
        </p:txBody>
      </p:sp>
      <p:sp>
        <p:nvSpPr>
          <p:cNvPr id="22" name="TextBox 21"/>
          <p:cNvSpPr txBox="1"/>
          <p:nvPr/>
        </p:nvSpPr>
        <p:spPr>
          <a:xfrm>
            <a:off x="1719072" y="1545336"/>
            <a:ext cx="9921240" cy="521207"/>
          </a:xfrm>
          <a:prstGeom prst="rect">
            <a:avLst/>
          </a:prstGeom>
          <a:noFill/>
        </p:spPr>
        <p:txBody>
          <a:bodyPr wrap="square" lIns="18288" rIns="18288" tIns="9144" bIns="9144">
            <a:spAutoFit/>
          </a:bodyPr>
          <a:lstStyle/>
          <a:p>
            <a:pPr algn="l">
              <a:lnSpc>
                <a:spcPct val="110000"/>
              </a:lnSpc>
              <a:spcAft>
                <a:spcPts val="500"/>
              </a:spcAft>
            </a:pPr>
            <a:r>
              <a:rPr sz="1500" b="0" lang="en-US">
                <a:solidFill>
                  <a:srgbClr val="526B78"/>
                </a:solidFill>
                <a:latin typeface="Arial"/>
                <a:ea typeface="Microsoft YaHei"/>
              </a:rPr>
              <a:t>“Some gestures seem to have the same meaning everywhere.”</a:t>
            </a:r>
          </a:p>
        </p:txBody>
      </p:sp>
      <p:sp>
        <p:nvSpPr>
          <p:cNvPr id="23" name="Rectangle 22"/>
          <p:cNvSpPr/>
          <p:nvPr/>
        </p:nvSpPr>
        <p:spPr>
          <a:xfrm>
            <a:off x="1719072" y="6400800"/>
            <a:ext cx="9985248" cy="10058"/>
          </a:xfrm>
          <a:prstGeom prst="rect">
            <a:avLst/>
          </a:prstGeom>
          <a:solidFill>
            <a:srgbClr val="C8D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37360" y="6492240"/>
            <a:ext cx="9784080" cy="228600"/>
          </a:xfrm>
          <a:prstGeom prst="rect">
            <a:avLst/>
          </a:prstGeom>
          <a:noFill/>
        </p:spPr>
        <p:txBody>
          <a:bodyPr wrap="square" lIns="18288" rIns="18288" tIns="9144" bIns="9144">
            <a:spAutoFit/>
          </a:bodyPr>
          <a:lstStyle/>
          <a:p>
            <a:pPr algn="l">
              <a:lnSpc>
                <a:spcPct val="110000"/>
              </a:lnSpc>
              <a:spcAft>
                <a:spcPts val="500"/>
              </a:spcAft>
            </a:pPr>
            <a:r>
              <a:rPr sz="1050" b="0" lang="zh-CN">
                <a:solidFill>
                  <a:srgbClr val="526B78"/>
                </a:solidFill>
                <a:latin typeface="Microsoft YaHei"/>
                <a:ea typeface="Microsoft YaHei"/>
              </a:rPr>
              <a:t>设计意图  比较相似性，关注 seem 的谨慎表达</a:t>
            </a:r>
          </a:p>
        </p:txBody>
      </p:sp>
      <p:sp>
        <p:nvSpPr>
          <p:cNvPr id="25" name="Rectangle 24"/>
          <p:cNvSpPr/>
          <p:nvPr/>
        </p:nvSpPr>
        <p:spPr>
          <a:xfrm>
            <a:off x="1719072" y="6345936"/>
            <a:ext cx="6490411" cy="2286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773936" y="2331720"/>
            <a:ext cx="4745736" cy="2414016"/>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773936" y="2331720"/>
            <a:ext cx="4745736" cy="4114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956816" y="2505456"/>
            <a:ext cx="4379976" cy="484632"/>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167D89"/>
                </a:solidFill>
                <a:latin typeface="Arial"/>
                <a:ea typeface="Microsoft YaHei"/>
              </a:rPr>
              <a:t>Hands beside the head</a:t>
            </a:r>
          </a:p>
        </p:txBody>
      </p:sp>
      <p:sp>
        <p:nvSpPr>
          <p:cNvPr id="29" name="TextBox 28"/>
          <p:cNvSpPr txBox="1"/>
          <p:nvPr/>
        </p:nvSpPr>
        <p:spPr>
          <a:xfrm>
            <a:off x="1956816" y="3163824"/>
            <a:ext cx="4379976" cy="1481328"/>
          </a:xfrm>
          <a:prstGeom prst="rect">
            <a:avLst/>
          </a:prstGeom>
          <a:noFill/>
        </p:spPr>
        <p:txBody>
          <a:bodyPr wrap="square" lIns="18288" rIns="18288" tIns="9144" bIns="9144">
            <a:spAutoFit/>
          </a:bodyPr>
          <a:lstStyle/>
          <a:p>
            <a:pPr algn="l">
              <a:lnSpc>
                <a:spcPct val="110000"/>
              </a:lnSpc>
              <a:spcAft>
                <a:spcPts val="500"/>
              </a:spcAft>
            </a:pPr>
            <a:r>
              <a:rPr sz="2200" b="0" lang="en-US">
                <a:solidFill>
                  <a:srgbClr val="183A50"/>
                </a:solidFill>
                <a:latin typeface="Arial"/>
                <a:ea typeface="Microsoft YaHei"/>
              </a:rPr>
              <a:t>Hands together + eyes closed</a:t>
            </a:r>
          </a:p>
          <a:p>
            <a:pPr algn="l">
              <a:lnSpc>
                <a:spcPct val="110000"/>
              </a:lnSpc>
              <a:spcAft>
                <a:spcPts val="500"/>
              </a:spcAft>
            </a:pPr>
            <a:r>
              <a:rPr sz="2200" b="0" lang="en-US">
                <a:solidFill>
                  <a:srgbClr val="183A50"/>
                </a:solidFill>
                <a:latin typeface="Arial"/>
                <a:ea typeface="Microsoft YaHei"/>
              </a:rPr>
              <a:t/>
            </a:r>
          </a:p>
          <a:p>
            <a:pPr algn="l">
              <a:lnSpc>
                <a:spcPct val="110000"/>
              </a:lnSpc>
              <a:spcAft>
                <a:spcPts val="500"/>
              </a:spcAft>
            </a:pPr>
            <a:r>
              <a:rPr sz="2200" b="0" lang="en-US">
                <a:solidFill>
                  <a:srgbClr val="183A50"/>
                </a:solidFill>
                <a:latin typeface="Arial"/>
                <a:ea typeface="Microsoft YaHei"/>
              </a:rPr>
              <a:t>Meaning in the example: sleep</a:t>
            </a:r>
          </a:p>
        </p:txBody>
      </p:sp>
      <p:sp>
        <p:nvSpPr>
          <p:cNvPr id="30" name="Rectangle 29"/>
          <p:cNvSpPr/>
          <p:nvPr/>
        </p:nvSpPr>
        <p:spPr>
          <a:xfrm>
            <a:off x="6729984" y="2331720"/>
            <a:ext cx="4745736" cy="2414016"/>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729984" y="2331720"/>
            <a:ext cx="4745736" cy="41148"/>
          </a:xfrm>
          <a:prstGeom prst="rect">
            <a:avLst/>
          </a:prstGeom>
          <a:solidFill>
            <a:srgbClr val="397A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12864" y="2505456"/>
            <a:ext cx="4379976" cy="484632"/>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397AAB"/>
                </a:solidFill>
                <a:latin typeface="Arial"/>
                <a:ea typeface="Microsoft YaHei"/>
              </a:rPr>
              <a:t>A hand over the stomach</a:t>
            </a:r>
          </a:p>
        </p:txBody>
      </p:sp>
      <p:sp>
        <p:nvSpPr>
          <p:cNvPr id="33" name="TextBox 32"/>
          <p:cNvSpPr txBox="1"/>
          <p:nvPr/>
        </p:nvSpPr>
        <p:spPr>
          <a:xfrm>
            <a:off x="6912864" y="3163824"/>
            <a:ext cx="4379976" cy="1481328"/>
          </a:xfrm>
          <a:prstGeom prst="rect">
            <a:avLst/>
          </a:prstGeom>
          <a:noFill/>
        </p:spPr>
        <p:txBody>
          <a:bodyPr wrap="square" lIns="18288" rIns="18288" tIns="9144" bIns="9144">
            <a:spAutoFit/>
          </a:bodyPr>
          <a:lstStyle/>
          <a:p>
            <a:pPr algn="l">
              <a:lnSpc>
                <a:spcPct val="110000"/>
              </a:lnSpc>
              <a:spcAft>
                <a:spcPts val="500"/>
              </a:spcAft>
            </a:pPr>
            <a:r>
              <a:rPr sz="2200" b="0" lang="en-US">
                <a:solidFill>
                  <a:srgbClr val="183A50"/>
                </a:solidFill>
                <a:latin typeface="Arial"/>
                <a:ea typeface="Microsoft YaHei"/>
              </a:rPr>
              <a:t>Moving in circles after a meal</a:t>
            </a:r>
          </a:p>
          <a:p>
            <a:pPr algn="l">
              <a:lnSpc>
                <a:spcPct val="110000"/>
              </a:lnSpc>
              <a:spcAft>
                <a:spcPts val="500"/>
              </a:spcAft>
            </a:pPr>
            <a:r>
              <a:rPr sz="2200" b="0" lang="en-US">
                <a:solidFill>
                  <a:srgbClr val="183A50"/>
                </a:solidFill>
                <a:latin typeface="Arial"/>
                <a:ea typeface="Microsoft YaHei"/>
              </a:rPr>
              <a:t/>
            </a:r>
          </a:p>
          <a:p>
            <a:pPr algn="l">
              <a:lnSpc>
                <a:spcPct val="110000"/>
              </a:lnSpc>
              <a:spcAft>
                <a:spcPts val="500"/>
              </a:spcAft>
            </a:pPr>
            <a:r>
              <a:rPr sz="2200" b="0" lang="en-US">
                <a:solidFill>
                  <a:srgbClr val="183A50"/>
                </a:solidFill>
                <a:latin typeface="Arial"/>
                <a:ea typeface="Microsoft YaHei"/>
              </a:rPr>
              <a:t>Meaning in the example: “I’m full”</a:t>
            </a:r>
          </a:p>
        </p:txBody>
      </p:sp>
      <p:sp>
        <p:nvSpPr>
          <p:cNvPr id="34" name="TextBox 33"/>
          <p:cNvSpPr txBox="1"/>
          <p:nvPr/>
        </p:nvSpPr>
        <p:spPr>
          <a:xfrm>
            <a:off x="1938528" y="5212080"/>
            <a:ext cx="9299448" cy="685800"/>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167D89"/>
                </a:solidFill>
                <a:latin typeface="Arial"/>
                <a:ea typeface="Microsoft YaHei"/>
              </a:rPr>
              <a:t>“Seem” leaves room for context.</a:t>
            </a:r>
          </a:p>
          <a:p>
            <a:pPr algn="l">
              <a:lnSpc>
                <a:spcPct val="110000"/>
              </a:lnSpc>
              <a:spcAft>
                <a:spcPts val="500"/>
              </a:spcAft>
            </a:pPr>
            <a:r>
              <a:rPr sz="2000" b="1" lang="en-US">
                <a:solidFill>
                  <a:srgbClr val="167D89"/>
                </a:solidFill>
                <a:latin typeface="Arial"/>
                <a:ea typeface="Microsoft YaHei"/>
              </a:rPr>
              <a:t>These are broadly shared examples, not a guarantee in every situation.</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3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3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3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3" grpId="0"/>
      <p:bldP spid="34" grpId="0"/>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9FA"/>
        </a:solidFill>
        <a:effectLst/>
      </p:bgPr>
    </p:bg>
    <p:spTree>
      <p:nvGrpSpPr>
        <p:cNvPr id="1" name=""/>
        <p:cNvGrpSpPr/>
        <p:nvPr/>
      </p:nvGrpSpPr>
      <p:grpSpPr/>
      <p:sp>
        <p:nvSpPr>
          <p:cNvPr id="2" name="Rectangle 1"/>
          <p:cNvSpPr/>
          <p:nvPr/>
        </p:nvSpPr>
        <p:spPr>
          <a:xfrm>
            <a:off x="0" y="0"/>
            <a:ext cx="1325880" cy="6858000"/>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329184"/>
            <a:ext cx="896112" cy="457200"/>
          </a:xfrm>
          <a:prstGeom prst="rect">
            <a:avLst/>
          </a:prstGeom>
          <a:noFill/>
        </p:spPr>
        <p:txBody>
          <a:bodyPr wrap="square" lIns="18288" rIns="18288" tIns="9144" bIns="9144">
            <a:spAutoFit/>
          </a:bodyPr>
          <a:lstStyle/>
          <a:p>
            <a:pPr algn="l">
              <a:lnSpc>
                <a:spcPct val="110000"/>
              </a:lnSpc>
              <a:spcAft>
                <a:spcPts val="500"/>
              </a:spcAft>
            </a:pPr>
            <a:r>
              <a:rPr sz="1800" b="1" lang="en-US">
                <a:solidFill>
                  <a:srgbClr val="FFFFFF"/>
                </a:solidFill>
                <a:latin typeface="Arial"/>
                <a:ea typeface="Microsoft YaHei"/>
              </a:rPr>
              <a:t>UNIT 4</a:t>
            </a:r>
          </a:p>
        </p:txBody>
      </p:sp>
      <p:sp>
        <p:nvSpPr>
          <p:cNvPr id="4" name="TextBox 3"/>
          <p:cNvSpPr txBox="1"/>
          <p:nvPr/>
        </p:nvSpPr>
        <p:spPr>
          <a:xfrm>
            <a:off x="219456" y="868680"/>
            <a:ext cx="914400" cy="658368"/>
          </a:xfrm>
          <a:prstGeom prst="rect">
            <a:avLst/>
          </a:prstGeom>
          <a:noFill/>
        </p:spPr>
        <p:txBody>
          <a:bodyPr wrap="square" lIns="18288" rIns="18288" tIns="9144" bIns="9144">
            <a:spAutoFit/>
          </a:bodyPr>
          <a:lstStyle/>
          <a:p>
            <a:pPr algn="l">
              <a:lnSpc>
                <a:spcPct val="110000"/>
              </a:lnSpc>
              <a:spcAft>
                <a:spcPts val="500"/>
              </a:spcAft>
            </a:pPr>
            <a:r>
              <a:rPr sz="1200" b="1" lang="en-US">
                <a:solidFill>
                  <a:srgbClr val="93C3D4"/>
                </a:solidFill>
                <a:latin typeface="Arial"/>
                <a:ea typeface="Microsoft YaHei"/>
              </a:rPr>
              <a:t>READ</a:t>
            </a:r>
          </a:p>
          <a:p>
            <a:pPr algn="l">
              <a:lnSpc>
                <a:spcPct val="110000"/>
              </a:lnSpc>
              <a:spcAft>
                <a:spcPts val="500"/>
              </a:spcAft>
            </a:pPr>
            <a:r>
              <a:rPr sz="1200" b="1" lang="en-US">
                <a:solidFill>
                  <a:srgbClr val="93C3D4"/>
                </a:solidFill>
                <a:latin typeface="Arial"/>
                <a:ea typeface="Microsoft YaHei"/>
              </a:rPr>
              <a:t>&amp; THINK</a:t>
            </a:r>
          </a:p>
        </p:txBody>
      </p:sp>
      <p:sp>
        <p:nvSpPr>
          <p:cNvPr id="5" name="Rectangle 4">
            <a:hlinkClick action="ppaction://hlinksldjump" r:id="rId3"/>
          </p:cNvPr>
          <p:cNvSpPr/>
          <p:nvPr/>
        </p:nvSpPr>
        <p:spPr>
          <a:xfrm>
            <a:off x="109728" y="1874519"/>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146304" y="1933955"/>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说教材</a:t>
            </a:r>
          </a:p>
        </p:txBody>
      </p:sp>
      <p:sp>
        <p:nvSpPr>
          <p:cNvPr id="7" name="Rectangle 6">
            <a:hlinkClick action="ppaction://hlinksldjump" r:id="rId4"/>
          </p:cNvPr>
          <p:cNvSpPr/>
          <p:nvPr/>
        </p:nvSpPr>
        <p:spPr>
          <a:xfrm>
            <a:off x="109728" y="2441448"/>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46304" y="2500884"/>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说学情</a:t>
            </a:r>
          </a:p>
        </p:txBody>
      </p:sp>
      <p:sp>
        <p:nvSpPr>
          <p:cNvPr id="9" name="Rectangle 8">
            <a:hlinkClick action="ppaction://hlinksldjump" r:id="rId5"/>
          </p:cNvPr>
          <p:cNvSpPr/>
          <p:nvPr/>
        </p:nvSpPr>
        <p:spPr>
          <a:xfrm>
            <a:off x="109728" y="3008376"/>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46304" y="3067812"/>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说目标</a:t>
            </a:r>
          </a:p>
        </p:txBody>
      </p:sp>
      <p:sp>
        <p:nvSpPr>
          <p:cNvPr id="11" name="Rectangle 10">
            <a:hlinkClick action="ppaction://hlinksldjump" r:id="rId6"/>
          </p:cNvPr>
          <p:cNvSpPr/>
          <p:nvPr/>
        </p:nvSpPr>
        <p:spPr>
          <a:xfrm>
            <a:off x="109728" y="3575303"/>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6"/>
          </p:cNvPr>
          <p:cNvSpPr txBox="1"/>
          <p:nvPr/>
        </p:nvSpPr>
        <p:spPr>
          <a:xfrm>
            <a:off x="146304" y="3634739"/>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说重难</a:t>
            </a:r>
          </a:p>
        </p:txBody>
      </p:sp>
      <p:sp>
        <p:nvSpPr>
          <p:cNvPr id="13" name="Rectangle 12">
            <a:hlinkClick action="ppaction://hlinksldjump" r:id="rId7"/>
          </p:cNvPr>
          <p:cNvSpPr/>
          <p:nvPr/>
        </p:nvSpPr>
        <p:spPr>
          <a:xfrm>
            <a:off x="109728" y="4142231"/>
            <a:ext cx="1097280" cy="42976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7"/>
          </p:cNvPr>
          <p:cNvSpPr txBox="1"/>
          <p:nvPr/>
        </p:nvSpPr>
        <p:spPr>
          <a:xfrm>
            <a:off x="146304" y="4201668"/>
            <a:ext cx="1024128" cy="301752"/>
          </a:xfrm>
          <a:prstGeom prst="rect">
            <a:avLst/>
          </a:prstGeom>
          <a:noFill/>
        </p:spPr>
        <p:txBody>
          <a:bodyPr wrap="square" lIns="18288" rIns="18288" tIns="9144" bIns="9144">
            <a:spAutoFit/>
          </a:bodyPr>
          <a:lstStyle/>
          <a:p>
            <a:pPr algn="ctr">
              <a:lnSpc>
                <a:spcPct val="110000"/>
              </a:lnSpc>
              <a:spcAft>
                <a:spcPts val="500"/>
              </a:spcAft>
            </a:pPr>
            <a:r>
              <a:rPr sz="1500" b="1" lang="zh-CN">
                <a:solidFill>
                  <a:srgbClr val="FFFFFF"/>
                </a:solidFill>
                <a:latin typeface="Microsoft YaHei"/>
                <a:ea typeface="Microsoft YaHei"/>
              </a:rPr>
              <a:t>说过程</a:t>
            </a:r>
          </a:p>
        </p:txBody>
      </p:sp>
      <p:sp>
        <p:nvSpPr>
          <p:cNvPr id="15" name="Rectangle 14">
            <a:hlinkClick action="ppaction://hlinksldjump" r:id="rId8"/>
          </p:cNvPr>
          <p:cNvSpPr/>
          <p:nvPr/>
        </p:nvSpPr>
        <p:spPr>
          <a:xfrm>
            <a:off x="109728" y="4709160"/>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8"/>
          </p:cNvPr>
          <p:cNvSpPr txBox="1"/>
          <p:nvPr/>
        </p:nvSpPr>
        <p:spPr>
          <a:xfrm>
            <a:off x="146304" y="4768596"/>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说反思</a:t>
            </a:r>
          </a:p>
        </p:txBody>
      </p:sp>
      <p:sp>
        <p:nvSpPr>
          <p:cNvPr id="17" name="TextBox 16"/>
          <p:cNvSpPr txBox="1"/>
          <p:nvPr/>
        </p:nvSpPr>
        <p:spPr>
          <a:xfrm>
            <a:off x="210312" y="6062472"/>
            <a:ext cx="950976" cy="393192"/>
          </a:xfrm>
          <a:prstGeom prst="rect">
            <a:avLst/>
          </a:prstGeom>
          <a:noFill/>
        </p:spPr>
        <p:txBody>
          <a:bodyPr wrap="square" lIns="18288" rIns="18288" tIns="9144" bIns="9144">
            <a:spAutoFit/>
          </a:bodyPr>
          <a:lstStyle/>
          <a:p>
            <a:pPr algn="ctr">
              <a:lnSpc>
                <a:spcPct val="110000"/>
              </a:lnSpc>
              <a:spcAft>
                <a:spcPts val="500"/>
              </a:spcAft>
            </a:pPr>
            <a:r>
              <a:rPr sz="1300" b="0" lang="en-US">
                <a:solidFill>
                  <a:srgbClr val="BCD3DF"/>
                </a:solidFill>
                <a:latin typeface="Arial"/>
                <a:ea typeface="Microsoft YaHei"/>
              </a:rPr>
              <a:t>14 / 20</a:t>
            </a:r>
          </a:p>
        </p:txBody>
      </p:sp>
      <p:sp>
        <p:nvSpPr>
          <p:cNvPr id="18" name="Rectangle 17"/>
          <p:cNvSpPr/>
          <p:nvPr/>
        </p:nvSpPr>
        <p:spPr>
          <a:xfrm>
            <a:off x="1325880" y="0"/>
            <a:ext cx="10872216" cy="6858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00784" y="283464"/>
            <a:ext cx="7315200" cy="274320"/>
          </a:xfrm>
          <a:prstGeom prst="rect">
            <a:avLst/>
          </a:prstGeom>
          <a:noFill/>
        </p:spPr>
        <p:txBody>
          <a:bodyPr wrap="square" lIns="18288" rIns="18288" tIns="9144" bIns="9144">
            <a:spAutoFit/>
          </a:bodyPr>
          <a:lstStyle/>
          <a:p>
            <a:pPr algn="l">
              <a:lnSpc>
                <a:spcPct val="110000"/>
              </a:lnSpc>
              <a:spcAft>
                <a:spcPts val="500"/>
              </a:spcAft>
            </a:pPr>
            <a:r>
              <a:rPr sz="1100" b="1" lang="en-US">
                <a:solidFill>
                  <a:srgbClr val="167D89"/>
                </a:solidFill>
                <a:latin typeface="Arial"/>
                <a:ea typeface="Microsoft YaHei"/>
              </a:rPr>
              <a:t>BODY LANGUAGE   /   READING AND THINKING</a:t>
            </a:r>
          </a:p>
        </p:txBody>
      </p:sp>
      <p:sp>
        <p:nvSpPr>
          <p:cNvPr id="20" name="TextBox 19"/>
          <p:cNvSpPr txBox="1"/>
          <p:nvPr/>
        </p:nvSpPr>
        <p:spPr>
          <a:xfrm>
            <a:off x="9802368" y="283464"/>
            <a:ext cx="1920240" cy="274320"/>
          </a:xfrm>
          <a:prstGeom prst="rect">
            <a:avLst/>
          </a:prstGeom>
          <a:noFill/>
        </p:spPr>
        <p:txBody>
          <a:bodyPr wrap="square" lIns="18288" rIns="18288" tIns="9144" bIns="9144">
            <a:spAutoFit/>
          </a:bodyPr>
          <a:lstStyle/>
          <a:p>
            <a:pPr algn="r">
              <a:lnSpc>
                <a:spcPct val="110000"/>
              </a:lnSpc>
              <a:spcAft>
                <a:spcPts val="500"/>
              </a:spcAft>
            </a:pPr>
            <a:r>
              <a:rPr sz="1100" b="0" lang="en-US">
                <a:solidFill>
                  <a:srgbClr val="526B78"/>
                </a:solidFill>
                <a:latin typeface="Arial"/>
                <a:ea typeface="Microsoft YaHei"/>
              </a:rPr>
              <a:t>08:40–09:30</a:t>
            </a:r>
          </a:p>
        </p:txBody>
      </p:sp>
      <p:sp>
        <p:nvSpPr>
          <p:cNvPr id="21" name="TextBox 20"/>
          <p:cNvSpPr txBox="1"/>
          <p:nvPr/>
        </p:nvSpPr>
        <p:spPr>
          <a:xfrm>
            <a:off x="1691640" y="859536"/>
            <a:ext cx="10021824" cy="630936"/>
          </a:xfrm>
          <a:prstGeom prst="rect">
            <a:avLst/>
          </a:prstGeom>
          <a:noFill/>
        </p:spPr>
        <p:txBody>
          <a:bodyPr wrap="square" lIns="18288" rIns="18288" tIns="9144" bIns="9144">
            <a:spAutoFit/>
          </a:bodyPr>
          <a:lstStyle/>
          <a:p>
            <a:pPr algn="l">
              <a:lnSpc>
                <a:spcPct val="110000"/>
              </a:lnSpc>
              <a:spcAft>
                <a:spcPts val="500"/>
              </a:spcAft>
            </a:pPr>
            <a:r>
              <a:rPr sz="3000" b="1" lang="en-US">
                <a:solidFill>
                  <a:srgbClr val="183A50"/>
                </a:solidFill>
                <a:latin typeface="Arial"/>
                <a:ea typeface="Microsoft YaHei"/>
              </a:rPr>
              <a:t>Read P6: one smile, many uses.</a:t>
            </a:r>
          </a:p>
        </p:txBody>
      </p:sp>
      <p:sp>
        <p:nvSpPr>
          <p:cNvPr id="22" name="TextBox 21"/>
          <p:cNvSpPr txBox="1"/>
          <p:nvPr/>
        </p:nvSpPr>
        <p:spPr>
          <a:xfrm>
            <a:off x="1719072" y="1545336"/>
            <a:ext cx="9921240" cy="521207"/>
          </a:xfrm>
          <a:prstGeom prst="rect">
            <a:avLst/>
          </a:prstGeom>
          <a:noFill/>
        </p:spPr>
        <p:txBody>
          <a:bodyPr wrap="square" lIns="18288" rIns="18288" tIns="9144" bIns="9144">
            <a:spAutoFit/>
          </a:bodyPr>
          <a:lstStyle/>
          <a:p>
            <a:pPr algn="l">
              <a:lnSpc>
                <a:spcPct val="110000"/>
              </a:lnSpc>
              <a:spcAft>
                <a:spcPts val="500"/>
              </a:spcAft>
            </a:pPr>
            <a:r>
              <a:rPr sz="1500" b="0" lang="en-US">
                <a:solidFill>
                  <a:srgbClr val="526B78"/>
                </a:solidFill>
                <a:latin typeface="Arial"/>
                <a:ea typeface="Microsoft YaHei"/>
              </a:rPr>
              <a:t>Find at least four uses. Support each with words from the paragraph.</a:t>
            </a:r>
          </a:p>
        </p:txBody>
      </p:sp>
      <p:sp>
        <p:nvSpPr>
          <p:cNvPr id="23" name="Rectangle 22"/>
          <p:cNvSpPr/>
          <p:nvPr/>
        </p:nvSpPr>
        <p:spPr>
          <a:xfrm>
            <a:off x="1719072" y="6400800"/>
            <a:ext cx="9985248" cy="10058"/>
          </a:xfrm>
          <a:prstGeom prst="rect">
            <a:avLst/>
          </a:prstGeom>
          <a:solidFill>
            <a:srgbClr val="C8D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37360" y="6492240"/>
            <a:ext cx="9784080" cy="228600"/>
          </a:xfrm>
          <a:prstGeom prst="rect">
            <a:avLst/>
          </a:prstGeom>
          <a:noFill/>
        </p:spPr>
        <p:txBody>
          <a:bodyPr wrap="square" lIns="18288" rIns="18288" tIns="9144" bIns="9144">
            <a:spAutoFit/>
          </a:bodyPr>
          <a:lstStyle/>
          <a:p>
            <a:pPr algn="l">
              <a:lnSpc>
                <a:spcPct val="110000"/>
              </a:lnSpc>
              <a:spcAft>
                <a:spcPts val="500"/>
              </a:spcAft>
            </a:pPr>
            <a:r>
              <a:rPr sz="1050" b="0" lang="zh-CN">
                <a:solidFill>
                  <a:srgbClr val="526B78"/>
                </a:solidFill>
                <a:latin typeface="Microsoft YaHei"/>
                <a:ea typeface="Microsoft YaHei"/>
              </a:rPr>
              <a:t>设计意图  归类多个用途，解释末段主旨</a:t>
            </a:r>
          </a:p>
        </p:txBody>
      </p:sp>
      <p:sp>
        <p:nvSpPr>
          <p:cNvPr id="25" name="Rectangle 24"/>
          <p:cNvSpPr/>
          <p:nvPr/>
        </p:nvSpPr>
        <p:spPr>
          <a:xfrm>
            <a:off x="1719072" y="6345936"/>
            <a:ext cx="6989673" cy="2286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773936" y="2267712"/>
            <a:ext cx="4736592" cy="2971800"/>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773936" y="2267712"/>
            <a:ext cx="4736592" cy="4114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956816" y="2441448"/>
            <a:ext cx="4370831" cy="484632"/>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167D89"/>
                </a:solidFill>
                <a:latin typeface="Arial"/>
                <a:ea typeface="Microsoft YaHei"/>
              </a:rPr>
              <a:t>Social Interaction</a:t>
            </a:r>
          </a:p>
        </p:txBody>
      </p:sp>
      <p:sp>
        <p:nvSpPr>
          <p:cNvPr id="29" name="TextBox 28"/>
          <p:cNvSpPr txBox="1"/>
          <p:nvPr/>
        </p:nvSpPr>
        <p:spPr>
          <a:xfrm>
            <a:off x="1956816" y="3099816"/>
            <a:ext cx="4370831" cy="2039112"/>
          </a:xfrm>
          <a:prstGeom prst="rect">
            <a:avLst/>
          </a:prstGeom>
          <a:noFill/>
        </p:spPr>
        <p:txBody>
          <a:bodyPr wrap="square" lIns="18288" rIns="18288" tIns="9144" bIns="9144">
            <a:spAutoFit/>
          </a:bodyPr>
          <a:lstStyle/>
          <a:p>
            <a:pPr algn="l">
              <a:lnSpc>
                <a:spcPct val="110000"/>
              </a:lnSpc>
              <a:spcAft>
                <a:spcPts val="500"/>
              </a:spcAft>
            </a:pPr>
            <a:r>
              <a:rPr sz="2200" b="0" lang="en-US">
                <a:solidFill>
                  <a:srgbClr val="183A50"/>
                </a:solidFill>
                <a:latin typeface="Arial"/>
                <a:ea typeface="Microsoft YaHei"/>
              </a:rPr>
              <a:t>Find friends</a:t>
            </a:r>
          </a:p>
          <a:p>
            <a:pPr algn="l">
              <a:lnSpc>
                <a:spcPct val="110000"/>
              </a:lnSpc>
              <a:spcAft>
                <a:spcPts val="500"/>
              </a:spcAft>
            </a:pPr>
            <a:r>
              <a:rPr sz="2200" b="0" lang="en-US">
                <a:solidFill>
                  <a:srgbClr val="183A50"/>
                </a:solidFill>
                <a:latin typeface="Arial"/>
                <a:ea typeface="Microsoft YaHei"/>
              </a:rPr>
              <a:t>Break down barriers</a:t>
            </a:r>
          </a:p>
          <a:p>
            <a:pPr algn="l">
              <a:lnSpc>
                <a:spcPct val="110000"/>
              </a:lnSpc>
              <a:spcAft>
                <a:spcPts val="500"/>
              </a:spcAft>
            </a:pPr>
            <a:r>
              <a:rPr sz="2200" b="0" lang="en-US">
                <a:solidFill>
                  <a:srgbClr val="183A50"/>
                </a:solidFill>
                <a:latin typeface="Arial"/>
                <a:ea typeface="Microsoft YaHei"/>
              </a:rPr>
              <a:t>Apologise / greet someone</a:t>
            </a:r>
          </a:p>
          <a:p>
            <a:pPr algn="l">
              <a:lnSpc>
                <a:spcPct val="110000"/>
              </a:lnSpc>
              <a:spcAft>
                <a:spcPts val="500"/>
              </a:spcAft>
            </a:pPr>
            <a:r>
              <a:rPr sz="2200" b="0" lang="en-US">
                <a:solidFill>
                  <a:srgbClr val="183A50"/>
                </a:solidFill>
                <a:latin typeface="Arial"/>
                <a:ea typeface="Microsoft YaHei"/>
              </a:rPr>
              <a:t>Ask for help / start a conversation</a:t>
            </a:r>
          </a:p>
        </p:txBody>
      </p:sp>
      <p:sp>
        <p:nvSpPr>
          <p:cNvPr id="30" name="Rectangle 29"/>
          <p:cNvSpPr/>
          <p:nvPr/>
        </p:nvSpPr>
        <p:spPr>
          <a:xfrm>
            <a:off x="6739128" y="2267712"/>
            <a:ext cx="4736592" cy="2971800"/>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739128" y="2267712"/>
            <a:ext cx="4736592" cy="41148"/>
          </a:xfrm>
          <a:prstGeom prst="rect">
            <a:avLst/>
          </a:prstGeom>
          <a:solidFill>
            <a:srgbClr val="397A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22008" y="2441448"/>
            <a:ext cx="4370831" cy="484632"/>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397AAB"/>
                </a:solidFill>
                <a:latin typeface="Arial"/>
                <a:ea typeface="Microsoft YaHei"/>
              </a:rPr>
              <a:t>Emotional Support</a:t>
            </a:r>
          </a:p>
        </p:txBody>
      </p:sp>
      <p:sp>
        <p:nvSpPr>
          <p:cNvPr id="33" name="TextBox 32"/>
          <p:cNvSpPr txBox="1"/>
          <p:nvPr/>
        </p:nvSpPr>
        <p:spPr>
          <a:xfrm>
            <a:off x="6922008" y="3099816"/>
            <a:ext cx="4370831" cy="2039112"/>
          </a:xfrm>
          <a:prstGeom prst="rect">
            <a:avLst/>
          </a:prstGeom>
          <a:noFill/>
        </p:spPr>
        <p:txBody>
          <a:bodyPr wrap="square" lIns="18288" rIns="18288" tIns="9144" bIns="9144">
            <a:spAutoFit/>
          </a:bodyPr>
          <a:lstStyle/>
          <a:p>
            <a:pPr algn="l">
              <a:lnSpc>
                <a:spcPct val="110000"/>
              </a:lnSpc>
              <a:spcAft>
                <a:spcPts val="500"/>
              </a:spcAft>
            </a:pPr>
            <a:r>
              <a:rPr sz="2200" b="0" lang="en-US">
                <a:solidFill>
                  <a:srgbClr val="183A50"/>
                </a:solidFill>
                <a:latin typeface="Arial"/>
                <a:ea typeface="Microsoft YaHei"/>
              </a:rPr>
              <a:t>Get through difficult situations</a:t>
            </a:r>
          </a:p>
          <a:p>
            <a:pPr algn="l">
              <a:lnSpc>
                <a:spcPct val="110000"/>
              </a:lnSpc>
              <a:spcAft>
                <a:spcPts val="500"/>
              </a:spcAft>
            </a:pPr>
            <a:r>
              <a:rPr sz="2200" b="0" lang="en-US">
                <a:solidFill>
                  <a:srgbClr val="183A50"/>
                </a:solidFill>
                <a:latin typeface="Arial"/>
                <a:ea typeface="Microsoft YaHei"/>
              </a:rPr>
              <a:t>Feel happier and stronger</a:t>
            </a:r>
          </a:p>
          <a:p>
            <a:pPr algn="l">
              <a:lnSpc>
                <a:spcPct val="110000"/>
              </a:lnSpc>
              <a:spcAft>
                <a:spcPts val="500"/>
              </a:spcAft>
            </a:pPr>
            <a:r>
              <a:rPr sz="2200" b="0" lang="en-US">
                <a:solidFill>
                  <a:srgbClr val="183A50"/>
                </a:solidFill>
                <a:latin typeface="Arial"/>
                <a:ea typeface="Microsoft YaHei"/>
              </a:rPr>
              <a:t>Give comfort to a friend</a:t>
            </a:r>
          </a:p>
        </p:txBody>
      </p:sp>
      <p:sp>
        <p:nvSpPr>
          <p:cNvPr id="34" name="TextBox 33"/>
          <p:cNvSpPr txBox="1"/>
          <p:nvPr/>
        </p:nvSpPr>
        <p:spPr>
          <a:xfrm>
            <a:off x="1901952" y="5559552"/>
            <a:ext cx="9400032" cy="576072"/>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167D89"/>
                </a:solidFill>
                <a:latin typeface="Arial"/>
                <a:ea typeface="Microsoft YaHei"/>
              </a:rPr>
              <a:t>Who is smiling? To whom? In what situation?</a:t>
            </a:r>
          </a:p>
          <a:p>
            <a:pPr algn="l">
              <a:lnSpc>
                <a:spcPct val="110000"/>
              </a:lnSpc>
              <a:spcAft>
                <a:spcPts val="500"/>
              </a:spcAft>
            </a:pPr>
            <a:r>
              <a:rPr sz="2000" b="1" lang="en-US">
                <a:solidFill>
                  <a:srgbClr val="167D89"/>
                </a:solidFill>
                <a:latin typeface="Arial"/>
                <a:ea typeface="Microsoft YaHei"/>
              </a:rPr>
              <a:t>The same expression can serve different purposes.</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3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3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3" grpId="0"/>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9FA"/>
        </a:solidFill>
        <a:effectLst/>
      </p:bgPr>
    </p:bg>
    <p:spTree>
      <p:nvGrpSpPr>
        <p:cNvPr id="1" name=""/>
        <p:cNvGrpSpPr/>
        <p:nvPr/>
      </p:nvGrpSpPr>
      <p:grpSpPr/>
      <p:sp>
        <p:nvSpPr>
          <p:cNvPr id="2" name="Rectangle 1"/>
          <p:cNvSpPr/>
          <p:nvPr/>
        </p:nvSpPr>
        <p:spPr>
          <a:xfrm>
            <a:off x="0" y="0"/>
            <a:ext cx="1325880" cy="6858000"/>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329184"/>
            <a:ext cx="896112" cy="457200"/>
          </a:xfrm>
          <a:prstGeom prst="rect">
            <a:avLst/>
          </a:prstGeom>
          <a:noFill/>
        </p:spPr>
        <p:txBody>
          <a:bodyPr wrap="square" lIns="18288" rIns="18288" tIns="9144" bIns="9144">
            <a:spAutoFit/>
          </a:bodyPr>
          <a:lstStyle/>
          <a:p>
            <a:pPr algn="l">
              <a:lnSpc>
                <a:spcPct val="110000"/>
              </a:lnSpc>
              <a:spcAft>
                <a:spcPts val="500"/>
              </a:spcAft>
            </a:pPr>
            <a:r>
              <a:rPr sz="1800" b="1" lang="en-US">
                <a:solidFill>
                  <a:srgbClr val="FFFFFF"/>
                </a:solidFill>
                <a:latin typeface="Arial"/>
                <a:ea typeface="Microsoft YaHei"/>
              </a:rPr>
              <a:t>UNIT 4</a:t>
            </a:r>
          </a:p>
        </p:txBody>
      </p:sp>
      <p:sp>
        <p:nvSpPr>
          <p:cNvPr id="4" name="TextBox 3"/>
          <p:cNvSpPr txBox="1"/>
          <p:nvPr/>
        </p:nvSpPr>
        <p:spPr>
          <a:xfrm>
            <a:off x="219456" y="868680"/>
            <a:ext cx="914400" cy="658368"/>
          </a:xfrm>
          <a:prstGeom prst="rect">
            <a:avLst/>
          </a:prstGeom>
          <a:noFill/>
        </p:spPr>
        <p:txBody>
          <a:bodyPr wrap="square" lIns="18288" rIns="18288" tIns="9144" bIns="9144">
            <a:spAutoFit/>
          </a:bodyPr>
          <a:lstStyle/>
          <a:p>
            <a:pPr algn="l">
              <a:lnSpc>
                <a:spcPct val="110000"/>
              </a:lnSpc>
              <a:spcAft>
                <a:spcPts val="500"/>
              </a:spcAft>
            </a:pPr>
            <a:r>
              <a:rPr sz="1200" b="1" lang="en-US">
                <a:solidFill>
                  <a:srgbClr val="93C3D4"/>
                </a:solidFill>
                <a:latin typeface="Arial"/>
                <a:ea typeface="Microsoft YaHei"/>
              </a:rPr>
              <a:t>READ</a:t>
            </a:r>
          </a:p>
          <a:p>
            <a:pPr algn="l">
              <a:lnSpc>
                <a:spcPct val="110000"/>
              </a:lnSpc>
              <a:spcAft>
                <a:spcPts val="500"/>
              </a:spcAft>
            </a:pPr>
            <a:r>
              <a:rPr sz="1200" b="1" lang="en-US">
                <a:solidFill>
                  <a:srgbClr val="93C3D4"/>
                </a:solidFill>
                <a:latin typeface="Arial"/>
                <a:ea typeface="Microsoft YaHei"/>
              </a:rPr>
              <a:t>&amp; THINK</a:t>
            </a:r>
          </a:p>
        </p:txBody>
      </p:sp>
      <p:sp>
        <p:nvSpPr>
          <p:cNvPr id="5" name="Rectangle 4">
            <a:hlinkClick action="ppaction://hlinksldjump" r:id="rId4"/>
          </p:cNvPr>
          <p:cNvSpPr/>
          <p:nvPr/>
        </p:nvSpPr>
        <p:spPr>
          <a:xfrm>
            <a:off x="109728" y="1874519"/>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4"/>
          </p:cNvPr>
          <p:cNvSpPr txBox="1"/>
          <p:nvPr/>
        </p:nvSpPr>
        <p:spPr>
          <a:xfrm>
            <a:off x="146304" y="1933955"/>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说教材</a:t>
            </a:r>
          </a:p>
        </p:txBody>
      </p:sp>
      <p:sp>
        <p:nvSpPr>
          <p:cNvPr id="7" name="Rectangle 6">
            <a:hlinkClick action="ppaction://hlinksldjump" r:id="rId5"/>
          </p:cNvPr>
          <p:cNvSpPr/>
          <p:nvPr/>
        </p:nvSpPr>
        <p:spPr>
          <a:xfrm>
            <a:off x="109728" y="2441448"/>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5"/>
          </p:cNvPr>
          <p:cNvSpPr txBox="1"/>
          <p:nvPr/>
        </p:nvSpPr>
        <p:spPr>
          <a:xfrm>
            <a:off x="146304" y="2500884"/>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说学情</a:t>
            </a:r>
          </a:p>
        </p:txBody>
      </p:sp>
      <p:sp>
        <p:nvSpPr>
          <p:cNvPr id="9" name="Rectangle 8">
            <a:hlinkClick action="ppaction://hlinksldjump" r:id="rId6"/>
          </p:cNvPr>
          <p:cNvSpPr/>
          <p:nvPr/>
        </p:nvSpPr>
        <p:spPr>
          <a:xfrm>
            <a:off x="109728" y="3008376"/>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6"/>
          </p:cNvPr>
          <p:cNvSpPr txBox="1"/>
          <p:nvPr/>
        </p:nvSpPr>
        <p:spPr>
          <a:xfrm>
            <a:off x="146304" y="3067812"/>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说目标</a:t>
            </a:r>
          </a:p>
        </p:txBody>
      </p:sp>
      <p:sp>
        <p:nvSpPr>
          <p:cNvPr id="11" name="Rectangle 10">
            <a:hlinkClick action="ppaction://hlinksldjump" r:id="rId7"/>
          </p:cNvPr>
          <p:cNvSpPr/>
          <p:nvPr/>
        </p:nvSpPr>
        <p:spPr>
          <a:xfrm>
            <a:off x="109728" y="3575303"/>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7"/>
          </p:cNvPr>
          <p:cNvSpPr txBox="1"/>
          <p:nvPr/>
        </p:nvSpPr>
        <p:spPr>
          <a:xfrm>
            <a:off x="146304" y="3634739"/>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说重难</a:t>
            </a:r>
          </a:p>
        </p:txBody>
      </p:sp>
      <p:sp>
        <p:nvSpPr>
          <p:cNvPr id="13" name="Rectangle 12">
            <a:hlinkClick action="ppaction://hlinksldjump" r:id="rId8"/>
          </p:cNvPr>
          <p:cNvSpPr/>
          <p:nvPr/>
        </p:nvSpPr>
        <p:spPr>
          <a:xfrm>
            <a:off x="109728" y="4142231"/>
            <a:ext cx="1097280" cy="42976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8"/>
          </p:cNvPr>
          <p:cNvSpPr txBox="1"/>
          <p:nvPr/>
        </p:nvSpPr>
        <p:spPr>
          <a:xfrm>
            <a:off x="146304" y="4201668"/>
            <a:ext cx="1024128" cy="301752"/>
          </a:xfrm>
          <a:prstGeom prst="rect">
            <a:avLst/>
          </a:prstGeom>
          <a:noFill/>
        </p:spPr>
        <p:txBody>
          <a:bodyPr wrap="square" lIns="18288" rIns="18288" tIns="9144" bIns="9144">
            <a:spAutoFit/>
          </a:bodyPr>
          <a:lstStyle/>
          <a:p>
            <a:pPr algn="ctr">
              <a:lnSpc>
                <a:spcPct val="110000"/>
              </a:lnSpc>
              <a:spcAft>
                <a:spcPts val="500"/>
              </a:spcAft>
            </a:pPr>
            <a:r>
              <a:rPr sz="1500" b="1" lang="zh-CN">
                <a:solidFill>
                  <a:srgbClr val="FFFFFF"/>
                </a:solidFill>
                <a:latin typeface="Microsoft YaHei"/>
                <a:ea typeface="Microsoft YaHei"/>
              </a:rPr>
              <a:t>说过程</a:t>
            </a:r>
          </a:p>
        </p:txBody>
      </p:sp>
      <p:sp>
        <p:nvSpPr>
          <p:cNvPr id="15" name="Rectangle 14">
            <a:hlinkClick action="ppaction://hlinksldjump" r:id="rId9"/>
          </p:cNvPr>
          <p:cNvSpPr/>
          <p:nvPr/>
        </p:nvSpPr>
        <p:spPr>
          <a:xfrm>
            <a:off x="109728" y="4709160"/>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9"/>
          </p:cNvPr>
          <p:cNvSpPr txBox="1"/>
          <p:nvPr/>
        </p:nvSpPr>
        <p:spPr>
          <a:xfrm>
            <a:off x="146304" y="4768596"/>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说反思</a:t>
            </a:r>
          </a:p>
        </p:txBody>
      </p:sp>
      <p:sp>
        <p:nvSpPr>
          <p:cNvPr id="17" name="TextBox 16"/>
          <p:cNvSpPr txBox="1"/>
          <p:nvPr/>
        </p:nvSpPr>
        <p:spPr>
          <a:xfrm>
            <a:off x="210312" y="6062472"/>
            <a:ext cx="950976" cy="393192"/>
          </a:xfrm>
          <a:prstGeom prst="rect">
            <a:avLst/>
          </a:prstGeom>
          <a:noFill/>
        </p:spPr>
        <p:txBody>
          <a:bodyPr wrap="square" lIns="18288" rIns="18288" tIns="9144" bIns="9144">
            <a:spAutoFit/>
          </a:bodyPr>
          <a:lstStyle/>
          <a:p>
            <a:pPr algn="ctr">
              <a:lnSpc>
                <a:spcPct val="110000"/>
              </a:lnSpc>
              <a:spcAft>
                <a:spcPts val="500"/>
              </a:spcAft>
            </a:pPr>
            <a:r>
              <a:rPr sz="1300" b="0" lang="en-US">
                <a:solidFill>
                  <a:srgbClr val="BCD3DF"/>
                </a:solidFill>
                <a:latin typeface="Arial"/>
                <a:ea typeface="Microsoft YaHei"/>
              </a:rPr>
              <a:t>15 / 20</a:t>
            </a:r>
          </a:p>
        </p:txBody>
      </p:sp>
      <p:sp>
        <p:nvSpPr>
          <p:cNvPr id="18" name="Rectangle 17"/>
          <p:cNvSpPr/>
          <p:nvPr/>
        </p:nvSpPr>
        <p:spPr>
          <a:xfrm>
            <a:off x="1325880" y="0"/>
            <a:ext cx="10872216" cy="6858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00784" y="283464"/>
            <a:ext cx="7315200" cy="274320"/>
          </a:xfrm>
          <a:prstGeom prst="rect">
            <a:avLst/>
          </a:prstGeom>
          <a:noFill/>
        </p:spPr>
        <p:txBody>
          <a:bodyPr wrap="square" lIns="18288" rIns="18288" tIns="9144" bIns="9144">
            <a:spAutoFit/>
          </a:bodyPr>
          <a:lstStyle/>
          <a:p>
            <a:pPr algn="l">
              <a:lnSpc>
                <a:spcPct val="110000"/>
              </a:lnSpc>
              <a:spcAft>
                <a:spcPts val="500"/>
              </a:spcAft>
            </a:pPr>
            <a:r>
              <a:rPr sz="1100" b="1" lang="en-US">
                <a:solidFill>
                  <a:srgbClr val="167D89"/>
                </a:solidFill>
                <a:latin typeface="Arial"/>
                <a:ea typeface="Microsoft YaHei"/>
              </a:rPr>
              <a:t>BODY LANGUAGE   /   READING AND THINKING</a:t>
            </a:r>
          </a:p>
        </p:txBody>
      </p:sp>
      <p:sp>
        <p:nvSpPr>
          <p:cNvPr id="20" name="TextBox 19"/>
          <p:cNvSpPr txBox="1"/>
          <p:nvPr/>
        </p:nvSpPr>
        <p:spPr>
          <a:xfrm>
            <a:off x="9802368" y="283464"/>
            <a:ext cx="1920240" cy="274320"/>
          </a:xfrm>
          <a:prstGeom prst="rect">
            <a:avLst/>
          </a:prstGeom>
          <a:noFill/>
        </p:spPr>
        <p:txBody>
          <a:bodyPr wrap="square" lIns="18288" rIns="18288" tIns="9144" bIns="9144">
            <a:spAutoFit/>
          </a:bodyPr>
          <a:lstStyle/>
          <a:p>
            <a:pPr algn="r">
              <a:lnSpc>
                <a:spcPct val="110000"/>
              </a:lnSpc>
              <a:spcAft>
                <a:spcPts val="500"/>
              </a:spcAft>
            </a:pPr>
            <a:r>
              <a:rPr sz="1100" b="0" lang="en-US">
                <a:solidFill>
                  <a:srgbClr val="526B78"/>
                </a:solidFill>
                <a:latin typeface="Arial"/>
                <a:ea typeface="Microsoft YaHei"/>
              </a:rPr>
              <a:t>09:30–10:25</a:t>
            </a:r>
          </a:p>
        </p:txBody>
      </p:sp>
      <p:sp>
        <p:nvSpPr>
          <p:cNvPr id="21" name="TextBox 20"/>
          <p:cNvSpPr txBox="1"/>
          <p:nvPr/>
        </p:nvSpPr>
        <p:spPr>
          <a:xfrm>
            <a:off x="1691640" y="859536"/>
            <a:ext cx="10021824" cy="630936"/>
          </a:xfrm>
          <a:prstGeom prst="rect">
            <a:avLst/>
          </a:prstGeom>
          <a:noFill/>
        </p:spPr>
        <p:txBody>
          <a:bodyPr wrap="square" lIns="18288" rIns="18288" tIns="9144" bIns="9144">
            <a:spAutoFit/>
          </a:bodyPr>
          <a:lstStyle/>
          <a:p>
            <a:pPr algn="l">
              <a:lnSpc>
                <a:spcPct val="110000"/>
              </a:lnSpc>
              <a:spcAft>
                <a:spcPts val="500"/>
              </a:spcAft>
            </a:pPr>
            <a:r>
              <a:rPr sz="3000" b="1" lang="en-US">
                <a:solidFill>
                  <a:srgbClr val="183A50"/>
                </a:solidFill>
                <a:latin typeface="Arial"/>
                <a:ea typeface="Microsoft YaHei"/>
              </a:rPr>
              <a:t>Your task: advice for Tim.</a:t>
            </a:r>
          </a:p>
        </p:txBody>
      </p:sp>
      <p:sp>
        <p:nvSpPr>
          <p:cNvPr id="22" name="TextBox 21"/>
          <p:cNvSpPr txBox="1"/>
          <p:nvPr/>
        </p:nvSpPr>
        <p:spPr>
          <a:xfrm>
            <a:off x="1719072" y="1545336"/>
            <a:ext cx="9921240" cy="521207"/>
          </a:xfrm>
          <a:prstGeom prst="rect">
            <a:avLst/>
          </a:prstGeom>
          <a:noFill/>
        </p:spPr>
        <p:txBody>
          <a:bodyPr wrap="square" lIns="18288" rIns="18288" tIns="9144" bIns="9144">
            <a:spAutoFit/>
          </a:bodyPr>
          <a:lstStyle/>
          <a:p>
            <a:pPr algn="l">
              <a:lnSpc>
                <a:spcPct val="110000"/>
              </a:lnSpc>
              <a:spcAft>
                <a:spcPts val="500"/>
              </a:spcAft>
            </a:pPr>
            <a:r>
              <a:rPr sz="1500" b="0" lang="en-US">
                <a:solidFill>
                  <a:srgbClr val="526B78"/>
                </a:solidFill>
                <a:latin typeface="Arial"/>
                <a:ea typeface="Microsoft YaHei"/>
              </a:rPr>
              <a:t>Tim is visiting China for the first time. Prepare at least three suggestions.</a:t>
            </a:r>
          </a:p>
        </p:txBody>
      </p:sp>
      <p:sp>
        <p:nvSpPr>
          <p:cNvPr id="23" name="Rectangle 22"/>
          <p:cNvSpPr/>
          <p:nvPr/>
        </p:nvSpPr>
        <p:spPr>
          <a:xfrm>
            <a:off x="1719072" y="6400800"/>
            <a:ext cx="9985248" cy="10058"/>
          </a:xfrm>
          <a:prstGeom prst="rect">
            <a:avLst/>
          </a:prstGeom>
          <a:solidFill>
            <a:srgbClr val="C8D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37360" y="6492240"/>
            <a:ext cx="9784080" cy="228600"/>
          </a:xfrm>
          <a:prstGeom prst="rect">
            <a:avLst/>
          </a:prstGeom>
          <a:noFill/>
        </p:spPr>
        <p:txBody>
          <a:bodyPr wrap="square" lIns="18288" rIns="18288" tIns="9144" bIns="9144">
            <a:spAutoFit/>
          </a:bodyPr>
          <a:lstStyle/>
          <a:p>
            <a:pPr algn="l">
              <a:lnSpc>
                <a:spcPct val="110000"/>
              </a:lnSpc>
              <a:spcAft>
                <a:spcPts val="500"/>
              </a:spcAft>
            </a:pPr>
            <a:r>
              <a:rPr sz="1050" b="0" lang="zh-CN">
                <a:solidFill>
                  <a:srgbClr val="526B78"/>
                </a:solidFill>
                <a:latin typeface="Microsoft YaHei"/>
                <a:ea typeface="Microsoft YaHei"/>
              </a:rPr>
              <a:t>设计意图  将阅读所得迁移为情境化建议</a:t>
            </a:r>
          </a:p>
        </p:txBody>
      </p:sp>
      <p:sp>
        <p:nvSpPr>
          <p:cNvPr id="25" name="Rectangle 24"/>
          <p:cNvSpPr/>
          <p:nvPr/>
        </p:nvSpPr>
        <p:spPr>
          <a:xfrm>
            <a:off x="1719072" y="6345936"/>
            <a:ext cx="7488936" cy="2286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s11_10.jpg"/>
          <p:cNvPicPr>
            <a:picLocks noChangeAspect="1"/>
          </p:cNvPicPr>
          <p:nvPr/>
        </p:nvPicPr>
        <p:blipFill>
          <a:blip r:embed="rId3"/>
          <a:srcRect l="15" r="15"/>
          <a:stretch>
            <a:fillRect/>
          </a:stretch>
        </p:blipFill>
        <p:spPr>
          <a:xfrm>
            <a:off x="1773936" y="2267712"/>
            <a:ext cx="3703320" cy="2459736"/>
          </a:xfrm>
          <a:prstGeom prst="rect">
            <a:avLst/>
          </a:prstGeom>
        </p:spPr>
      </p:pic>
      <p:sp>
        <p:nvSpPr>
          <p:cNvPr id="27" name="TextBox 26"/>
          <p:cNvSpPr txBox="1"/>
          <p:nvPr/>
        </p:nvSpPr>
        <p:spPr>
          <a:xfrm>
            <a:off x="1828800" y="4892040"/>
            <a:ext cx="3611880" cy="905256"/>
          </a:xfrm>
          <a:prstGeom prst="rect">
            <a:avLst/>
          </a:prstGeom>
          <a:noFill/>
        </p:spPr>
        <p:txBody>
          <a:bodyPr wrap="square" lIns="18288" rIns="18288" tIns="9144" bIns="9144">
            <a:spAutoFit/>
          </a:bodyPr>
          <a:lstStyle/>
          <a:p>
            <a:pPr algn="l">
              <a:lnSpc>
                <a:spcPct val="110000"/>
              </a:lnSpc>
              <a:spcAft>
                <a:spcPts val="500"/>
              </a:spcAft>
            </a:pPr>
            <a:r>
              <a:rPr sz="1900" b="1" lang="en-US">
                <a:solidFill>
                  <a:srgbClr val="167D89"/>
                </a:solidFill>
                <a:latin typeface="Arial"/>
                <a:ea typeface="Microsoft YaHei"/>
              </a:rPr>
              <a:t>1  Meeting people</a:t>
            </a:r>
          </a:p>
          <a:p>
            <a:pPr algn="l">
              <a:lnSpc>
                <a:spcPct val="110000"/>
              </a:lnSpc>
              <a:spcAft>
                <a:spcPts val="500"/>
              </a:spcAft>
            </a:pPr>
            <a:r>
              <a:rPr sz="1900" b="1" lang="en-US">
                <a:solidFill>
                  <a:srgbClr val="167D89"/>
                </a:solidFill>
                <a:latin typeface="Arial"/>
                <a:ea typeface="Microsoft YaHei"/>
              </a:rPr>
              <a:t>2  Talking to others</a:t>
            </a:r>
          </a:p>
          <a:p>
            <a:pPr algn="l">
              <a:lnSpc>
                <a:spcPct val="110000"/>
              </a:lnSpc>
              <a:spcAft>
                <a:spcPts val="500"/>
              </a:spcAft>
            </a:pPr>
            <a:r>
              <a:rPr sz="1900" b="1" lang="en-US">
                <a:solidFill>
                  <a:srgbClr val="167D89"/>
                </a:solidFill>
                <a:latin typeface="Arial"/>
                <a:ea typeface="Microsoft YaHei"/>
              </a:rPr>
              <a:t>3  Sitting / standing formally</a:t>
            </a:r>
          </a:p>
        </p:txBody>
      </p:sp>
      <p:sp>
        <p:nvSpPr>
          <p:cNvPr id="28" name="Rectangle 27"/>
          <p:cNvSpPr/>
          <p:nvPr/>
        </p:nvSpPr>
        <p:spPr>
          <a:xfrm>
            <a:off x="5788152" y="2267712"/>
            <a:ext cx="5687568" cy="1965960"/>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788152" y="2267712"/>
            <a:ext cx="5687568" cy="4114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71032" y="2441448"/>
            <a:ext cx="5321807" cy="484632"/>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167D89"/>
                </a:solidFill>
                <a:latin typeface="Arial"/>
                <a:ea typeface="Microsoft YaHei"/>
              </a:rPr>
              <a:t>Advice with a Reason</a:t>
            </a:r>
          </a:p>
        </p:txBody>
      </p:sp>
      <p:sp>
        <p:nvSpPr>
          <p:cNvPr id="31" name="TextBox 30"/>
          <p:cNvSpPr txBox="1"/>
          <p:nvPr/>
        </p:nvSpPr>
        <p:spPr>
          <a:xfrm>
            <a:off x="5971032" y="3099816"/>
            <a:ext cx="5321807" cy="1033271"/>
          </a:xfrm>
          <a:prstGeom prst="rect">
            <a:avLst/>
          </a:prstGeom>
          <a:noFill/>
        </p:spPr>
        <p:txBody>
          <a:bodyPr wrap="square" lIns="18288" rIns="18288" tIns="9144" bIns="9144">
            <a:spAutoFit/>
          </a:bodyPr>
          <a:lstStyle/>
          <a:p>
            <a:pPr algn="l">
              <a:lnSpc>
                <a:spcPct val="110000"/>
              </a:lnSpc>
              <a:spcAft>
                <a:spcPts val="500"/>
              </a:spcAft>
            </a:pPr>
            <a:r>
              <a:rPr sz="2500" b="0" lang="en-US">
                <a:solidFill>
                  <a:srgbClr val="183A50"/>
                </a:solidFill>
                <a:latin typeface="Arial"/>
                <a:ea typeface="Microsoft YaHei"/>
              </a:rPr>
              <a:t>When you …, you could …</a:t>
            </a:r>
          </a:p>
          <a:p>
            <a:pPr algn="l">
              <a:lnSpc>
                <a:spcPct val="110000"/>
              </a:lnSpc>
              <a:spcAft>
                <a:spcPts val="500"/>
              </a:spcAft>
            </a:pPr>
            <a:r>
              <a:rPr sz="2500" b="0" lang="en-US">
                <a:solidFill>
                  <a:srgbClr val="183A50"/>
                </a:solidFill>
                <a:latin typeface="Arial"/>
                <a:ea typeface="Microsoft YaHei"/>
              </a:rPr>
              <a:t>because …</a:t>
            </a:r>
          </a:p>
        </p:txBody>
      </p:sp>
      <p:sp>
        <p:nvSpPr>
          <p:cNvPr id="32" name="TextBox 31"/>
          <p:cNvSpPr txBox="1"/>
          <p:nvPr/>
        </p:nvSpPr>
        <p:spPr>
          <a:xfrm>
            <a:off x="5961888" y="4590288"/>
            <a:ext cx="5294376" cy="1133856"/>
          </a:xfrm>
          <a:prstGeom prst="rect">
            <a:avLst/>
          </a:prstGeom>
          <a:noFill/>
        </p:spPr>
        <p:txBody>
          <a:bodyPr wrap="square" lIns="18288" rIns="18288" tIns="9144" bIns="9144">
            <a:spAutoFit/>
          </a:bodyPr>
          <a:lstStyle/>
          <a:p>
            <a:pPr algn="l">
              <a:lnSpc>
                <a:spcPct val="110000"/>
              </a:lnSpc>
              <a:spcAft>
                <a:spcPts val="500"/>
              </a:spcAft>
            </a:pPr>
            <a:r>
              <a:rPr sz="1900" b="1" lang="en-US">
                <a:solidFill>
                  <a:srgbClr val="167D89"/>
                </a:solidFill>
                <a:latin typeface="Arial"/>
                <a:ea typeface="Microsoft YaHei"/>
              </a:rPr>
              <a:t>Situation + advice + reason</a:t>
            </a:r>
          </a:p>
          <a:p>
            <a:pPr algn="l">
              <a:lnSpc>
                <a:spcPct val="110000"/>
              </a:lnSpc>
              <a:spcAft>
                <a:spcPts val="500"/>
              </a:spcAft>
            </a:pPr>
            <a:r>
              <a:rPr sz="1900" b="1" lang="en-US">
                <a:solidFill>
                  <a:srgbClr val="167D89"/>
                </a:solidFill>
                <a:latin typeface="Arial"/>
                <a:ea typeface="Microsoft YaHei"/>
              </a:rPr>
              <a:t/>
            </a:r>
          </a:p>
          <a:p>
            <a:pPr algn="l">
              <a:lnSpc>
                <a:spcPct val="110000"/>
              </a:lnSpc>
              <a:spcAft>
                <a:spcPts val="500"/>
              </a:spcAft>
            </a:pPr>
            <a:r>
              <a:rPr sz="1900" b="1" lang="en-US">
                <a:solidFill>
                  <a:srgbClr val="167D89"/>
                </a:solidFill>
                <a:latin typeface="Arial"/>
                <a:ea typeface="Microsoft YaHei"/>
              </a:rPr>
              <a:t>Follow the host’s lead. Avoid “always”</a:t>
            </a:r>
          </a:p>
          <a:p>
            <a:pPr algn="l">
              <a:lnSpc>
                <a:spcPct val="110000"/>
              </a:lnSpc>
              <a:spcAft>
                <a:spcPts val="500"/>
              </a:spcAft>
            </a:pPr>
            <a:r>
              <a:rPr sz="1900" b="1" lang="en-US">
                <a:solidFill>
                  <a:srgbClr val="167D89"/>
                </a:solidFill>
                <a:latin typeface="Arial"/>
                <a:ea typeface="Microsoft YaHei"/>
              </a:rPr>
              <a:t>when the evidence does not support it.</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3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9FA"/>
        </a:solidFill>
        <a:effectLst/>
      </p:bgPr>
    </p:bg>
    <p:spTree>
      <p:nvGrpSpPr>
        <p:cNvPr id="1" name=""/>
        <p:cNvGrpSpPr/>
        <p:nvPr/>
      </p:nvGrpSpPr>
      <p:grpSpPr/>
      <p:sp>
        <p:nvSpPr>
          <p:cNvPr id="2" name="Rectangle 1"/>
          <p:cNvSpPr/>
          <p:nvPr/>
        </p:nvSpPr>
        <p:spPr>
          <a:xfrm>
            <a:off x="0" y="0"/>
            <a:ext cx="1325880" cy="6858000"/>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329184"/>
            <a:ext cx="896112" cy="457200"/>
          </a:xfrm>
          <a:prstGeom prst="rect">
            <a:avLst/>
          </a:prstGeom>
          <a:noFill/>
        </p:spPr>
        <p:txBody>
          <a:bodyPr wrap="square" lIns="18288" rIns="18288" tIns="9144" bIns="9144">
            <a:spAutoFit/>
          </a:bodyPr>
          <a:lstStyle/>
          <a:p>
            <a:pPr algn="l">
              <a:lnSpc>
                <a:spcPct val="110000"/>
              </a:lnSpc>
              <a:spcAft>
                <a:spcPts val="500"/>
              </a:spcAft>
            </a:pPr>
            <a:r>
              <a:rPr sz="1800" b="1" lang="en-US">
                <a:solidFill>
                  <a:srgbClr val="FFFFFF"/>
                </a:solidFill>
                <a:latin typeface="Arial"/>
                <a:ea typeface="Microsoft YaHei"/>
              </a:rPr>
              <a:t>UNIT 4</a:t>
            </a:r>
          </a:p>
        </p:txBody>
      </p:sp>
      <p:sp>
        <p:nvSpPr>
          <p:cNvPr id="4" name="TextBox 3"/>
          <p:cNvSpPr txBox="1"/>
          <p:nvPr/>
        </p:nvSpPr>
        <p:spPr>
          <a:xfrm>
            <a:off x="219456" y="868680"/>
            <a:ext cx="914400" cy="658368"/>
          </a:xfrm>
          <a:prstGeom prst="rect">
            <a:avLst/>
          </a:prstGeom>
          <a:noFill/>
        </p:spPr>
        <p:txBody>
          <a:bodyPr wrap="square" lIns="18288" rIns="18288" tIns="9144" bIns="9144">
            <a:spAutoFit/>
          </a:bodyPr>
          <a:lstStyle/>
          <a:p>
            <a:pPr algn="l">
              <a:lnSpc>
                <a:spcPct val="110000"/>
              </a:lnSpc>
              <a:spcAft>
                <a:spcPts val="500"/>
              </a:spcAft>
            </a:pPr>
            <a:r>
              <a:rPr sz="1200" b="1" lang="en-US">
                <a:solidFill>
                  <a:srgbClr val="93C3D4"/>
                </a:solidFill>
                <a:latin typeface="Arial"/>
                <a:ea typeface="Microsoft YaHei"/>
              </a:rPr>
              <a:t>READ</a:t>
            </a:r>
          </a:p>
          <a:p>
            <a:pPr algn="l">
              <a:lnSpc>
                <a:spcPct val="110000"/>
              </a:lnSpc>
              <a:spcAft>
                <a:spcPts val="500"/>
              </a:spcAft>
            </a:pPr>
            <a:r>
              <a:rPr sz="1200" b="1" lang="en-US">
                <a:solidFill>
                  <a:srgbClr val="93C3D4"/>
                </a:solidFill>
                <a:latin typeface="Arial"/>
                <a:ea typeface="Microsoft YaHei"/>
              </a:rPr>
              <a:t>&amp; THINK</a:t>
            </a:r>
          </a:p>
        </p:txBody>
      </p:sp>
      <p:sp>
        <p:nvSpPr>
          <p:cNvPr id="5" name="Rectangle 4">
            <a:hlinkClick action="ppaction://hlinksldjump" r:id="rId3"/>
          </p:cNvPr>
          <p:cNvSpPr/>
          <p:nvPr/>
        </p:nvSpPr>
        <p:spPr>
          <a:xfrm>
            <a:off x="109728" y="1874519"/>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146304" y="1933955"/>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说教材</a:t>
            </a:r>
          </a:p>
        </p:txBody>
      </p:sp>
      <p:sp>
        <p:nvSpPr>
          <p:cNvPr id="7" name="Rectangle 6">
            <a:hlinkClick action="ppaction://hlinksldjump" r:id="rId4"/>
          </p:cNvPr>
          <p:cNvSpPr/>
          <p:nvPr/>
        </p:nvSpPr>
        <p:spPr>
          <a:xfrm>
            <a:off x="109728" y="2441448"/>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46304" y="2500884"/>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说学情</a:t>
            </a:r>
          </a:p>
        </p:txBody>
      </p:sp>
      <p:sp>
        <p:nvSpPr>
          <p:cNvPr id="9" name="Rectangle 8">
            <a:hlinkClick action="ppaction://hlinksldjump" r:id="rId5"/>
          </p:cNvPr>
          <p:cNvSpPr/>
          <p:nvPr/>
        </p:nvSpPr>
        <p:spPr>
          <a:xfrm>
            <a:off x="109728" y="3008376"/>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46304" y="3067812"/>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说目标</a:t>
            </a:r>
          </a:p>
        </p:txBody>
      </p:sp>
      <p:sp>
        <p:nvSpPr>
          <p:cNvPr id="11" name="Rectangle 10">
            <a:hlinkClick action="ppaction://hlinksldjump" r:id="rId6"/>
          </p:cNvPr>
          <p:cNvSpPr/>
          <p:nvPr/>
        </p:nvSpPr>
        <p:spPr>
          <a:xfrm>
            <a:off x="109728" y="3575303"/>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6"/>
          </p:cNvPr>
          <p:cNvSpPr txBox="1"/>
          <p:nvPr/>
        </p:nvSpPr>
        <p:spPr>
          <a:xfrm>
            <a:off x="146304" y="3634739"/>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说重难</a:t>
            </a:r>
          </a:p>
        </p:txBody>
      </p:sp>
      <p:sp>
        <p:nvSpPr>
          <p:cNvPr id="13" name="Rectangle 12">
            <a:hlinkClick action="ppaction://hlinksldjump" r:id="rId7"/>
          </p:cNvPr>
          <p:cNvSpPr/>
          <p:nvPr/>
        </p:nvSpPr>
        <p:spPr>
          <a:xfrm>
            <a:off x="109728" y="4142231"/>
            <a:ext cx="1097280" cy="42976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7"/>
          </p:cNvPr>
          <p:cNvSpPr txBox="1"/>
          <p:nvPr/>
        </p:nvSpPr>
        <p:spPr>
          <a:xfrm>
            <a:off x="146304" y="4201668"/>
            <a:ext cx="1024128" cy="301752"/>
          </a:xfrm>
          <a:prstGeom prst="rect">
            <a:avLst/>
          </a:prstGeom>
          <a:noFill/>
        </p:spPr>
        <p:txBody>
          <a:bodyPr wrap="square" lIns="18288" rIns="18288" tIns="9144" bIns="9144">
            <a:spAutoFit/>
          </a:bodyPr>
          <a:lstStyle/>
          <a:p>
            <a:pPr algn="ctr">
              <a:lnSpc>
                <a:spcPct val="110000"/>
              </a:lnSpc>
              <a:spcAft>
                <a:spcPts val="500"/>
              </a:spcAft>
            </a:pPr>
            <a:r>
              <a:rPr sz="1500" b="1" lang="zh-CN">
                <a:solidFill>
                  <a:srgbClr val="FFFFFF"/>
                </a:solidFill>
                <a:latin typeface="Microsoft YaHei"/>
                <a:ea typeface="Microsoft YaHei"/>
              </a:rPr>
              <a:t>说过程</a:t>
            </a:r>
          </a:p>
        </p:txBody>
      </p:sp>
      <p:sp>
        <p:nvSpPr>
          <p:cNvPr id="15" name="Rectangle 14">
            <a:hlinkClick action="ppaction://hlinksldjump" r:id="rId8"/>
          </p:cNvPr>
          <p:cNvSpPr/>
          <p:nvPr/>
        </p:nvSpPr>
        <p:spPr>
          <a:xfrm>
            <a:off x="109728" y="4709160"/>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8"/>
          </p:cNvPr>
          <p:cNvSpPr txBox="1"/>
          <p:nvPr/>
        </p:nvSpPr>
        <p:spPr>
          <a:xfrm>
            <a:off x="146304" y="4768596"/>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说反思</a:t>
            </a:r>
          </a:p>
        </p:txBody>
      </p:sp>
      <p:sp>
        <p:nvSpPr>
          <p:cNvPr id="17" name="TextBox 16"/>
          <p:cNvSpPr txBox="1"/>
          <p:nvPr/>
        </p:nvSpPr>
        <p:spPr>
          <a:xfrm>
            <a:off x="210312" y="6062472"/>
            <a:ext cx="950976" cy="393192"/>
          </a:xfrm>
          <a:prstGeom prst="rect">
            <a:avLst/>
          </a:prstGeom>
          <a:noFill/>
        </p:spPr>
        <p:txBody>
          <a:bodyPr wrap="square" lIns="18288" rIns="18288" tIns="9144" bIns="9144">
            <a:spAutoFit/>
          </a:bodyPr>
          <a:lstStyle/>
          <a:p>
            <a:pPr algn="ctr">
              <a:lnSpc>
                <a:spcPct val="110000"/>
              </a:lnSpc>
              <a:spcAft>
                <a:spcPts val="500"/>
              </a:spcAft>
            </a:pPr>
            <a:r>
              <a:rPr sz="1300" b="0" lang="en-US">
                <a:solidFill>
                  <a:srgbClr val="BCD3DF"/>
                </a:solidFill>
                <a:latin typeface="Arial"/>
                <a:ea typeface="Microsoft YaHei"/>
              </a:rPr>
              <a:t>16 / 20</a:t>
            </a:r>
          </a:p>
        </p:txBody>
      </p:sp>
      <p:sp>
        <p:nvSpPr>
          <p:cNvPr id="18" name="Rectangle 17"/>
          <p:cNvSpPr/>
          <p:nvPr/>
        </p:nvSpPr>
        <p:spPr>
          <a:xfrm>
            <a:off x="1325880" y="0"/>
            <a:ext cx="10872216" cy="6858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00784" y="283464"/>
            <a:ext cx="7315200" cy="274320"/>
          </a:xfrm>
          <a:prstGeom prst="rect">
            <a:avLst/>
          </a:prstGeom>
          <a:noFill/>
        </p:spPr>
        <p:txBody>
          <a:bodyPr wrap="square" lIns="18288" rIns="18288" tIns="9144" bIns="9144">
            <a:spAutoFit/>
          </a:bodyPr>
          <a:lstStyle/>
          <a:p>
            <a:pPr algn="l">
              <a:lnSpc>
                <a:spcPct val="110000"/>
              </a:lnSpc>
              <a:spcAft>
                <a:spcPts val="500"/>
              </a:spcAft>
            </a:pPr>
            <a:r>
              <a:rPr sz="1100" b="1" lang="en-US">
                <a:solidFill>
                  <a:srgbClr val="167D89"/>
                </a:solidFill>
                <a:latin typeface="Arial"/>
                <a:ea typeface="Microsoft YaHei"/>
              </a:rPr>
              <a:t>BODY LANGUAGE   /   READING AND THINKING</a:t>
            </a:r>
          </a:p>
        </p:txBody>
      </p:sp>
      <p:sp>
        <p:nvSpPr>
          <p:cNvPr id="20" name="TextBox 19"/>
          <p:cNvSpPr txBox="1"/>
          <p:nvPr/>
        </p:nvSpPr>
        <p:spPr>
          <a:xfrm>
            <a:off x="9802368" y="283464"/>
            <a:ext cx="1920240" cy="274320"/>
          </a:xfrm>
          <a:prstGeom prst="rect">
            <a:avLst/>
          </a:prstGeom>
          <a:noFill/>
        </p:spPr>
        <p:txBody>
          <a:bodyPr wrap="square" lIns="18288" rIns="18288" tIns="9144" bIns="9144">
            <a:spAutoFit/>
          </a:bodyPr>
          <a:lstStyle/>
          <a:p>
            <a:pPr algn="r">
              <a:lnSpc>
                <a:spcPct val="110000"/>
              </a:lnSpc>
              <a:spcAft>
                <a:spcPts val="500"/>
              </a:spcAft>
            </a:pPr>
            <a:r>
              <a:rPr sz="1100" b="0" lang="en-US">
                <a:solidFill>
                  <a:srgbClr val="526B78"/>
                </a:solidFill>
                <a:latin typeface="Arial"/>
                <a:ea typeface="Microsoft YaHei"/>
              </a:rPr>
              <a:t>10:25–11:25</a:t>
            </a:r>
          </a:p>
        </p:txBody>
      </p:sp>
      <p:sp>
        <p:nvSpPr>
          <p:cNvPr id="21" name="TextBox 20"/>
          <p:cNvSpPr txBox="1"/>
          <p:nvPr/>
        </p:nvSpPr>
        <p:spPr>
          <a:xfrm>
            <a:off x="1691640" y="859536"/>
            <a:ext cx="10021824" cy="630936"/>
          </a:xfrm>
          <a:prstGeom prst="rect">
            <a:avLst/>
          </a:prstGeom>
          <a:noFill/>
        </p:spPr>
        <p:txBody>
          <a:bodyPr wrap="square" lIns="18288" rIns="18288" tIns="9144" bIns="9144">
            <a:spAutoFit/>
          </a:bodyPr>
          <a:lstStyle/>
          <a:p>
            <a:pPr algn="l">
              <a:lnSpc>
                <a:spcPct val="110000"/>
              </a:lnSpc>
              <a:spcAft>
                <a:spcPts val="500"/>
              </a:spcAft>
            </a:pPr>
            <a:r>
              <a:rPr sz="3000" b="1" lang="en-US">
                <a:solidFill>
                  <a:srgbClr val="183A50"/>
                </a:solidFill>
                <a:latin typeface="Arial"/>
                <a:ea typeface="Microsoft YaHei"/>
              </a:rPr>
              <a:t>Model, check, and revise.</a:t>
            </a:r>
          </a:p>
        </p:txBody>
      </p:sp>
      <p:sp>
        <p:nvSpPr>
          <p:cNvPr id="22" name="TextBox 21"/>
          <p:cNvSpPr txBox="1"/>
          <p:nvPr/>
        </p:nvSpPr>
        <p:spPr>
          <a:xfrm>
            <a:off x="1719072" y="1545336"/>
            <a:ext cx="9921240" cy="521207"/>
          </a:xfrm>
          <a:prstGeom prst="rect">
            <a:avLst/>
          </a:prstGeom>
          <a:noFill/>
        </p:spPr>
        <p:txBody>
          <a:bodyPr wrap="square" lIns="18288" rIns="18288" tIns="9144" bIns="9144">
            <a:spAutoFit/>
          </a:bodyPr>
          <a:lstStyle/>
          <a:p>
            <a:pPr algn="l">
              <a:lnSpc>
                <a:spcPct val="110000"/>
              </a:lnSpc>
              <a:spcAft>
                <a:spcPts val="500"/>
              </a:spcAft>
            </a:pPr>
            <a:r>
              <a:rPr sz="1500" b="0" lang="en-US">
                <a:solidFill>
                  <a:srgbClr val="526B78"/>
                </a:solidFill>
                <a:latin typeface="Arial"/>
                <a:ea typeface="Microsoft YaHei"/>
              </a:rPr>
              <a:t>A teacher model for Tim · Check context, clarity and reasons.</a:t>
            </a:r>
          </a:p>
        </p:txBody>
      </p:sp>
      <p:sp>
        <p:nvSpPr>
          <p:cNvPr id="23" name="Rectangle 22"/>
          <p:cNvSpPr/>
          <p:nvPr/>
        </p:nvSpPr>
        <p:spPr>
          <a:xfrm>
            <a:off x="1719072" y="6400800"/>
            <a:ext cx="9985248" cy="10058"/>
          </a:xfrm>
          <a:prstGeom prst="rect">
            <a:avLst/>
          </a:prstGeom>
          <a:solidFill>
            <a:srgbClr val="C8D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37360" y="6492240"/>
            <a:ext cx="9784080" cy="228600"/>
          </a:xfrm>
          <a:prstGeom prst="rect">
            <a:avLst/>
          </a:prstGeom>
          <a:noFill/>
        </p:spPr>
        <p:txBody>
          <a:bodyPr wrap="square" lIns="18288" rIns="18288" tIns="9144" bIns="9144">
            <a:spAutoFit/>
          </a:bodyPr>
          <a:lstStyle/>
          <a:p>
            <a:pPr algn="l">
              <a:lnSpc>
                <a:spcPct val="110000"/>
              </a:lnSpc>
              <a:spcAft>
                <a:spcPts val="500"/>
              </a:spcAft>
            </a:pPr>
            <a:r>
              <a:rPr sz="1050" b="0" lang="zh-CN">
                <a:solidFill>
                  <a:srgbClr val="526B78"/>
                </a:solidFill>
                <a:latin typeface="Microsoft YaHei"/>
                <a:ea typeface="Microsoft YaHei"/>
              </a:rPr>
              <a:t>设计意图  示范完整建议，并用标准检查文化泛化</a:t>
            </a:r>
          </a:p>
        </p:txBody>
      </p:sp>
      <p:sp>
        <p:nvSpPr>
          <p:cNvPr id="25" name="Rectangle 24"/>
          <p:cNvSpPr/>
          <p:nvPr/>
        </p:nvSpPr>
        <p:spPr>
          <a:xfrm>
            <a:off x="1719072" y="6345936"/>
            <a:ext cx="7988198" cy="2286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783080" y="2212848"/>
            <a:ext cx="9701784" cy="768096"/>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920240" y="2377440"/>
            <a:ext cx="2267712" cy="365760"/>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167D89"/>
                </a:solidFill>
                <a:latin typeface="Arial"/>
                <a:ea typeface="Microsoft YaHei"/>
              </a:rPr>
              <a:t>Greeting</a:t>
            </a:r>
          </a:p>
        </p:txBody>
      </p:sp>
      <p:sp>
        <p:nvSpPr>
          <p:cNvPr id="28" name="TextBox 27"/>
          <p:cNvSpPr txBox="1"/>
          <p:nvPr/>
        </p:nvSpPr>
        <p:spPr>
          <a:xfrm>
            <a:off x="4325112" y="2322576"/>
            <a:ext cx="6894576" cy="640080"/>
          </a:xfrm>
          <a:prstGeom prst="rect">
            <a:avLst/>
          </a:prstGeom>
          <a:noFill/>
        </p:spPr>
        <p:txBody>
          <a:bodyPr wrap="square" lIns="18288" rIns="18288" tIns="9144" bIns="9144">
            <a:spAutoFit/>
          </a:bodyPr>
          <a:lstStyle/>
          <a:p>
            <a:pPr algn="l">
              <a:lnSpc>
                <a:spcPct val="110000"/>
              </a:lnSpc>
              <a:spcAft>
                <a:spcPts val="500"/>
              </a:spcAft>
            </a:pPr>
            <a:r>
              <a:rPr sz="1800" b="0" lang="en-US">
                <a:solidFill>
                  <a:srgbClr val="183A50"/>
                </a:solidFill>
                <a:latin typeface="Arial"/>
                <a:ea typeface="Microsoft YaHei"/>
              </a:rPr>
              <a:t>At a first meeting, try an appropriate handshake or nod,</a:t>
            </a:r>
          </a:p>
          <a:p>
            <a:pPr algn="l">
              <a:lnSpc>
                <a:spcPct val="110000"/>
              </a:lnSpc>
              <a:spcAft>
                <a:spcPts val="500"/>
              </a:spcAft>
            </a:pPr>
            <a:r>
              <a:rPr sz="1800" b="0" lang="en-US">
                <a:solidFill>
                  <a:srgbClr val="183A50"/>
                </a:solidFill>
                <a:latin typeface="Arial"/>
                <a:ea typeface="Microsoft YaHei"/>
              </a:rPr>
              <a:t>because greetings depend on people and settings.</a:t>
            </a:r>
          </a:p>
        </p:txBody>
      </p:sp>
      <p:sp>
        <p:nvSpPr>
          <p:cNvPr id="29" name="Rectangle 28"/>
          <p:cNvSpPr/>
          <p:nvPr/>
        </p:nvSpPr>
        <p:spPr>
          <a:xfrm>
            <a:off x="1783080" y="3035808"/>
            <a:ext cx="9701784" cy="768096"/>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920240" y="3200400"/>
            <a:ext cx="2267712" cy="365760"/>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167D89"/>
                </a:solidFill>
                <a:latin typeface="Arial"/>
                <a:ea typeface="Microsoft YaHei"/>
              </a:rPr>
              <a:t>Conversation</a:t>
            </a:r>
          </a:p>
        </p:txBody>
      </p:sp>
      <p:sp>
        <p:nvSpPr>
          <p:cNvPr id="31" name="TextBox 30"/>
          <p:cNvSpPr txBox="1"/>
          <p:nvPr/>
        </p:nvSpPr>
        <p:spPr>
          <a:xfrm>
            <a:off x="4325112" y="3145536"/>
            <a:ext cx="6894576" cy="640080"/>
          </a:xfrm>
          <a:prstGeom prst="rect">
            <a:avLst/>
          </a:prstGeom>
          <a:noFill/>
        </p:spPr>
        <p:txBody>
          <a:bodyPr wrap="square" lIns="18288" rIns="18288" tIns="9144" bIns="9144">
            <a:spAutoFit/>
          </a:bodyPr>
          <a:lstStyle/>
          <a:p>
            <a:pPr algn="l">
              <a:lnSpc>
                <a:spcPct val="110000"/>
              </a:lnSpc>
              <a:spcAft>
                <a:spcPts val="500"/>
              </a:spcAft>
            </a:pPr>
            <a:r>
              <a:rPr sz="1800" b="0" lang="en-US">
                <a:solidFill>
                  <a:srgbClr val="183A50"/>
                </a:solidFill>
                <a:latin typeface="Arial"/>
                <a:ea typeface="Microsoft YaHei"/>
              </a:rPr>
              <a:t>Use comfortable eye contact without staring</a:t>
            </a:r>
          </a:p>
          <a:p>
            <a:pPr algn="l">
              <a:lnSpc>
                <a:spcPct val="110000"/>
              </a:lnSpc>
              <a:spcAft>
                <a:spcPts val="500"/>
              </a:spcAft>
            </a:pPr>
            <a:r>
              <a:rPr sz="1800" b="0" lang="en-US">
                <a:solidFill>
                  <a:srgbClr val="183A50"/>
                </a:solidFill>
                <a:latin typeface="Arial"/>
                <a:ea typeface="Microsoft YaHei"/>
              </a:rPr>
              <a:t>to show attention.</a:t>
            </a:r>
          </a:p>
        </p:txBody>
      </p:sp>
      <p:sp>
        <p:nvSpPr>
          <p:cNvPr id="32" name="Rectangle 31"/>
          <p:cNvSpPr/>
          <p:nvPr/>
        </p:nvSpPr>
        <p:spPr>
          <a:xfrm>
            <a:off x="1783080" y="3858768"/>
            <a:ext cx="9701784" cy="768096"/>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920240" y="4023359"/>
            <a:ext cx="2267712" cy="365760"/>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167D89"/>
                </a:solidFill>
                <a:latin typeface="Arial"/>
                <a:ea typeface="Microsoft YaHei"/>
              </a:rPr>
              <a:t>Formal setting</a:t>
            </a:r>
          </a:p>
        </p:txBody>
      </p:sp>
      <p:sp>
        <p:nvSpPr>
          <p:cNvPr id="34" name="TextBox 33"/>
          <p:cNvSpPr txBox="1"/>
          <p:nvPr/>
        </p:nvSpPr>
        <p:spPr>
          <a:xfrm>
            <a:off x="4325112" y="3968496"/>
            <a:ext cx="6894576" cy="640080"/>
          </a:xfrm>
          <a:prstGeom prst="rect">
            <a:avLst/>
          </a:prstGeom>
          <a:noFill/>
        </p:spPr>
        <p:txBody>
          <a:bodyPr wrap="square" lIns="18288" rIns="18288" tIns="9144" bIns="9144">
            <a:spAutoFit/>
          </a:bodyPr>
          <a:lstStyle/>
          <a:p>
            <a:pPr algn="l">
              <a:lnSpc>
                <a:spcPct val="110000"/>
              </a:lnSpc>
              <a:spcAft>
                <a:spcPts val="500"/>
              </a:spcAft>
            </a:pPr>
            <a:r>
              <a:rPr sz="1800" b="0" lang="en-US">
                <a:solidFill>
                  <a:srgbClr val="183A50"/>
                </a:solidFill>
                <a:latin typeface="Arial"/>
                <a:ea typeface="Microsoft YaHei"/>
              </a:rPr>
              <a:t>Sit or stand attentively</a:t>
            </a:r>
          </a:p>
          <a:p>
            <a:pPr algn="l">
              <a:lnSpc>
                <a:spcPct val="110000"/>
              </a:lnSpc>
              <a:spcAft>
                <a:spcPts val="500"/>
              </a:spcAft>
            </a:pPr>
            <a:r>
              <a:rPr sz="1800" b="0" lang="en-US">
                <a:solidFill>
                  <a:srgbClr val="183A50"/>
                </a:solidFill>
                <a:latin typeface="Arial"/>
                <a:ea typeface="Microsoft YaHei"/>
              </a:rPr>
              <a:t>to show that you are listening.</a:t>
            </a:r>
          </a:p>
        </p:txBody>
      </p:sp>
      <p:sp>
        <p:nvSpPr>
          <p:cNvPr id="35" name="TextBox 34"/>
          <p:cNvSpPr txBox="1"/>
          <p:nvPr/>
        </p:nvSpPr>
        <p:spPr>
          <a:xfrm>
            <a:off x="1901952" y="4882896"/>
            <a:ext cx="9363456" cy="402336"/>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C6933E"/>
                </a:solidFill>
                <a:latin typeface="Arial"/>
                <a:ea typeface="Microsoft YaHei"/>
              </a:rPr>
              <a:t>REVISE  “Everyone in China always shakes hands.”</a:t>
            </a:r>
          </a:p>
        </p:txBody>
      </p:sp>
      <p:sp>
        <p:nvSpPr>
          <p:cNvPr id="36" name="TextBox 35"/>
          <p:cNvSpPr txBox="1"/>
          <p:nvPr/>
        </p:nvSpPr>
        <p:spPr>
          <a:xfrm>
            <a:off x="1901952" y="5413248"/>
            <a:ext cx="9363456" cy="484632"/>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167D89"/>
                </a:solidFill>
                <a:latin typeface="Arial"/>
                <a:ea typeface="Microsoft YaHei"/>
              </a:rPr>
              <a:t>“At a first meeting, an appropriate handshake or nod may be suitable.”</a:t>
            </a:r>
          </a:p>
        </p:txBody>
      </p:sp>
      <p:sp>
        <p:nvSpPr>
          <p:cNvPr id="37" name="TextBox 36"/>
          <p:cNvSpPr txBox="1"/>
          <p:nvPr/>
        </p:nvSpPr>
        <p:spPr>
          <a:xfrm>
            <a:off x="1920240" y="6025896"/>
            <a:ext cx="9299448" cy="256032"/>
          </a:xfrm>
          <a:prstGeom prst="rect">
            <a:avLst/>
          </a:prstGeom>
          <a:noFill/>
        </p:spPr>
        <p:txBody>
          <a:bodyPr wrap="square" lIns="18288" rIns="18288" tIns="9144" bIns="9144">
            <a:spAutoFit/>
          </a:bodyPr>
          <a:lstStyle/>
          <a:p>
            <a:pPr algn="l">
              <a:lnSpc>
                <a:spcPct val="110000"/>
              </a:lnSpc>
              <a:spcAft>
                <a:spcPts val="500"/>
              </a:spcAft>
            </a:pPr>
            <a:r>
              <a:rPr sz="1400" b="0" lang="en-US">
                <a:solidFill>
                  <a:srgbClr val="526B78"/>
                </a:solidFill>
                <a:latin typeface="Arial"/>
                <a:ea typeface="Microsoft YaHei"/>
              </a:rPr>
              <a:t>Crossed legs or folded arms alone do not prove disrespect. Check the setting.</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3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3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3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3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1" grpId="0"/>
      <p:bldP spid="34" grpId="0"/>
      <p:bldP spid="36" grpId="0"/>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9FA"/>
        </a:solidFill>
        <a:effectLst/>
      </p:bgPr>
    </p:bg>
    <p:spTree>
      <p:nvGrpSpPr>
        <p:cNvPr id="1" name=""/>
        <p:cNvGrpSpPr/>
        <p:nvPr/>
      </p:nvGrpSpPr>
      <p:grpSpPr/>
      <p:sp>
        <p:nvSpPr>
          <p:cNvPr id="2" name="Rectangle 1"/>
          <p:cNvSpPr/>
          <p:nvPr/>
        </p:nvSpPr>
        <p:spPr>
          <a:xfrm>
            <a:off x="0" y="0"/>
            <a:ext cx="1325880" cy="6858000"/>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329184"/>
            <a:ext cx="896112" cy="457200"/>
          </a:xfrm>
          <a:prstGeom prst="rect">
            <a:avLst/>
          </a:prstGeom>
          <a:noFill/>
        </p:spPr>
        <p:txBody>
          <a:bodyPr wrap="square" lIns="18288" rIns="18288" tIns="9144" bIns="9144">
            <a:spAutoFit/>
          </a:bodyPr>
          <a:lstStyle/>
          <a:p>
            <a:pPr algn="l">
              <a:lnSpc>
                <a:spcPct val="110000"/>
              </a:lnSpc>
              <a:spcAft>
                <a:spcPts val="500"/>
              </a:spcAft>
            </a:pPr>
            <a:r>
              <a:rPr sz="1800" b="1" lang="en-US">
                <a:solidFill>
                  <a:srgbClr val="FFFFFF"/>
                </a:solidFill>
                <a:latin typeface="Arial"/>
                <a:ea typeface="Microsoft YaHei"/>
              </a:rPr>
              <a:t>UNIT 4</a:t>
            </a:r>
          </a:p>
        </p:txBody>
      </p:sp>
      <p:sp>
        <p:nvSpPr>
          <p:cNvPr id="4" name="TextBox 3"/>
          <p:cNvSpPr txBox="1"/>
          <p:nvPr/>
        </p:nvSpPr>
        <p:spPr>
          <a:xfrm>
            <a:off x="219456" y="868680"/>
            <a:ext cx="914400" cy="658368"/>
          </a:xfrm>
          <a:prstGeom prst="rect">
            <a:avLst/>
          </a:prstGeom>
          <a:noFill/>
        </p:spPr>
        <p:txBody>
          <a:bodyPr wrap="square" lIns="18288" rIns="18288" tIns="9144" bIns="9144">
            <a:spAutoFit/>
          </a:bodyPr>
          <a:lstStyle/>
          <a:p>
            <a:pPr algn="l">
              <a:lnSpc>
                <a:spcPct val="110000"/>
              </a:lnSpc>
              <a:spcAft>
                <a:spcPts val="500"/>
              </a:spcAft>
            </a:pPr>
            <a:r>
              <a:rPr sz="1200" b="1" lang="en-US">
                <a:solidFill>
                  <a:srgbClr val="93C3D4"/>
                </a:solidFill>
                <a:latin typeface="Arial"/>
                <a:ea typeface="Microsoft YaHei"/>
              </a:rPr>
              <a:t>READ</a:t>
            </a:r>
          </a:p>
          <a:p>
            <a:pPr algn="l">
              <a:lnSpc>
                <a:spcPct val="110000"/>
              </a:lnSpc>
              <a:spcAft>
                <a:spcPts val="500"/>
              </a:spcAft>
            </a:pPr>
            <a:r>
              <a:rPr sz="1200" b="1" lang="en-US">
                <a:solidFill>
                  <a:srgbClr val="93C3D4"/>
                </a:solidFill>
                <a:latin typeface="Arial"/>
                <a:ea typeface="Microsoft YaHei"/>
              </a:rPr>
              <a:t>&amp; THINK</a:t>
            </a:r>
          </a:p>
        </p:txBody>
      </p:sp>
      <p:sp>
        <p:nvSpPr>
          <p:cNvPr id="5" name="Rectangle 4">
            <a:hlinkClick action="ppaction://hlinksldjump" r:id="rId3"/>
          </p:cNvPr>
          <p:cNvSpPr/>
          <p:nvPr/>
        </p:nvSpPr>
        <p:spPr>
          <a:xfrm>
            <a:off x="109728" y="1874519"/>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146304" y="1933955"/>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说教材</a:t>
            </a:r>
          </a:p>
        </p:txBody>
      </p:sp>
      <p:sp>
        <p:nvSpPr>
          <p:cNvPr id="7" name="Rectangle 6">
            <a:hlinkClick action="ppaction://hlinksldjump" r:id="rId4"/>
          </p:cNvPr>
          <p:cNvSpPr/>
          <p:nvPr/>
        </p:nvSpPr>
        <p:spPr>
          <a:xfrm>
            <a:off x="109728" y="2441448"/>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46304" y="2500884"/>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说学情</a:t>
            </a:r>
          </a:p>
        </p:txBody>
      </p:sp>
      <p:sp>
        <p:nvSpPr>
          <p:cNvPr id="9" name="Rectangle 8">
            <a:hlinkClick action="ppaction://hlinksldjump" r:id="rId5"/>
          </p:cNvPr>
          <p:cNvSpPr/>
          <p:nvPr/>
        </p:nvSpPr>
        <p:spPr>
          <a:xfrm>
            <a:off x="109728" y="3008376"/>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46304" y="3067812"/>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说目标</a:t>
            </a:r>
          </a:p>
        </p:txBody>
      </p:sp>
      <p:sp>
        <p:nvSpPr>
          <p:cNvPr id="11" name="Rectangle 10">
            <a:hlinkClick action="ppaction://hlinksldjump" r:id="rId6"/>
          </p:cNvPr>
          <p:cNvSpPr/>
          <p:nvPr/>
        </p:nvSpPr>
        <p:spPr>
          <a:xfrm>
            <a:off x="109728" y="3575303"/>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6"/>
          </p:cNvPr>
          <p:cNvSpPr txBox="1"/>
          <p:nvPr/>
        </p:nvSpPr>
        <p:spPr>
          <a:xfrm>
            <a:off x="146304" y="3634739"/>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说重难</a:t>
            </a:r>
          </a:p>
        </p:txBody>
      </p:sp>
      <p:sp>
        <p:nvSpPr>
          <p:cNvPr id="13" name="Rectangle 12">
            <a:hlinkClick action="ppaction://hlinksldjump" r:id="rId7"/>
          </p:cNvPr>
          <p:cNvSpPr/>
          <p:nvPr/>
        </p:nvSpPr>
        <p:spPr>
          <a:xfrm>
            <a:off x="109728" y="4142231"/>
            <a:ext cx="1097280" cy="42976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7"/>
          </p:cNvPr>
          <p:cNvSpPr txBox="1"/>
          <p:nvPr/>
        </p:nvSpPr>
        <p:spPr>
          <a:xfrm>
            <a:off x="146304" y="4201668"/>
            <a:ext cx="1024128" cy="301752"/>
          </a:xfrm>
          <a:prstGeom prst="rect">
            <a:avLst/>
          </a:prstGeom>
          <a:noFill/>
        </p:spPr>
        <p:txBody>
          <a:bodyPr wrap="square" lIns="18288" rIns="18288" tIns="9144" bIns="9144">
            <a:spAutoFit/>
          </a:bodyPr>
          <a:lstStyle/>
          <a:p>
            <a:pPr algn="ctr">
              <a:lnSpc>
                <a:spcPct val="110000"/>
              </a:lnSpc>
              <a:spcAft>
                <a:spcPts val="500"/>
              </a:spcAft>
            </a:pPr>
            <a:r>
              <a:rPr sz="1500" b="1" lang="zh-CN">
                <a:solidFill>
                  <a:srgbClr val="FFFFFF"/>
                </a:solidFill>
                <a:latin typeface="Microsoft YaHei"/>
                <a:ea typeface="Microsoft YaHei"/>
              </a:rPr>
              <a:t>说过程</a:t>
            </a:r>
          </a:p>
        </p:txBody>
      </p:sp>
      <p:sp>
        <p:nvSpPr>
          <p:cNvPr id="15" name="Rectangle 14">
            <a:hlinkClick action="ppaction://hlinksldjump" r:id="rId8"/>
          </p:cNvPr>
          <p:cNvSpPr/>
          <p:nvPr/>
        </p:nvSpPr>
        <p:spPr>
          <a:xfrm>
            <a:off x="109728" y="4709160"/>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8"/>
          </p:cNvPr>
          <p:cNvSpPr txBox="1"/>
          <p:nvPr/>
        </p:nvSpPr>
        <p:spPr>
          <a:xfrm>
            <a:off x="146304" y="4768596"/>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说反思</a:t>
            </a:r>
          </a:p>
        </p:txBody>
      </p:sp>
      <p:sp>
        <p:nvSpPr>
          <p:cNvPr id="17" name="TextBox 16"/>
          <p:cNvSpPr txBox="1"/>
          <p:nvPr/>
        </p:nvSpPr>
        <p:spPr>
          <a:xfrm>
            <a:off x="210312" y="6062472"/>
            <a:ext cx="950976" cy="393192"/>
          </a:xfrm>
          <a:prstGeom prst="rect">
            <a:avLst/>
          </a:prstGeom>
          <a:noFill/>
        </p:spPr>
        <p:txBody>
          <a:bodyPr wrap="square" lIns="18288" rIns="18288" tIns="9144" bIns="9144">
            <a:spAutoFit/>
          </a:bodyPr>
          <a:lstStyle/>
          <a:p>
            <a:pPr algn="ctr">
              <a:lnSpc>
                <a:spcPct val="110000"/>
              </a:lnSpc>
              <a:spcAft>
                <a:spcPts val="500"/>
              </a:spcAft>
            </a:pPr>
            <a:r>
              <a:rPr sz="1300" b="0" lang="en-US">
                <a:solidFill>
                  <a:srgbClr val="BCD3DF"/>
                </a:solidFill>
                <a:latin typeface="Arial"/>
                <a:ea typeface="Microsoft YaHei"/>
              </a:rPr>
              <a:t>17 / 20</a:t>
            </a:r>
          </a:p>
        </p:txBody>
      </p:sp>
      <p:sp>
        <p:nvSpPr>
          <p:cNvPr id="18" name="Rectangle 17"/>
          <p:cNvSpPr/>
          <p:nvPr/>
        </p:nvSpPr>
        <p:spPr>
          <a:xfrm>
            <a:off x="1325880" y="0"/>
            <a:ext cx="10872216" cy="6858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00784" y="283464"/>
            <a:ext cx="7315200" cy="274320"/>
          </a:xfrm>
          <a:prstGeom prst="rect">
            <a:avLst/>
          </a:prstGeom>
          <a:noFill/>
        </p:spPr>
        <p:txBody>
          <a:bodyPr wrap="square" lIns="18288" rIns="18288" tIns="9144" bIns="9144">
            <a:spAutoFit/>
          </a:bodyPr>
          <a:lstStyle/>
          <a:p>
            <a:pPr algn="l">
              <a:lnSpc>
                <a:spcPct val="110000"/>
              </a:lnSpc>
              <a:spcAft>
                <a:spcPts val="500"/>
              </a:spcAft>
            </a:pPr>
            <a:r>
              <a:rPr sz="1100" b="1" lang="en-US">
                <a:solidFill>
                  <a:srgbClr val="167D89"/>
                </a:solidFill>
                <a:latin typeface="Arial"/>
                <a:ea typeface="Microsoft YaHei"/>
              </a:rPr>
              <a:t>BODY LANGUAGE   /   READING AND THINKING</a:t>
            </a:r>
          </a:p>
        </p:txBody>
      </p:sp>
      <p:sp>
        <p:nvSpPr>
          <p:cNvPr id="20" name="TextBox 19"/>
          <p:cNvSpPr txBox="1"/>
          <p:nvPr/>
        </p:nvSpPr>
        <p:spPr>
          <a:xfrm>
            <a:off x="9802368" y="283464"/>
            <a:ext cx="1920240" cy="274320"/>
          </a:xfrm>
          <a:prstGeom prst="rect">
            <a:avLst/>
          </a:prstGeom>
          <a:noFill/>
        </p:spPr>
        <p:txBody>
          <a:bodyPr wrap="square" lIns="18288" rIns="18288" tIns="9144" bIns="9144">
            <a:spAutoFit/>
          </a:bodyPr>
          <a:lstStyle/>
          <a:p>
            <a:pPr algn="r">
              <a:lnSpc>
                <a:spcPct val="110000"/>
              </a:lnSpc>
              <a:spcAft>
                <a:spcPts val="500"/>
              </a:spcAft>
            </a:pPr>
            <a:r>
              <a:rPr sz="1100" b="0" lang="en-US">
                <a:solidFill>
                  <a:srgbClr val="526B78"/>
                </a:solidFill>
                <a:latin typeface="Arial"/>
                <a:ea typeface="Microsoft YaHei"/>
              </a:rPr>
              <a:t>11:25–12:20</a:t>
            </a:r>
          </a:p>
        </p:txBody>
      </p:sp>
      <p:sp>
        <p:nvSpPr>
          <p:cNvPr id="21" name="TextBox 20"/>
          <p:cNvSpPr txBox="1"/>
          <p:nvPr/>
        </p:nvSpPr>
        <p:spPr>
          <a:xfrm>
            <a:off x="1691640" y="859536"/>
            <a:ext cx="10021824" cy="630936"/>
          </a:xfrm>
          <a:prstGeom prst="rect">
            <a:avLst/>
          </a:prstGeom>
          <a:noFill/>
        </p:spPr>
        <p:txBody>
          <a:bodyPr wrap="square" lIns="18288" rIns="18288" tIns="9144" bIns="9144">
            <a:spAutoFit/>
          </a:bodyPr>
          <a:lstStyle/>
          <a:p>
            <a:pPr algn="l">
              <a:lnSpc>
                <a:spcPct val="110000"/>
              </a:lnSpc>
              <a:spcAft>
                <a:spcPts val="500"/>
              </a:spcAft>
            </a:pPr>
            <a:r>
              <a:rPr sz="3000" b="1" lang="en-US">
                <a:solidFill>
                  <a:srgbClr val="183A50"/>
                </a:solidFill>
                <a:latin typeface="Arial"/>
                <a:ea typeface="Microsoft YaHei"/>
              </a:rPr>
              <a:t>Our reading map: understand and respect.</a:t>
            </a:r>
          </a:p>
        </p:txBody>
      </p:sp>
      <p:sp>
        <p:nvSpPr>
          <p:cNvPr id="22" name="TextBox 21"/>
          <p:cNvSpPr txBox="1"/>
          <p:nvPr/>
        </p:nvSpPr>
        <p:spPr>
          <a:xfrm>
            <a:off x="1719072" y="1545336"/>
            <a:ext cx="9921240" cy="521207"/>
          </a:xfrm>
          <a:prstGeom prst="rect">
            <a:avLst/>
          </a:prstGeom>
          <a:noFill/>
        </p:spPr>
        <p:txBody>
          <a:bodyPr wrap="square" lIns="18288" rIns="18288" tIns="9144" bIns="9144">
            <a:spAutoFit/>
          </a:bodyPr>
          <a:lstStyle/>
          <a:p>
            <a:pPr algn="l">
              <a:lnSpc>
                <a:spcPct val="110000"/>
              </a:lnSpc>
              <a:spcAft>
                <a:spcPts val="500"/>
              </a:spcAft>
            </a:pPr>
            <a:r>
              <a:rPr sz="1500" b="0" lang="en-US">
                <a:solidFill>
                  <a:srgbClr val="526B78"/>
                </a:solidFill>
                <a:latin typeface="Arial"/>
                <a:ea typeface="Microsoft YaHei"/>
              </a:rPr>
              <a:t>Listening to How Bodies Talk</a:t>
            </a:r>
          </a:p>
        </p:txBody>
      </p:sp>
      <p:sp>
        <p:nvSpPr>
          <p:cNvPr id="23" name="Rectangle 22"/>
          <p:cNvSpPr/>
          <p:nvPr/>
        </p:nvSpPr>
        <p:spPr>
          <a:xfrm>
            <a:off x="1719072" y="6400800"/>
            <a:ext cx="9985248" cy="10058"/>
          </a:xfrm>
          <a:prstGeom prst="rect">
            <a:avLst/>
          </a:prstGeom>
          <a:solidFill>
            <a:srgbClr val="C8D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37360" y="6492240"/>
            <a:ext cx="9784080" cy="228600"/>
          </a:xfrm>
          <a:prstGeom prst="rect">
            <a:avLst/>
          </a:prstGeom>
          <a:noFill/>
        </p:spPr>
        <p:txBody>
          <a:bodyPr wrap="square" lIns="18288" rIns="18288" tIns="9144" bIns="9144">
            <a:spAutoFit/>
          </a:bodyPr>
          <a:lstStyle/>
          <a:p>
            <a:pPr algn="l">
              <a:lnSpc>
                <a:spcPct val="110000"/>
              </a:lnSpc>
              <a:spcAft>
                <a:spcPts val="500"/>
              </a:spcAft>
            </a:pPr>
            <a:r>
              <a:rPr sz="1050" b="0" lang="zh-CN">
                <a:solidFill>
                  <a:srgbClr val="526B78"/>
                </a:solidFill>
                <a:latin typeface="Microsoft YaHei"/>
                <a:ea typeface="Microsoft YaHei"/>
              </a:rPr>
              <a:t>设计意图  重构语篇，形成跨文化理解的行动原则</a:t>
            </a:r>
          </a:p>
        </p:txBody>
      </p:sp>
      <p:sp>
        <p:nvSpPr>
          <p:cNvPr id="25" name="Rectangle 24"/>
          <p:cNvSpPr/>
          <p:nvPr/>
        </p:nvSpPr>
        <p:spPr>
          <a:xfrm>
            <a:off x="1719072" y="6345936"/>
            <a:ext cx="8487460" cy="2286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773936" y="2249424"/>
            <a:ext cx="9692640" cy="3118104"/>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984248" y="2432304"/>
            <a:ext cx="9244584" cy="420624"/>
          </a:xfrm>
          <a:prstGeom prst="rect">
            <a:avLst/>
          </a:prstGeom>
          <a:noFill/>
        </p:spPr>
        <p:txBody>
          <a:bodyPr wrap="square" lIns="18288" rIns="18288" tIns="9144" bIns="9144">
            <a:spAutoFit/>
          </a:bodyPr>
          <a:lstStyle/>
          <a:p>
            <a:pPr algn="ctr">
              <a:lnSpc>
                <a:spcPct val="110000"/>
              </a:lnSpc>
              <a:spcAft>
                <a:spcPts val="500"/>
              </a:spcAft>
            </a:pPr>
            <a:r>
              <a:rPr sz="2300" b="1" lang="en-US">
                <a:solidFill>
                  <a:srgbClr val="FFFFFF"/>
                </a:solidFill>
                <a:latin typeface="Arial"/>
                <a:ea typeface="Microsoft YaHei"/>
              </a:rPr>
              <a:t>BODY LANGUAGE   /   Cultural understanding</a:t>
            </a:r>
          </a:p>
        </p:txBody>
      </p:sp>
      <p:sp>
        <p:nvSpPr>
          <p:cNvPr id="28" name="TextBox 27"/>
          <p:cNvSpPr txBox="1"/>
          <p:nvPr/>
        </p:nvSpPr>
        <p:spPr>
          <a:xfrm>
            <a:off x="1984248" y="3163824"/>
            <a:ext cx="4416552" cy="758952"/>
          </a:xfrm>
          <a:prstGeom prst="rect">
            <a:avLst/>
          </a:prstGeom>
          <a:noFill/>
        </p:spPr>
        <p:txBody>
          <a:bodyPr wrap="square" lIns="18288" rIns="18288" tIns="9144" bIns="9144">
            <a:spAutoFit/>
          </a:bodyPr>
          <a:lstStyle/>
          <a:p>
            <a:pPr algn="l">
              <a:lnSpc>
                <a:spcPct val="110000"/>
              </a:lnSpc>
              <a:spcAft>
                <a:spcPts val="500"/>
              </a:spcAft>
            </a:pPr>
            <a:r>
              <a:rPr sz="1900" b="1" lang="en-US">
                <a:solidFill>
                  <a:srgbClr val="C5E7EE"/>
                </a:solidFill>
                <a:latin typeface="Arial"/>
                <a:ea typeface="Microsoft YaHei"/>
              </a:rPr>
              <a:t>P1 · Introduction</a:t>
            </a:r>
          </a:p>
          <a:p>
            <a:pPr algn="l">
              <a:lnSpc>
                <a:spcPct val="110000"/>
              </a:lnSpc>
              <a:spcAft>
                <a:spcPts val="500"/>
              </a:spcAft>
            </a:pPr>
            <a:r>
              <a:rPr sz="1900" b="1" lang="en-US">
                <a:solidFill>
                  <a:srgbClr val="C5E7EE"/>
                </a:solidFill>
                <a:latin typeface="Arial"/>
                <a:ea typeface="Microsoft YaHei"/>
              </a:rPr>
              <a:t>Words + movements</a:t>
            </a:r>
          </a:p>
        </p:txBody>
      </p:sp>
      <p:sp>
        <p:nvSpPr>
          <p:cNvPr id="29" name="TextBox 28"/>
          <p:cNvSpPr txBox="1"/>
          <p:nvPr/>
        </p:nvSpPr>
        <p:spPr>
          <a:xfrm>
            <a:off x="6611112" y="3163824"/>
            <a:ext cx="4416552" cy="758952"/>
          </a:xfrm>
          <a:prstGeom prst="rect">
            <a:avLst/>
          </a:prstGeom>
          <a:noFill/>
        </p:spPr>
        <p:txBody>
          <a:bodyPr wrap="square" lIns="18288" rIns="18288" tIns="9144" bIns="9144">
            <a:spAutoFit/>
          </a:bodyPr>
          <a:lstStyle/>
          <a:p>
            <a:pPr algn="l">
              <a:lnSpc>
                <a:spcPct val="110000"/>
              </a:lnSpc>
              <a:spcAft>
                <a:spcPts val="500"/>
              </a:spcAft>
            </a:pPr>
            <a:r>
              <a:rPr sz="1900" b="1" lang="en-US">
                <a:solidFill>
                  <a:srgbClr val="C5E7EE"/>
                </a:solidFill>
                <a:latin typeface="Arial"/>
                <a:ea typeface="Microsoft YaHei"/>
              </a:rPr>
              <a:t>P2–4 · Differences</a:t>
            </a:r>
          </a:p>
          <a:p>
            <a:pPr algn="l">
              <a:lnSpc>
                <a:spcPct val="110000"/>
              </a:lnSpc>
              <a:spcAft>
                <a:spcPts val="500"/>
              </a:spcAft>
            </a:pPr>
            <a:r>
              <a:rPr sz="1900" b="1" lang="en-US">
                <a:solidFill>
                  <a:srgbClr val="C5E7EE"/>
                </a:solidFill>
                <a:latin typeface="Arial"/>
                <a:ea typeface="Microsoft YaHei"/>
              </a:rPr>
              <a:t>Meaning changes with culture</a:t>
            </a:r>
          </a:p>
        </p:txBody>
      </p:sp>
      <p:sp>
        <p:nvSpPr>
          <p:cNvPr id="30" name="TextBox 29"/>
          <p:cNvSpPr txBox="1"/>
          <p:nvPr/>
        </p:nvSpPr>
        <p:spPr>
          <a:xfrm>
            <a:off x="1984248" y="4142232"/>
            <a:ext cx="4416552" cy="758952"/>
          </a:xfrm>
          <a:prstGeom prst="rect">
            <a:avLst/>
          </a:prstGeom>
          <a:noFill/>
        </p:spPr>
        <p:txBody>
          <a:bodyPr wrap="square" lIns="18288" rIns="18288" tIns="9144" bIns="9144">
            <a:spAutoFit/>
          </a:bodyPr>
          <a:lstStyle/>
          <a:p>
            <a:pPr algn="l">
              <a:lnSpc>
                <a:spcPct val="110000"/>
              </a:lnSpc>
              <a:spcAft>
                <a:spcPts val="500"/>
              </a:spcAft>
            </a:pPr>
            <a:r>
              <a:rPr sz="1900" b="1" lang="en-US">
                <a:solidFill>
                  <a:srgbClr val="C5E7EE"/>
                </a:solidFill>
                <a:latin typeface="Arial"/>
                <a:ea typeface="Microsoft YaHei"/>
              </a:rPr>
              <a:t>P5 · Similarities</a:t>
            </a:r>
          </a:p>
          <a:p>
            <a:pPr algn="l">
              <a:lnSpc>
                <a:spcPct val="110000"/>
              </a:lnSpc>
              <a:spcAft>
                <a:spcPts val="500"/>
              </a:spcAft>
            </a:pPr>
            <a:r>
              <a:rPr sz="1900" b="1" lang="en-US">
                <a:solidFill>
                  <a:srgbClr val="C5E7EE"/>
                </a:solidFill>
                <a:latin typeface="Arial"/>
                <a:ea typeface="Microsoft YaHei"/>
              </a:rPr>
              <a:t>Shared sleep / fullness examples</a:t>
            </a:r>
          </a:p>
        </p:txBody>
      </p:sp>
      <p:sp>
        <p:nvSpPr>
          <p:cNvPr id="31" name="TextBox 30"/>
          <p:cNvSpPr txBox="1"/>
          <p:nvPr/>
        </p:nvSpPr>
        <p:spPr>
          <a:xfrm>
            <a:off x="6611112" y="4142232"/>
            <a:ext cx="4416552" cy="758952"/>
          </a:xfrm>
          <a:prstGeom prst="rect">
            <a:avLst/>
          </a:prstGeom>
          <a:noFill/>
        </p:spPr>
        <p:txBody>
          <a:bodyPr wrap="square" lIns="18288" rIns="18288" tIns="9144" bIns="9144">
            <a:spAutoFit/>
          </a:bodyPr>
          <a:lstStyle/>
          <a:p>
            <a:pPr algn="l">
              <a:lnSpc>
                <a:spcPct val="110000"/>
              </a:lnSpc>
              <a:spcAft>
                <a:spcPts val="500"/>
              </a:spcAft>
            </a:pPr>
            <a:r>
              <a:rPr sz="1900" b="1" lang="en-US">
                <a:solidFill>
                  <a:srgbClr val="C5E7EE"/>
                </a:solidFill>
                <a:latin typeface="Arial"/>
                <a:ea typeface="Microsoft YaHei"/>
              </a:rPr>
              <a:t>P6 · Different uses</a:t>
            </a:r>
          </a:p>
          <a:p>
            <a:pPr algn="l">
              <a:lnSpc>
                <a:spcPct val="110000"/>
              </a:lnSpc>
              <a:spcAft>
                <a:spcPts val="500"/>
              </a:spcAft>
            </a:pPr>
            <a:r>
              <a:rPr sz="1900" b="1" lang="en-US">
                <a:solidFill>
                  <a:srgbClr val="C5E7EE"/>
                </a:solidFill>
                <a:latin typeface="Arial"/>
                <a:ea typeface="Microsoft YaHei"/>
              </a:rPr>
              <a:t>Smiles: social + emotional</a:t>
            </a:r>
          </a:p>
        </p:txBody>
      </p:sp>
      <p:sp>
        <p:nvSpPr>
          <p:cNvPr id="32" name="TextBox 31"/>
          <p:cNvSpPr txBox="1"/>
          <p:nvPr/>
        </p:nvSpPr>
        <p:spPr>
          <a:xfrm>
            <a:off x="1865376" y="5586984"/>
            <a:ext cx="9390888" cy="521207"/>
          </a:xfrm>
          <a:prstGeom prst="rect">
            <a:avLst/>
          </a:prstGeom>
          <a:noFill/>
        </p:spPr>
        <p:txBody>
          <a:bodyPr wrap="square" lIns="18288" rIns="18288" tIns="9144" bIns="9144">
            <a:spAutoFit/>
          </a:bodyPr>
          <a:lstStyle/>
          <a:p>
            <a:pPr algn="l">
              <a:lnSpc>
                <a:spcPct val="110000"/>
              </a:lnSpc>
              <a:spcAft>
                <a:spcPts val="500"/>
              </a:spcAft>
            </a:pPr>
            <a:r>
              <a:rPr sz="1800" b="1" lang="en-US">
                <a:solidFill>
                  <a:srgbClr val="167D89"/>
                </a:solidFill>
                <a:latin typeface="Arial"/>
                <a:ea typeface="Microsoft YaHei"/>
              </a:rPr>
              <a:t>EXIT  “Before interpreting a gesture, I should …”</a:t>
            </a:r>
          </a:p>
          <a:p>
            <a:pPr algn="l">
              <a:lnSpc>
                <a:spcPct val="110000"/>
              </a:lnSpc>
              <a:spcAft>
                <a:spcPts val="500"/>
              </a:spcAft>
            </a:pPr>
            <a:r>
              <a:rPr sz="1800" b="1" lang="en-US">
                <a:solidFill>
                  <a:srgbClr val="167D89"/>
                </a:solidFill>
                <a:latin typeface="Arial"/>
                <a:ea typeface="Microsoft YaHei"/>
              </a:rPr>
              <a:t>Learn the culture. Understand the situation. Respect differences.</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3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3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3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3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p:bldP spid="31" grpId="0"/>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9FA"/>
        </a:solidFill>
        <a:effectLst/>
      </p:bgPr>
    </p:bg>
    <p:spTree>
      <p:nvGrpSpPr>
        <p:cNvPr id="1" name=""/>
        <p:cNvGrpSpPr/>
        <p:nvPr/>
      </p:nvGrpSpPr>
      <p:grpSpPr/>
      <p:sp>
        <p:nvSpPr>
          <p:cNvPr id="2" name="Rectangle 1"/>
          <p:cNvSpPr/>
          <p:nvPr/>
        </p:nvSpPr>
        <p:spPr>
          <a:xfrm>
            <a:off x="0" y="0"/>
            <a:ext cx="1325880" cy="6858000"/>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329184"/>
            <a:ext cx="896112" cy="457200"/>
          </a:xfrm>
          <a:prstGeom prst="rect">
            <a:avLst/>
          </a:prstGeom>
          <a:noFill/>
        </p:spPr>
        <p:txBody>
          <a:bodyPr wrap="square" lIns="18288" rIns="18288" tIns="9144" bIns="9144">
            <a:spAutoFit/>
          </a:bodyPr>
          <a:lstStyle/>
          <a:p>
            <a:pPr algn="l">
              <a:lnSpc>
                <a:spcPct val="110000"/>
              </a:lnSpc>
              <a:spcAft>
                <a:spcPts val="500"/>
              </a:spcAft>
            </a:pPr>
            <a:r>
              <a:rPr sz="1800" b="1" lang="en-US">
                <a:solidFill>
                  <a:srgbClr val="FFFFFF"/>
                </a:solidFill>
                <a:latin typeface="Arial"/>
                <a:ea typeface="Microsoft YaHei"/>
              </a:rPr>
              <a:t>UNIT 4</a:t>
            </a:r>
          </a:p>
        </p:txBody>
      </p:sp>
      <p:sp>
        <p:nvSpPr>
          <p:cNvPr id="4" name="TextBox 3"/>
          <p:cNvSpPr txBox="1"/>
          <p:nvPr/>
        </p:nvSpPr>
        <p:spPr>
          <a:xfrm>
            <a:off x="219456" y="868680"/>
            <a:ext cx="914400" cy="658368"/>
          </a:xfrm>
          <a:prstGeom prst="rect">
            <a:avLst/>
          </a:prstGeom>
          <a:noFill/>
        </p:spPr>
        <p:txBody>
          <a:bodyPr wrap="square" lIns="18288" rIns="18288" tIns="9144" bIns="9144">
            <a:spAutoFit/>
          </a:bodyPr>
          <a:lstStyle/>
          <a:p>
            <a:pPr algn="l">
              <a:lnSpc>
                <a:spcPct val="110000"/>
              </a:lnSpc>
              <a:spcAft>
                <a:spcPts val="500"/>
              </a:spcAft>
            </a:pPr>
            <a:r>
              <a:rPr sz="1200" b="1" lang="en-US">
                <a:solidFill>
                  <a:srgbClr val="93C3D4"/>
                </a:solidFill>
                <a:latin typeface="Arial"/>
                <a:ea typeface="Microsoft YaHei"/>
              </a:rPr>
              <a:t>READ</a:t>
            </a:r>
          </a:p>
          <a:p>
            <a:pPr algn="l">
              <a:lnSpc>
                <a:spcPct val="110000"/>
              </a:lnSpc>
              <a:spcAft>
                <a:spcPts val="500"/>
              </a:spcAft>
            </a:pPr>
            <a:r>
              <a:rPr sz="1200" b="1" lang="en-US">
                <a:solidFill>
                  <a:srgbClr val="93C3D4"/>
                </a:solidFill>
                <a:latin typeface="Arial"/>
                <a:ea typeface="Microsoft YaHei"/>
              </a:rPr>
              <a:t>&amp; THINK</a:t>
            </a:r>
          </a:p>
        </p:txBody>
      </p:sp>
      <p:sp>
        <p:nvSpPr>
          <p:cNvPr id="5" name="Rectangle 4">
            <a:hlinkClick action="ppaction://hlinksldjump" r:id="rId3"/>
          </p:cNvPr>
          <p:cNvSpPr/>
          <p:nvPr/>
        </p:nvSpPr>
        <p:spPr>
          <a:xfrm>
            <a:off x="109728" y="1874519"/>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146304" y="1933955"/>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说教材</a:t>
            </a:r>
          </a:p>
        </p:txBody>
      </p:sp>
      <p:sp>
        <p:nvSpPr>
          <p:cNvPr id="7" name="Rectangle 6">
            <a:hlinkClick action="ppaction://hlinksldjump" r:id="rId4"/>
          </p:cNvPr>
          <p:cNvSpPr/>
          <p:nvPr/>
        </p:nvSpPr>
        <p:spPr>
          <a:xfrm>
            <a:off x="109728" y="2441448"/>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46304" y="2500884"/>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说学情</a:t>
            </a:r>
          </a:p>
        </p:txBody>
      </p:sp>
      <p:sp>
        <p:nvSpPr>
          <p:cNvPr id="9" name="Rectangle 8">
            <a:hlinkClick action="ppaction://hlinksldjump" r:id="rId5"/>
          </p:cNvPr>
          <p:cNvSpPr/>
          <p:nvPr/>
        </p:nvSpPr>
        <p:spPr>
          <a:xfrm>
            <a:off x="109728" y="3008376"/>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46304" y="3067812"/>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说目标</a:t>
            </a:r>
          </a:p>
        </p:txBody>
      </p:sp>
      <p:sp>
        <p:nvSpPr>
          <p:cNvPr id="11" name="Rectangle 10">
            <a:hlinkClick action="ppaction://hlinksldjump" r:id="rId6"/>
          </p:cNvPr>
          <p:cNvSpPr/>
          <p:nvPr/>
        </p:nvSpPr>
        <p:spPr>
          <a:xfrm>
            <a:off x="109728" y="3575303"/>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6"/>
          </p:cNvPr>
          <p:cNvSpPr txBox="1"/>
          <p:nvPr/>
        </p:nvSpPr>
        <p:spPr>
          <a:xfrm>
            <a:off x="146304" y="3634739"/>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说重难</a:t>
            </a:r>
          </a:p>
        </p:txBody>
      </p:sp>
      <p:sp>
        <p:nvSpPr>
          <p:cNvPr id="13" name="Rectangle 12">
            <a:hlinkClick action="ppaction://hlinksldjump" r:id="rId7"/>
          </p:cNvPr>
          <p:cNvSpPr/>
          <p:nvPr/>
        </p:nvSpPr>
        <p:spPr>
          <a:xfrm>
            <a:off x="109728" y="4142231"/>
            <a:ext cx="1097280" cy="42976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7"/>
          </p:cNvPr>
          <p:cNvSpPr txBox="1"/>
          <p:nvPr/>
        </p:nvSpPr>
        <p:spPr>
          <a:xfrm>
            <a:off x="146304" y="4201668"/>
            <a:ext cx="1024128" cy="301752"/>
          </a:xfrm>
          <a:prstGeom prst="rect">
            <a:avLst/>
          </a:prstGeom>
          <a:noFill/>
        </p:spPr>
        <p:txBody>
          <a:bodyPr wrap="square" lIns="18288" rIns="18288" tIns="9144" bIns="9144">
            <a:spAutoFit/>
          </a:bodyPr>
          <a:lstStyle/>
          <a:p>
            <a:pPr algn="ctr">
              <a:lnSpc>
                <a:spcPct val="110000"/>
              </a:lnSpc>
              <a:spcAft>
                <a:spcPts val="500"/>
              </a:spcAft>
            </a:pPr>
            <a:r>
              <a:rPr sz="1500" b="1" lang="zh-CN">
                <a:solidFill>
                  <a:srgbClr val="FFFFFF"/>
                </a:solidFill>
                <a:latin typeface="Microsoft YaHei"/>
                <a:ea typeface="Microsoft YaHei"/>
              </a:rPr>
              <a:t>说过程</a:t>
            </a:r>
          </a:p>
        </p:txBody>
      </p:sp>
      <p:sp>
        <p:nvSpPr>
          <p:cNvPr id="15" name="Rectangle 14">
            <a:hlinkClick action="ppaction://hlinksldjump" r:id="rId8"/>
          </p:cNvPr>
          <p:cNvSpPr/>
          <p:nvPr/>
        </p:nvSpPr>
        <p:spPr>
          <a:xfrm>
            <a:off x="109728" y="4709160"/>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8"/>
          </p:cNvPr>
          <p:cNvSpPr txBox="1"/>
          <p:nvPr/>
        </p:nvSpPr>
        <p:spPr>
          <a:xfrm>
            <a:off x="146304" y="4768596"/>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说反思</a:t>
            </a:r>
          </a:p>
        </p:txBody>
      </p:sp>
      <p:sp>
        <p:nvSpPr>
          <p:cNvPr id="17" name="TextBox 16"/>
          <p:cNvSpPr txBox="1"/>
          <p:nvPr/>
        </p:nvSpPr>
        <p:spPr>
          <a:xfrm>
            <a:off x="210312" y="6062472"/>
            <a:ext cx="950976" cy="393192"/>
          </a:xfrm>
          <a:prstGeom prst="rect">
            <a:avLst/>
          </a:prstGeom>
          <a:noFill/>
        </p:spPr>
        <p:txBody>
          <a:bodyPr wrap="square" lIns="18288" rIns="18288" tIns="9144" bIns="9144">
            <a:spAutoFit/>
          </a:bodyPr>
          <a:lstStyle/>
          <a:p>
            <a:pPr algn="ctr">
              <a:lnSpc>
                <a:spcPct val="110000"/>
              </a:lnSpc>
              <a:spcAft>
                <a:spcPts val="500"/>
              </a:spcAft>
            </a:pPr>
            <a:r>
              <a:rPr sz="1300" b="0" lang="en-US">
                <a:solidFill>
                  <a:srgbClr val="BCD3DF"/>
                </a:solidFill>
                <a:latin typeface="Arial"/>
                <a:ea typeface="Microsoft YaHei"/>
              </a:rPr>
              <a:t>18 / 20</a:t>
            </a:r>
          </a:p>
        </p:txBody>
      </p:sp>
      <p:sp>
        <p:nvSpPr>
          <p:cNvPr id="18" name="Rectangle 17"/>
          <p:cNvSpPr/>
          <p:nvPr/>
        </p:nvSpPr>
        <p:spPr>
          <a:xfrm>
            <a:off x="1325880" y="0"/>
            <a:ext cx="10872216" cy="6858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00784" y="283464"/>
            <a:ext cx="7315200" cy="274320"/>
          </a:xfrm>
          <a:prstGeom prst="rect">
            <a:avLst/>
          </a:prstGeom>
          <a:noFill/>
        </p:spPr>
        <p:txBody>
          <a:bodyPr wrap="square" lIns="18288" rIns="18288" tIns="9144" bIns="9144">
            <a:spAutoFit/>
          </a:bodyPr>
          <a:lstStyle/>
          <a:p>
            <a:pPr algn="l">
              <a:lnSpc>
                <a:spcPct val="110000"/>
              </a:lnSpc>
              <a:spcAft>
                <a:spcPts val="500"/>
              </a:spcAft>
            </a:pPr>
            <a:r>
              <a:rPr sz="1100" b="1" lang="en-US">
                <a:solidFill>
                  <a:srgbClr val="167D89"/>
                </a:solidFill>
                <a:latin typeface="Arial"/>
                <a:ea typeface="Microsoft YaHei"/>
              </a:rPr>
              <a:t>BODY LANGUAGE   /   READING AND THINKING</a:t>
            </a:r>
          </a:p>
        </p:txBody>
      </p:sp>
      <p:sp>
        <p:nvSpPr>
          <p:cNvPr id="20" name="TextBox 19"/>
          <p:cNvSpPr txBox="1"/>
          <p:nvPr/>
        </p:nvSpPr>
        <p:spPr>
          <a:xfrm>
            <a:off x="9802368" y="283464"/>
            <a:ext cx="1920240" cy="274320"/>
          </a:xfrm>
          <a:prstGeom prst="rect">
            <a:avLst/>
          </a:prstGeom>
          <a:noFill/>
        </p:spPr>
        <p:txBody>
          <a:bodyPr wrap="square" lIns="18288" rIns="18288" tIns="9144" bIns="9144">
            <a:spAutoFit/>
          </a:bodyPr>
          <a:lstStyle/>
          <a:p>
            <a:pPr algn="r">
              <a:lnSpc>
                <a:spcPct val="110000"/>
              </a:lnSpc>
              <a:spcAft>
                <a:spcPts val="500"/>
              </a:spcAft>
            </a:pPr>
            <a:r>
              <a:rPr sz="1100" b="0" lang="en-US">
                <a:solidFill>
                  <a:srgbClr val="526B78"/>
                </a:solidFill>
                <a:latin typeface="Arial"/>
                <a:ea typeface="Microsoft YaHei"/>
              </a:rPr>
              <a:t>12:20–13:10</a:t>
            </a:r>
          </a:p>
        </p:txBody>
      </p:sp>
      <p:sp>
        <p:nvSpPr>
          <p:cNvPr id="21" name="TextBox 20"/>
          <p:cNvSpPr txBox="1"/>
          <p:nvPr/>
        </p:nvSpPr>
        <p:spPr>
          <a:xfrm>
            <a:off x="1691640" y="859536"/>
            <a:ext cx="10021824" cy="630936"/>
          </a:xfrm>
          <a:prstGeom prst="rect">
            <a:avLst/>
          </a:prstGeom>
          <a:noFill/>
        </p:spPr>
        <p:txBody>
          <a:bodyPr wrap="square" lIns="18288" rIns="18288" tIns="9144" bIns="9144">
            <a:spAutoFit/>
          </a:bodyPr>
          <a:lstStyle/>
          <a:p>
            <a:pPr algn="l">
              <a:lnSpc>
                <a:spcPct val="110000"/>
              </a:lnSpc>
              <a:spcAft>
                <a:spcPts val="500"/>
              </a:spcAft>
            </a:pPr>
            <a:r>
              <a:rPr sz="3000" b="1" lang="en-US">
                <a:solidFill>
                  <a:srgbClr val="183A50"/>
                </a:solidFill>
                <a:latin typeface="Arial"/>
                <a:ea typeface="Microsoft YaHei"/>
              </a:rPr>
              <a:t>Check your progress. Take it further.</a:t>
            </a:r>
          </a:p>
        </p:txBody>
      </p:sp>
      <p:sp>
        <p:nvSpPr>
          <p:cNvPr id="22" name="TextBox 21"/>
          <p:cNvSpPr txBox="1"/>
          <p:nvPr/>
        </p:nvSpPr>
        <p:spPr>
          <a:xfrm>
            <a:off x="1719072" y="1545336"/>
            <a:ext cx="9921240" cy="521207"/>
          </a:xfrm>
          <a:prstGeom prst="rect">
            <a:avLst/>
          </a:prstGeom>
          <a:noFill/>
        </p:spPr>
        <p:txBody>
          <a:bodyPr wrap="square" lIns="18288" rIns="18288" tIns="9144" bIns="9144">
            <a:spAutoFit/>
          </a:bodyPr>
          <a:lstStyle/>
          <a:p>
            <a:pPr algn="l">
              <a:lnSpc>
                <a:spcPct val="110000"/>
              </a:lnSpc>
              <a:spcAft>
                <a:spcPts val="500"/>
              </a:spcAft>
            </a:pPr>
            <a:r>
              <a:rPr sz="1500" b="0" lang="en-US">
                <a:solidFill>
                  <a:srgbClr val="526B78"/>
                </a:solidFill>
                <a:latin typeface="Arial"/>
                <a:ea typeface="Microsoft YaHei"/>
              </a:rPr>
              <a:t>Choose one goal to improve.</a:t>
            </a:r>
          </a:p>
        </p:txBody>
      </p:sp>
      <p:sp>
        <p:nvSpPr>
          <p:cNvPr id="23" name="Rectangle 22"/>
          <p:cNvSpPr/>
          <p:nvPr/>
        </p:nvSpPr>
        <p:spPr>
          <a:xfrm>
            <a:off x="1719072" y="6400800"/>
            <a:ext cx="9985248" cy="10058"/>
          </a:xfrm>
          <a:prstGeom prst="rect">
            <a:avLst/>
          </a:prstGeom>
          <a:solidFill>
            <a:srgbClr val="C8D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37360" y="6492240"/>
            <a:ext cx="9784080" cy="228600"/>
          </a:xfrm>
          <a:prstGeom prst="rect">
            <a:avLst/>
          </a:prstGeom>
          <a:noFill/>
        </p:spPr>
        <p:txBody>
          <a:bodyPr wrap="square" lIns="18288" rIns="18288" tIns="9144" bIns="9144">
            <a:spAutoFit/>
          </a:bodyPr>
          <a:lstStyle/>
          <a:p>
            <a:pPr algn="l">
              <a:lnSpc>
                <a:spcPct val="110000"/>
              </a:lnSpc>
              <a:spcAft>
                <a:spcPts val="500"/>
              </a:spcAft>
            </a:pPr>
            <a:r>
              <a:rPr sz="1050" b="0" lang="zh-CN">
                <a:solidFill>
                  <a:srgbClr val="526B78"/>
                </a:solidFill>
                <a:latin typeface="Microsoft YaHei"/>
                <a:ea typeface="Microsoft YaHei"/>
              </a:rPr>
              <a:t>设计意图  以自评核对目标，保留两层作业要求</a:t>
            </a:r>
          </a:p>
        </p:txBody>
      </p:sp>
      <p:sp>
        <p:nvSpPr>
          <p:cNvPr id="25" name="Rectangle 24"/>
          <p:cNvSpPr/>
          <p:nvPr/>
        </p:nvSpPr>
        <p:spPr>
          <a:xfrm>
            <a:off x="1719072" y="6345936"/>
            <a:ext cx="8986723" cy="2286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783080" y="2240280"/>
            <a:ext cx="9692640" cy="1106424"/>
          </a:xfrm>
          <a:prstGeom prst="rect">
            <a:avLst/>
          </a:prstGeom>
          <a:solidFill>
            <a:srgbClr val="E7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984248" y="2450592"/>
            <a:ext cx="9262872" cy="704088"/>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167D89"/>
                </a:solidFill>
                <a:latin typeface="Arial"/>
                <a:ea typeface="Microsoft YaHei"/>
              </a:rPr>
              <a:t>□  6 paragraph functions     □  4 accurate cultural comparisons</a:t>
            </a:r>
          </a:p>
          <a:p>
            <a:pPr algn="l">
              <a:lnSpc>
                <a:spcPct val="110000"/>
              </a:lnSpc>
              <a:spcAft>
                <a:spcPts val="500"/>
              </a:spcAft>
            </a:pPr>
            <a:r>
              <a:rPr sz="2000" b="1" lang="en-US">
                <a:solidFill>
                  <a:srgbClr val="167D89"/>
                </a:solidFill>
                <a:latin typeface="Arial"/>
                <a:ea typeface="Microsoft YaHei"/>
              </a:rPr>
              <a:t>□  4 uses of smiling              □  3 contextual suggestions with reasons</a:t>
            </a:r>
          </a:p>
        </p:txBody>
      </p:sp>
      <p:sp>
        <p:nvSpPr>
          <p:cNvPr id="28" name="Rectangle 27"/>
          <p:cNvSpPr/>
          <p:nvPr/>
        </p:nvSpPr>
        <p:spPr>
          <a:xfrm>
            <a:off x="1783080" y="3694176"/>
            <a:ext cx="4727448" cy="2514600"/>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783080" y="3694176"/>
            <a:ext cx="4727448" cy="4114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965960" y="3867912"/>
            <a:ext cx="4361688" cy="484632"/>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167D89"/>
                </a:solidFill>
                <a:latin typeface="Arial"/>
                <a:ea typeface="Microsoft YaHei"/>
              </a:rPr>
              <a:t>Level A · Consolidation</a:t>
            </a:r>
          </a:p>
        </p:txBody>
      </p:sp>
      <p:sp>
        <p:nvSpPr>
          <p:cNvPr id="31" name="TextBox 30"/>
          <p:cNvSpPr txBox="1"/>
          <p:nvPr/>
        </p:nvSpPr>
        <p:spPr>
          <a:xfrm>
            <a:off x="1965960" y="4526280"/>
            <a:ext cx="4361688" cy="1581912"/>
          </a:xfrm>
          <a:prstGeom prst="rect">
            <a:avLst/>
          </a:prstGeom>
          <a:noFill/>
        </p:spPr>
        <p:txBody>
          <a:bodyPr wrap="square" lIns="18288" rIns="18288" tIns="9144" bIns="9144">
            <a:spAutoFit/>
          </a:bodyPr>
          <a:lstStyle/>
          <a:p>
            <a:pPr algn="l">
              <a:lnSpc>
                <a:spcPct val="110000"/>
              </a:lnSpc>
              <a:spcAft>
                <a:spcPts val="500"/>
              </a:spcAft>
            </a:pPr>
            <a:r>
              <a:rPr sz="2100" b="0" lang="en-US">
                <a:solidFill>
                  <a:srgbClr val="183A50"/>
                </a:solidFill>
                <a:latin typeface="Arial"/>
                <a:ea typeface="Microsoft YaHei"/>
              </a:rPr>
              <a:t>Review the passage.</a:t>
            </a:r>
          </a:p>
          <a:p>
            <a:pPr algn="l">
              <a:lnSpc>
                <a:spcPct val="110000"/>
              </a:lnSpc>
              <a:spcAft>
                <a:spcPts val="500"/>
              </a:spcAft>
            </a:pPr>
            <a:r>
              <a:rPr sz="2100" b="0" lang="en-US">
                <a:solidFill>
                  <a:srgbClr val="183A50"/>
                </a:solidFill>
                <a:latin typeface="Arial"/>
                <a:ea typeface="Microsoft YaHei"/>
              </a:rPr>
              <a:t>Sort cultural differences into a</a:t>
            </a:r>
          </a:p>
          <a:p>
            <a:pPr algn="l">
              <a:lnSpc>
                <a:spcPct val="110000"/>
              </a:lnSpc>
              <a:spcAft>
                <a:spcPts val="500"/>
              </a:spcAft>
            </a:pPr>
            <a:r>
              <a:rPr sz="2100" b="0" lang="en-US">
                <a:solidFill>
                  <a:srgbClr val="183A50"/>
                </a:solidFill>
                <a:latin typeface="Arial"/>
                <a:ea typeface="Microsoft YaHei"/>
              </a:rPr>
              <a:t>gesture–meaning–region table.</a:t>
            </a:r>
          </a:p>
        </p:txBody>
      </p:sp>
      <p:sp>
        <p:nvSpPr>
          <p:cNvPr id="32" name="Rectangle 31"/>
          <p:cNvSpPr/>
          <p:nvPr/>
        </p:nvSpPr>
        <p:spPr>
          <a:xfrm>
            <a:off x="6729984" y="3694176"/>
            <a:ext cx="4736592" cy="2514600"/>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729984" y="3694176"/>
            <a:ext cx="4736592" cy="41148"/>
          </a:xfrm>
          <a:prstGeom prst="rect">
            <a:avLst/>
          </a:prstGeom>
          <a:solidFill>
            <a:srgbClr val="397A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12864" y="3867912"/>
            <a:ext cx="4370831" cy="484632"/>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397AAB"/>
                </a:solidFill>
                <a:latin typeface="Arial"/>
                <a:ea typeface="Microsoft YaHei"/>
              </a:rPr>
              <a:t>Level B · Inquiry</a:t>
            </a:r>
          </a:p>
        </p:txBody>
      </p:sp>
      <p:sp>
        <p:nvSpPr>
          <p:cNvPr id="35" name="TextBox 34"/>
          <p:cNvSpPr txBox="1"/>
          <p:nvPr/>
        </p:nvSpPr>
        <p:spPr>
          <a:xfrm>
            <a:off x="6912864" y="4526280"/>
            <a:ext cx="4370831" cy="1581912"/>
          </a:xfrm>
          <a:prstGeom prst="rect">
            <a:avLst/>
          </a:prstGeom>
          <a:noFill/>
        </p:spPr>
        <p:txBody>
          <a:bodyPr wrap="square" lIns="18288" rIns="18288" tIns="9144" bIns="9144">
            <a:spAutoFit/>
          </a:bodyPr>
          <a:lstStyle/>
          <a:p>
            <a:pPr algn="l">
              <a:lnSpc>
                <a:spcPct val="110000"/>
              </a:lnSpc>
              <a:spcAft>
                <a:spcPts val="500"/>
              </a:spcAft>
            </a:pPr>
            <a:r>
              <a:rPr sz="2000" b="0" lang="en-US">
                <a:solidFill>
                  <a:srgbClr val="183A50"/>
                </a:solidFill>
                <a:latin typeface="Arial"/>
                <a:ea typeface="Microsoft YaHei"/>
              </a:rPr>
              <a:t>Find another body-language example.</a:t>
            </a:r>
          </a:p>
          <a:p>
            <a:pPr algn="l">
              <a:lnSpc>
                <a:spcPct val="110000"/>
              </a:lnSpc>
              <a:spcAft>
                <a:spcPts val="500"/>
              </a:spcAft>
            </a:pPr>
            <a:r>
              <a:rPr sz="2000" b="0" lang="en-US">
                <a:solidFill>
                  <a:srgbClr val="183A50"/>
                </a:solidFill>
                <a:latin typeface="Arial"/>
                <a:ea typeface="Microsoft YaHei"/>
              </a:rPr>
              <a:t>Share it next class.</a:t>
            </a:r>
          </a:p>
          <a:p>
            <a:pPr algn="l">
              <a:lnSpc>
                <a:spcPct val="110000"/>
              </a:lnSpc>
              <a:spcAft>
                <a:spcPts val="500"/>
              </a:spcAft>
            </a:pPr>
            <a:r>
              <a:rPr sz="2000" b="0" lang="en-US">
                <a:solidFill>
                  <a:srgbClr val="183A50"/>
                </a:solidFill>
                <a:latin typeface="Arial"/>
                <a:ea typeface="Microsoft YaHei"/>
              </a:rPr>
              <a:t>Record its source and context.</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3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3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5" grpId="0"/>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9FA"/>
        </a:solidFill>
        <a:effectLst/>
      </p:bgPr>
    </p:bg>
    <p:spTree>
      <p:nvGrpSpPr>
        <p:cNvPr id="1" name=""/>
        <p:cNvGrpSpPr/>
        <p:nvPr/>
      </p:nvGrpSpPr>
      <p:grpSpPr/>
      <p:sp>
        <p:nvSpPr>
          <p:cNvPr id="2" name="Rectangle 1"/>
          <p:cNvSpPr/>
          <p:nvPr/>
        </p:nvSpPr>
        <p:spPr>
          <a:xfrm>
            <a:off x="0" y="0"/>
            <a:ext cx="1325880" cy="6858000"/>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329184"/>
            <a:ext cx="896112" cy="457200"/>
          </a:xfrm>
          <a:prstGeom prst="rect">
            <a:avLst/>
          </a:prstGeom>
          <a:noFill/>
        </p:spPr>
        <p:txBody>
          <a:bodyPr wrap="square" lIns="18288" rIns="18288" tIns="9144" bIns="9144">
            <a:spAutoFit/>
          </a:bodyPr>
          <a:lstStyle/>
          <a:p>
            <a:pPr algn="l">
              <a:lnSpc>
                <a:spcPct val="110000"/>
              </a:lnSpc>
              <a:spcAft>
                <a:spcPts val="500"/>
              </a:spcAft>
            </a:pPr>
            <a:r>
              <a:rPr sz="1800" b="1" lang="en-US">
                <a:solidFill>
                  <a:srgbClr val="FFFFFF"/>
                </a:solidFill>
                <a:latin typeface="Arial"/>
                <a:ea typeface="Microsoft YaHei"/>
              </a:rPr>
              <a:t>UNIT 4</a:t>
            </a:r>
          </a:p>
        </p:txBody>
      </p:sp>
      <p:sp>
        <p:nvSpPr>
          <p:cNvPr id="4" name="TextBox 3"/>
          <p:cNvSpPr txBox="1"/>
          <p:nvPr/>
        </p:nvSpPr>
        <p:spPr>
          <a:xfrm>
            <a:off x="219456" y="868680"/>
            <a:ext cx="914400" cy="658368"/>
          </a:xfrm>
          <a:prstGeom prst="rect">
            <a:avLst/>
          </a:prstGeom>
          <a:noFill/>
        </p:spPr>
        <p:txBody>
          <a:bodyPr wrap="square" lIns="18288" rIns="18288" tIns="9144" bIns="9144">
            <a:spAutoFit/>
          </a:bodyPr>
          <a:lstStyle/>
          <a:p>
            <a:pPr algn="l">
              <a:lnSpc>
                <a:spcPct val="110000"/>
              </a:lnSpc>
              <a:spcAft>
                <a:spcPts val="500"/>
              </a:spcAft>
            </a:pPr>
            <a:r>
              <a:rPr sz="1200" b="1" lang="en-US">
                <a:solidFill>
                  <a:srgbClr val="93C3D4"/>
                </a:solidFill>
                <a:latin typeface="Arial"/>
                <a:ea typeface="Microsoft YaHei"/>
              </a:rPr>
              <a:t>READ</a:t>
            </a:r>
          </a:p>
          <a:p>
            <a:pPr algn="l">
              <a:lnSpc>
                <a:spcPct val="110000"/>
              </a:lnSpc>
              <a:spcAft>
                <a:spcPts val="500"/>
              </a:spcAft>
            </a:pPr>
            <a:r>
              <a:rPr sz="1200" b="1" lang="en-US">
                <a:solidFill>
                  <a:srgbClr val="93C3D4"/>
                </a:solidFill>
                <a:latin typeface="Arial"/>
                <a:ea typeface="Microsoft YaHei"/>
              </a:rPr>
              <a:t>&amp; THINK</a:t>
            </a:r>
          </a:p>
        </p:txBody>
      </p:sp>
      <p:sp>
        <p:nvSpPr>
          <p:cNvPr id="5" name="Rectangle 4">
            <a:hlinkClick action="ppaction://hlinksldjump" r:id="rId3"/>
          </p:cNvPr>
          <p:cNvSpPr/>
          <p:nvPr/>
        </p:nvSpPr>
        <p:spPr>
          <a:xfrm>
            <a:off x="109728" y="1874519"/>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146304" y="1933955"/>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说教材</a:t>
            </a:r>
          </a:p>
        </p:txBody>
      </p:sp>
      <p:sp>
        <p:nvSpPr>
          <p:cNvPr id="7" name="Rectangle 6">
            <a:hlinkClick action="ppaction://hlinksldjump" r:id="rId4"/>
          </p:cNvPr>
          <p:cNvSpPr/>
          <p:nvPr/>
        </p:nvSpPr>
        <p:spPr>
          <a:xfrm>
            <a:off x="109728" y="2441448"/>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46304" y="2500884"/>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说学情</a:t>
            </a:r>
          </a:p>
        </p:txBody>
      </p:sp>
      <p:sp>
        <p:nvSpPr>
          <p:cNvPr id="9" name="Rectangle 8">
            <a:hlinkClick action="ppaction://hlinksldjump" r:id="rId5"/>
          </p:cNvPr>
          <p:cNvSpPr/>
          <p:nvPr/>
        </p:nvSpPr>
        <p:spPr>
          <a:xfrm>
            <a:off x="109728" y="3008376"/>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46304" y="3067812"/>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说目标</a:t>
            </a:r>
          </a:p>
        </p:txBody>
      </p:sp>
      <p:sp>
        <p:nvSpPr>
          <p:cNvPr id="11" name="Rectangle 10">
            <a:hlinkClick action="ppaction://hlinksldjump" r:id="rId6"/>
          </p:cNvPr>
          <p:cNvSpPr/>
          <p:nvPr/>
        </p:nvSpPr>
        <p:spPr>
          <a:xfrm>
            <a:off x="109728" y="3575303"/>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6"/>
          </p:cNvPr>
          <p:cNvSpPr txBox="1"/>
          <p:nvPr/>
        </p:nvSpPr>
        <p:spPr>
          <a:xfrm>
            <a:off x="146304" y="3634739"/>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说重难</a:t>
            </a:r>
          </a:p>
        </p:txBody>
      </p:sp>
      <p:sp>
        <p:nvSpPr>
          <p:cNvPr id="13" name="Rectangle 12">
            <a:hlinkClick action="ppaction://hlinksldjump" r:id="rId7"/>
          </p:cNvPr>
          <p:cNvSpPr/>
          <p:nvPr/>
        </p:nvSpPr>
        <p:spPr>
          <a:xfrm>
            <a:off x="109728" y="4142231"/>
            <a:ext cx="1097280" cy="429768"/>
          </a:xfrm>
          <a:prstGeom prst="rect">
            <a:avLst/>
          </a:prstGeom>
          <a:solidFill>
            <a:srgbClr val="183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7"/>
          </p:cNvPr>
          <p:cNvSpPr txBox="1"/>
          <p:nvPr/>
        </p:nvSpPr>
        <p:spPr>
          <a:xfrm>
            <a:off x="146304" y="4201668"/>
            <a:ext cx="1024128" cy="301752"/>
          </a:xfrm>
          <a:prstGeom prst="rect">
            <a:avLst/>
          </a:prstGeom>
          <a:noFill/>
        </p:spPr>
        <p:txBody>
          <a:bodyPr wrap="square" lIns="18288" rIns="18288" tIns="9144" bIns="9144">
            <a:spAutoFit/>
          </a:bodyPr>
          <a:lstStyle/>
          <a:p>
            <a:pPr algn="ctr">
              <a:lnSpc>
                <a:spcPct val="110000"/>
              </a:lnSpc>
              <a:spcAft>
                <a:spcPts val="500"/>
              </a:spcAft>
            </a:pPr>
            <a:r>
              <a:rPr sz="1500" b="0" lang="zh-CN">
                <a:solidFill>
                  <a:srgbClr val="BCD3DF"/>
                </a:solidFill>
                <a:latin typeface="Microsoft YaHei"/>
                <a:ea typeface="Microsoft YaHei"/>
              </a:rPr>
              <a:t>说过程</a:t>
            </a:r>
          </a:p>
        </p:txBody>
      </p:sp>
      <p:sp>
        <p:nvSpPr>
          <p:cNvPr id="15" name="Rectangle 14">
            <a:hlinkClick action="ppaction://hlinksldjump" r:id="rId8"/>
          </p:cNvPr>
          <p:cNvSpPr/>
          <p:nvPr/>
        </p:nvSpPr>
        <p:spPr>
          <a:xfrm>
            <a:off x="109728" y="4709160"/>
            <a:ext cx="1097280" cy="42976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8"/>
          </p:cNvPr>
          <p:cNvSpPr txBox="1"/>
          <p:nvPr/>
        </p:nvSpPr>
        <p:spPr>
          <a:xfrm>
            <a:off x="146304" y="4768596"/>
            <a:ext cx="1024128" cy="301752"/>
          </a:xfrm>
          <a:prstGeom prst="rect">
            <a:avLst/>
          </a:prstGeom>
          <a:noFill/>
        </p:spPr>
        <p:txBody>
          <a:bodyPr wrap="square" lIns="18288" rIns="18288" tIns="9144" bIns="9144">
            <a:spAutoFit/>
          </a:bodyPr>
          <a:lstStyle/>
          <a:p>
            <a:pPr algn="ctr">
              <a:lnSpc>
                <a:spcPct val="110000"/>
              </a:lnSpc>
              <a:spcAft>
                <a:spcPts val="500"/>
              </a:spcAft>
            </a:pPr>
            <a:r>
              <a:rPr sz="1500" b="1" lang="zh-CN">
                <a:solidFill>
                  <a:srgbClr val="FFFFFF"/>
                </a:solidFill>
                <a:latin typeface="Microsoft YaHei"/>
                <a:ea typeface="Microsoft YaHei"/>
              </a:rPr>
              <a:t>说反思</a:t>
            </a:r>
          </a:p>
        </p:txBody>
      </p:sp>
      <p:sp>
        <p:nvSpPr>
          <p:cNvPr id="17" name="TextBox 16"/>
          <p:cNvSpPr txBox="1"/>
          <p:nvPr/>
        </p:nvSpPr>
        <p:spPr>
          <a:xfrm>
            <a:off x="210312" y="6062472"/>
            <a:ext cx="950976" cy="393192"/>
          </a:xfrm>
          <a:prstGeom prst="rect">
            <a:avLst/>
          </a:prstGeom>
          <a:noFill/>
        </p:spPr>
        <p:txBody>
          <a:bodyPr wrap="square" lIns="18288" rIns="18288" tIns="9144" bIns="9144">
            <a:spAutoFit/>
          </a:bodyPr>
          <a:lstStyle/>
          <a:p>
            <a:pPr algn="ctr">
              <a:lnSpc>
                <a:spcPct val="110000"/>
              </a:lnSpc>
              <a:spcAft>
                <a:spcPts val="500"/>
              </a:spcAft>
            </a:pPr>
            <a:r>
              <a:rPr sz="1300" b="0" lang="en-US">
                <a:solidFill>
                  <a:srgbClr val="BCD3DF"/>
                </a:solidFill>
                <a:latin typeface="Arial"/>
                <a:ea typeface="Microsoft YaHei"/>
              </a:rPr>
              <a:t>19 / 20</a:t>
            </a:r>
          </a:p>
        </p:txBody>
      </p:sp>
      <p:sp>
        <p:nvSpPr>
          <p:cNvPr id="18" name="Rectangle 17"/>
          <p:cNvSpPr/>
          <p:nvPr/>
        </p:nvSpPr>
        <p:spPr>
          <a:xfrm>
            <a:off x="1325880" y="0"/>
            <a:ext cx="10872216" cy="6858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00784" y="283464"/>
            <a:ext cx="7315200" cy="274320"/>
          </a:xfrm>
          <a:prstGeom prst="rect">
            <a:avLst/>
          </a:prstGeom>
          <a:noFill/>
        </p:spPr>
        <p:txBody>
          <a:bodyPr wrap="square" lIns="18288" rIns="18288" tIns="9144" bIns="9144">
            <a:spAutoFit/>
          </a:bodyPr>
          <a:lstStyle/>
          <a:p>
            <a:pPr algn="l">
              <a:lnSpc>
                <a:spcPct val="110000"/>
              </a:lnSpc>
              <a:spcAft>
                <a:spcPts val="500"/>
              </a:spcAft>
            </a:pPr>
            <a:r>
              <a:rPr sz="1100" b="1" lang="en-US">
                <a:solidFill>
                  <a:srgbClr val="167D89"/>
                </a:solidFill>
                <a:latin typeface="Arial"/>
                <a:ea typeface="Microsoft YaHei"/>
              </a:rPr>
              <a:t>BODY LANGUAGE   /   READING AND THINKING</a:t>
            </a:r>
          </a:p>
        </p:txBody>
      </p:sp>
      <p:sp>
        <p:nvSpPr>
          <p:cNvPr id="20" name="TextBox 19"/>
          <p:cNvSpPr txBox="1"/>
          <p:nvPr/>
        </p:nvSpPr>
        <p:spPr>
          <a:xfrm>
            <a:off x="9802368" y="283464"/>
            <a:ext cx="1920240" cy="274320"/>
          </a:xfrm>
          <a:prstGeom prst="rect">
            <a:avLst/>
          </a:prstGeom>
          <a:noFill/>
        </p:spPr>
        <p:txBody>
          <a:bodyPr wrap="square" lIns="18288" rIns="18288" tIns="9144" bIns="9144">
            <a:spAutoFit/>
          </a:bodyPr>
          <a:lstStyle/>
          <a:p>
            <a:pPr algn="r">
              <a:lnSpc>
                <a:spcPct val="110000"/>
              </a:lnSpc>
              <a:spcAft>
                <a:spcPts val="500"/>
              </a:spcAft>
            </a:pPr>
            <a:r>
              <a:rPr sz="1100" b="0" lang="en-US">
                <a:solidFill>
                  <a:srgbClr val="526B78"/>
                </a:solidFill>
                <a:latin typeface="Arial"/>
                <a:ea typeface="Microsoft YaHei"/>
              </a:rPr>
              <a:t>13:10–14:35</a:t>
            </a:r>
          </a:p>
        </p:txBody>
      </p:sp>
      <p:sp>
        <p:nvSpPr>
          <p:cNvPr id="21" name="TextBox 20"/>
          <p:cNvSpPr txBox="1"/>
          <p:nvPr/>
        </p:nvSpPr>
        <p:spPr>
          <a:xfrm>
            <a:off x="1691640" y="859536"/>
            <a:ext cx="10021824" cy="630936"/>
          </a:xfrm>
          <a:prstGeom prst="rect">
            <a:avLst/>
          </a:prstGeom>
          <a:noFill/>
        </p:spPr>
        <p:txBody>
          <a:bodyPr wrap="square" lIns="18288" rIns="18288" tIns="9144" bIns="9144">
            <a:spAutoFit/>
          </a:bodyPr>
          <a:lstStyle/>
          <a:p>
            <a:pPr algn="l">
              <a:lnSpc>
                <a:spcPct val="110000"/>
              </a:lnSpc>
              <a:spcAft>
                <a:spcPts val="500"/>
              </a:spcAft>
            </a:pPr>
            <a:r>
              <a:rPr sz="3000" b="1" lang="zh-CN">
                <a:solidFill>
                  <a:srgbClr val="183A50"/>
                </a:solidFill>
                <a:latin typeface="Microsoft YaHei"/>
                <a:ea typeface="Microsoft YaHei"/>
              </a:rPr>
              <a:t>说反思｜以学习证据检验设计</a:t>
            </a:r>
          </a:p>
        </p:txBody>
      </p:sp>
      <p:sp>
        <p:nvSpPr>
          <p:cNvPr id="22" name="TextBox 21"/>
          <p:cNvSpPr txBox="1"/>
          <p:nvPr/>
        </p:nvSpPr>
        <p:spPr>
          <a:xfrm>
            <a:off x="1719072" y="1545336"/>
            <a:ext cx="9921240" cy="521207"/>
          </a:xfrm>
          <a:prstGeom prst="rect">
            <a:avLst/>
          </a:prstGeom>
          <a:noFill/>
        </p:spPr>
        <p:txBody>
          <a:bodyPr wrap="square" lIns="18288" rIns="18288" tIns="9144" bIns="9144">
            <a:spAutoFit/>
          </a:bodyPr>
          <a:lstStyle/>
          <a:p>
            <a:pPr algn="l">
              <a:lnSpc>
                <a:spcPct val="110000"/>
              </a:lnSpc>
              <a:spcAft>
                <a:spcPts val="500"/>
              </a:spcAft>
            </a:pPr>
            <a:r>
              <a:rPr sz="1500" b="0" lang="en-US">
                <a:solidFill>
                  <a:srgbClr val="526B78"/>
                </a:solidFill>
                <a:latin typeface="Arial"/>
                <a:ea typeface="Microsoft YaHei"/>
              </a:rPr>
              <a:t>Reflection on design and microteaching; classroom outcomes require evidence.</a:t>
            </a:r>
          </a:p>
        </p:txBody>
      </p:sp>
      <p:sp>
        <p:nvSpPr>
          <p:cNvPr id="23" name="Rectangle 22"/>
          <p:cNvSpPr/>
          <p:nvPr/>
        </p:nvSpPr>
        <p:spPr>
          <a:xfrm>
            <a:off x="1719072" y="6400800"/>
            <a:ext cx="9985248" cy="10058"/>
          </a:xfrm>
          <a:prstGeom prst="rect">
            <a:avLst/>
          </a:prstGeom>
          <a:solidFill>
            <a:srgbClr val="C8D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37360" y="6492240"/>
            <a:ext cx="9784080" cy="228600"/>
          </a:xfrm>
          <a:prstGeom prst="rect">
            <a:avLst/>
          </a:prstGeom>
          <a:noFill/>
        </p:spPr>
        <p:txBody>
          <a:bodyPr wrap="square" lIns="18288" rIns="18288" tIns="9144" bIns="9144">
            <a:spAutoFit/>
          </a:bodyPr>
          <a:lstStyle/>
          <a:p>
            <a:pPr algn="l">
              <a:lnSpc>
                <a:spcPct val="110000"/>
              </a:lnSpc>
              <a:spcAft>
                <a:spcPts val="500"/>
              </a:spcAft>
            </a:pPr>
            <a:r>
              <a:rPr sz="1050" b="0" lang="zh-CN">
                <a:solidFill>
                  <a:srgbClr val="526B78"/>
                </a:solidFill>
                <a:latin typeface="Microsoft YaHei"/>
                <a:ea typeface="Microsoft YaHei"/>
              </a:rPr>
              <a:t>读懂差异  ·  尊重语境  ·  得体交流</a:t>
            </a:r>
          </a:p>
        </p:txBody>
      </p:sp>
      <p:sp>
        <p:nvSpPr>
          <p:cNvPr id="25" name="Rectangle 24"/>
          <p:cNvSpPr/>
          <p:nvPr/>
        </p:nvSpPr>
        <p:spPr>
          <a:xfrm>
            <a:off x="1719072" y="6345936"/>
            <a:ext cx="9485985" cy="2286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783080" y="2240280"/>
            <a:ext cx="4736592" cy="1636776"/>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783080" y="2240280"/>
            <a:ext cx="4736592" cy="4114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965960" y="2414016"/>
            <a:ext cx="4370831" cy="484632"/>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167D89"/>
                </a:solidFill>
                <a:latin typeface="Arial"/>
                <a:ea typeface="Microsoft YaHei"/>
              </a:rPr>
              <a:t>Coherent Learning Chain</a:t>
            </a:r>
          </a:p>
        </p:txBody>
      </p:sp>
      <p:sp>
        <p:nvSpPr>
          <p:cNvPr id="29" name="TextBox 28"/>
          <p:cNvSpPr txBox="1"/>
          <p:nvPr/>
        </p:nvSpPr>
        <p:spPr>
          <a:xfrm>
            <a:off x="1965960" y="3072384"/>
            <a:ext cx="4370831" cy="704088"/>
          </a:xfrm>
          <a:prstGeom prst="rect">
            <a:avLst/>
          </a:prstGeom>
          <a:noFill/>
        </p:spPr>
        <p:txBody>
          <a:bodyPr wrap="square" lIns="18288" rIns="18288" tIns="9144" bIns="9144">
            <a:spAutoFit/>
          </a:bodyPr>
          <a:lstStyle/>
          <a:p>
            <a:pPr algn="l">
              <a:lnSpc>
                <a:spcPct val="110000"/>
              </a:lnSpc>
              <a:spcAft>
                <a:spcPts val="500"/>
              </a:spcAft>
            </a:pPr>
            <a:r>
              <a:rPr sz="1900" b="0" lang="zh-CN">
                <a:solidFill>
                  <a:srgbClr val="183A50"/>
                </a:solidFill>
                <a:latin typeface="Microsoft YaHei"/>
                <a:ea typeface="Microsoft YaHei"/>
              </a:rPr>
              <a:t>预测 → 结构 → 比较 → 建议</a:t>
            </a:r>
          </a:p>
          <a:p>
            <a:pPr algn="l">
              <a:lnSpc>
                <a:spcPct val="110000"/>
              </a:lnSpc>
              <a:spcAft>
                <a:spcPts val="500"/>
              </a:spcAft>
            </a:pPr>
            <a:r>
              <a:rPr sz="1900" b="0" lang="zh-CN">
                <a:solidFill>
                  <a:srgbClr val="183A50"/>
                </a:solidFill>
                <a:latin typeface="Microsoft YaHei"/>
                <a:ea typeface="Microsoft YaHei"/>
              </a:rPr>
              <a:t>检查：答案能否对应原文</a:t>
            </a:r>
          </a:p>
        </p:txBody>
      </p:sp>
      <p:sp>
        <p:nvSpPr>
          <p:cNvPr id="30" name="Rectangle 29"/>
          <p:cNvSpPr/>
          <p:nvPr/>
        </p:nvSpPr>
        <p:spPr>
          <a:xfrm>
            <a:off x="6748272" y="2240280"/>
            <a:ext cx="4736592" cy="1636776"/>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748272" y="2240280"/>
            <a:ext cx="4736592" cy="4114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31152" y="2414016"/>
            <a:ext cx="4370831" cy="484632"/>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167D89"/>
                </a:solidFill>
                <a:latin typeface="Arial"/>
                <a:ea typeface="Microsoft YaHei"/>
              </a:rPr>
              <a:t>Context-sensitive Understanding</a:t>
            </a:r>
          </a:p>
        </p:txBody>
      </p:sp>
      <p:sp>
        <p:nvSpPr>
          <p:cNvPr id="33" name="TextBox 32"/>
          <p:cNvSpPr txBox="1"/>
          <p:nvPr/>
        </p:nvSpPr>
        <p:spPr>
          <a:xfrm>
            <a:off x="6931152" y="3072384"/>
            <a:ext cx="4370831" cy="704088"/>
          </a:xfrm>
          <a:prstGeom prst="rect">
            <a:avLst/>
          </a:prstGeom>
          <a:noFill/>
        </p:spPr>
        <p:txBody>
          <a:bodyPr wrap="square" lIns="18288" rIns="18288" tIns="9144" bIns="9144">
            <a:spAutoFit/>
          </a:bodyPr>
          <a:lstStyle/>
          <a:p>
            <a:pPr algn="l">
              <a:lnSpc>
                <a:spcPct val="110000"/>
              </a:lnSpc>
              <a:spcAft>
                <a:spcPts val="500"/>
              </a:spcAft>
            </a:pPr>
            <a:r>
              <a:rPr sz="1900" b="0" lang="zh-CN">
                <a:solidFill>
                  <a:srgbClr val="183A50"/>
                </a:solidFill>
                <a:latin typeface="Microsoft YaHei"/>
                <a:ea typeface="Microsoft YaHei"/>
              </a:rPr>
              <a:t>避免文化例子变成固定标签</a:t>
            </a:r>
          </a:p>
          <a:p>
            <a:pPr algn="l">
              <a:lnSpc>
                <a:spcPct val="110000"/>
              </a:lnSpc>
              <a:spcAft>
                <a:spcPts val="500"/>
              </a:spcAft>
            </a:pPr>
            <a:r>
              <a:rPr sz="1900" b="0" lang="zh-CN">
                <a:solidFill>
                  <a:srgbClr val="183A50"/>
                </a:solidFill>
                <a:latin typeface="Microsoft YaHei"/>
                <a:ea typeface="Microsoft YaHei"/>
              </a:rPr>
              <a:t>检查：情境与限定词是否保留</a:t>
            </a:r>
          </a:p>
        </p:txBody>
      </p:sp>
      <p:sp>
        <p:nvSpPr>
          <p:cNvPr id="34" name="Rectangle 33"/>
          <p:cNvSpPr/>
          <p:nvPr/>
        </p:nvSpPr>
        <p:spPr>
          <a:xfrm>
            <a:off x="1783080" y="4078224"/>
            <a:ext cx="4736592" cy="1636776"/>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783080" y="4078224"/>
            <a:ext cx="4736592" cy="41148"/>
          </a:xfrm>
          <a:prstGeom prst="rect">
            <a:avLst/>
          </a:prstGeom>
          <a:solidFill>
            <a:srgbClr val="C69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965960" y="4251960"/>
            <a:ext cx="4370831" cy="484632"/>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C6933E"/>
                </a:solidFill>
                <a:latin typeface="Arial"/>
                <a:ea typeface="Microsoft YaHei"/>
              </a:rPr>
              <a:t>Differentiated Support</a:t>
            </a:r>
          </a:p>
        </p:txBody>
      </p:sp>
      <p:sp>
        <p:nvSpPr>
          <p:cNvPr id="37" name="TextBox 36"/>
          <p:cNvSpPr txBox="1"/>
          <p:nvPr/>
        </p:nvSpPr>
        <p:spPr>
          <a:xfrm>
            <a:off x="1965960" y="4910328"/>
            <a:ext cx="4370831" cy="704088"/>
          </a:xfrm>
          <a:prstGeom prst="rect">
            <a:avLst/>
          </a:prstGeom>
          <a:noFill/>
        </p:spPr>
        <p:txBody>
          <a:bodyPr wrap="square" lIns="18288" rIns="18288" tIns="9144" bIns="9144">
            <a:spAutoFit/>
          </a:bodyPr>
          <a:lstStyle/>
          <a:p>
            <a:pPr algn="l">
              <a:lnSpc>
                <a:spcPct val="110000"/>
              </a:lnSpc>
              <a:spcAft>
                <a:spcPts val="500"/>
              </a:spcAft>
            </a:pPr>
            <a:r>
              <a:rPr sz="1900" b="0" lang="zh-CN">
                <a:solidFill>
                  <a:srgbClr val="183A50"/>
                </a:solidFill>
                <a:latin typeface="Microsoft YaHei"/>
                <a:ea typeface="Microsoft YaHei"/>
              </a:rPr>
              <a:t>关键词 / 表格 / 句框 / 场景比较</a:t>
            </a:r>
          </a:p>
          <a:p>
            <a:pPr algn="l">
              <a:lnSpc>
                <a:spcPct val="110000"/>
              </a:lnSpc>
              <a:spcAft>
                <a:spcPts val="500"/>
              </a:spcAft>
            </a:pPr>
            <a:r>
              <a:rPr sz="1900" b="0" lang="zh-CN">
                <a:solidFill>
                  <a:srgbClr val="183A50"/>
                </a:solidFill>
                <a:latin typeface="Microsoft YaHei"/>
                <a:ea typeface="Microsoft YaHei"/>
              </a:rPr>
              <a:t>改进：根据阅读与表达表现调整</a:t>
            </a:r>
          </a:p>
        </p:txBody>
      </p:sp>
      <p:sp>
        <p:nvSpPr>
          <p:cNvPr id="38" name="Rectangle 37"/>
          <p:cNvSpPr/>
          <p:nvPr/>
        </p:nvSpPr>
        <p:spPr>
          <a:xfrm>
            <a:off x="6748272" y="4078224"/>
            <a:ext cx="4736592" cy="1636776"/>
          </a:xfrm>
          <a:prstGeom prst="rect">
            <a:avLst/>
          </a:prstGeom>
          <a:solidFill>
            <a:srgbClr val="FFFFFF"/>
          </a:solidFill>
          <a:ln w="8890">
            <a:solidFill>
              <a:srgbClr val="C8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748272" y="4078224"/>
            <a:ext cx="4736592" cy="41148"/>
          </a:xfrm>
          <a:prstGeom prst="rect">
            <a:avLst/>
          </a:prstGeom>
          <a:solidFill>
            <a:srgbClr val="C69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931152" y="4251960"/>
            <a:ext cx="4370831" cy="484632"/>
          </a:xfrm>
          <a:prstGeom prst="rect">
            <a:avLst/>
          </a:prstGeom>
          <a:noFill/>
        </p:spPr>
        <p:txBody>
          <a:bodyPr wrap="square" lIns="18288" rIns="18288" tIns="9144" bIns="9144">
            <a:spAutoFit/>
          </a:bodyPr>
          <a:lstStyle/>
          <a:p>
            <a:pPr algn="l">
              <a:lnSpc>
                <a:spcPct val="110000"/>
              </a:lnSpc>
              <a:spcAft>
                <a:spcPts val="500"/>
              </a:spcAft>
            </a:pPr>
            <a:r>
              <a:rPr sz="2000" b="1" lang="en-US">
                <a:solidFill>
                  <a:srgbClr val="C6933E"/>
                </a:solidFill>
                <a:latin typeface="Arial"/>
                <a:ea typeface="Microsoft YaHei"/>
              </a:rPr>
              <a:t>Evidence for Improvement</a:t>
            </a:r>
          </a:p>
        </p:txBody>
      </p:sp>
      <p:sp>
        <p:nvSpPr>
          <p:cNvPr id="41" name="TextBox 40"/>
          <p:cNvSpPr txBox="1"/>
          <p:nvPr/>
        </p:nvSpPr>
        <p:spPr>
          <a:xfrm>
            <a:off x="6931152" y="4910328"/>
            <a:ext cx="4370831" cy="704088"/>
          </a:xfrm>
          <a:prstGeom prst="rect">
            <a:avLst/>
          </a:prstGeom>
          <a:noFill/>
        </p:spPr>
        <p:txBody>
          <a:bodyPr wrap="square" lIns="18288" rIns="18288" tIns="9144" bIns="9144">
            <a:spAutoFit/>
          </a:bodyPr>
          <a:lstStyle/>
          <a:p>
            <a:pPr algn="l">
              <a:lnSpc>
                <a:spcPct val="110000"/>
              </a:lnSpc>
              <a:spcAft>
                <a:spcPts val="500"/>
              </a:spcAft>
            </a:pPr>
            <a:r>
              <a:rPr sz="1900" b="0" lang="zh-CN">
                <a:solidFill>
                  <a:srgbClr val="183A50"/>
                </a:solidFill>
                <a:latin typeface="Microsoft YaHei"/>
                <a:ea typeface="Microsoft YaHei"/>
              </a:rPr>
              <a:t>任务单 + 修改稿 + 出口句</a:t>
            </a:r>
          </a:p>
          <a:p>
            <a:pPr algn="l">
              <a:lnSpc>
                <a:spcPct val="110000"/>
              </a:lnSpc>
              <a:spcAft>
                <a:spcPts val="500"/>
              </a:spcAft>
            </a:pPr>
            <a:r>
              <a:rPr sz="1900" b="0" lang="zh-CN">
                <a:solidFill>
                  <a:srgbClr val="183A50"/>
                </a:solidFill>
                <a:latin typeface="Microsoft YaHei"/>
                <a:ea typeface="Microsoft YaHei"/>
              </a:rPr>
              <a:t>改进：追问“何时不适用”</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3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3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3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3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3" grpId="0"/>
      <p:bldP spid="37" grpId="0"/>
      <p:bldP spid="41" grpId="0"/>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83A50"/>
        </a:solidFill>
        <a:effectLst/>
      </p:bgPr>
    </p:bg>
    <p:spTree>
      <p:nvGrpSpPr>
        <p:cNvPr id="1" name=""/>
        <p:cNvGrpSpPr/>
        <p:nvPr/>
      </p:nvGrpSpPr>
      <p:grpSpPr/>
      <p:sp>
        <p:nvSpPr>
          <p:cNvPr id="2" name="Rectangle 1"/>
          <p:cNvSpPr/>
          <p:nvPr/>
        </p:nvSpPr>
        <p:spPr>
          <a:xfrm>
            <a:off x="0" y="0"/>
            <a:ext cx="12198096" cy="109728"/>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197864"/>
            <a:ext cx="10332720" cy="438912"/>
          </a:xfrm>
          <a:prstGeom prst="rect">
            <a:avLst/>
          </a:prstGeom>
          <a:noFill/>
        </p:spPr>
        <p:txBody>
          <a:bodyPr wrap="square" lIns="18288" rIns="18288" tIns="9144" bIns="9144">
            <a:spAutoFit/>
          </a:bodyPr>
          <a:lstStyle/>
          <a:p>
            <a:pPr algn="ctr">
              <a:lnSpc>
                <a:spcPct val="110000"/>
              </a:lnSpc>
              <a:spcAft>
                <a:spcPts val="500"/>
              </a:spcAft>
            </a:pPr>
            <a:r>
              <a:rPr sz="2100" b="1" lang="en-US">
                <a:solidFill>
                  <a:srgbClr val="9BD4DE"/>
                </a:solidFill>
                <a:latin typeface="Arial"/>
                <a:ea typeface="Microsoft YaHei"/>
              </a:rPr>
              <a:t>READ · COMPARE · RESPECT · COMMUNICATE</a:t>
            </a:r>
          </a:p>
        </p:txBody>
      </p:sp>
      <p:sp>
        <p:nvSpPr>
          <p:cNvPr id="4" name="TextBox 3"/>
          <p:cNvSpPr txBox="1"/>
          <p:nvPr/>
        </p:nvSpPr>
        <p:spPr>
          <a:xfrm>
            <a:off x="914400" y="2304288"/>
            <a:ext cx="10332720" cy="859536"/>
          </a:xfrm>
          <a:prstGeom prst="rect">
            <a:avLst/>
          </a:prstGeom>
          <a:noFill/>
        </p:spPr>
        <p:txBody>
          <a:bodyPr wrap="square" lIns="18288" rIns="18288" tIns="9144" bIns="9144">
            <a:spAutoFit/>
          </a:bodyPr>
          <a:lstStyle/>
          <a:p>
            <a:pPr algn="ctr">
              <a:lnSpc>
                <a:spcPct val="110000"/>
              </a:lnSpc>
              <a:spcAft>
                <a:spcPts val="500"/>
              </a:spcAft>
            </a:pPr>
            <a:r>
              <a:rPr sz="3900" b="1" lang="zh-CN">
                <a:solidFill>
                  <a:srgbClr val="FFFFFF"/>
                </a:solidFill>
                <a:latin typeface="Microsoft YaHei"/>
                <a:ea typeface="Microsoft YaHei"/>
              </a:rPr>
              <a:t>读准信息，让交流更得体。</a:t>
            </a:r>
          </a:p>
        </p:txBody>
      </p:sp>
      <p:sp>
        <p:nvSpPr>
          <p:cNvPr id="5" name="TextBox 4"/>
          <p:cNvSpPr txBox="1"/>
          <p:nvPr/>
        </p:nvSpPr>
        <p:spPr>
          <a:xfrm>
            <a:off x="950976" y="3675887"/>
            <a:ext cx="10250424" cy="603504"/>
          </a:xfrm>
          <a:prstGeom prst="rect">
            <a:avLst/>
          </a:prstGeom>
          <a:noFill/>
        </p:spPr>
        <p:txBody>
          <a:bodyPr wrap="square" lIns="18288" rIns="18288" tIns="9144" bIns="9144">
            <a:spAutoFit/>
          </a:bodyPr>
          <a:lstStyle/>
          <a:p>
            <a:pPr algn="ctr">
              <a:lnSpc>
                <a:spcPct val="110000"/>
              </a:lnSpc>
              <a:spcAft>
                <a:spcPts val="500"/>
              </a:spcAft>
            </a:pPr>
            <a:r>
              <a:rPr sz="2500" b="1" lang="zh-CN">
                <a:solidFill>
                  <a:srgbClr val="C9DFE8"/>
                </a:solidFill>
                <a:latin typeface="Microsoft YaHei"/>
                <a:ea typeface="Microsoft YaHei"/>
              </a:rPr>
              <a:t>理解有证据  ·  建议有语境  ·  沟通有尊重</a:t>
            </a:r>
          </a:p>
        </p:txBody>
      </p:sp>
      <p:sp>
        <p:nvSpPr>
          <p:cNvPr id="6" name="TextBox 5"/>
          <p:cNvSpPr txBox="1"/>
          <p:nvPr/>
        </p:nvSpPr>
        <p:spPr>
          <a:xfrm>
            <a:off x="941832" y="5294376"/>
            <a:ext cx="10259568" cy="438912"/>
          </a:xfrm>
          <a:prstGeom prst="rect">
            <a:avLst/>
          </a:prstGeom>
          <a:noFill/>
        </p:spPr>
        <p:txBody>
          <a:bodyPr wrap="square" lIns="18288" rIns="18288" tIns="9144" bIns="9144">
            <a:spAutoFit/>
          </a:bodyPr>
          <a:lstStyle/>
          <a:p>
            <a:pPr algn="ctr">
              <a:lnSpc>
                <a:spcPct val="110000"/>
              </a:lnSpc>
              <a:spcAft>
                <a:spcPts val="500"/>
              </a:spcAft>
            </a:pPr>
            <a:r>
              <a:rPr sz="2100" b="0" lang="zh-CN">
                <a:solidFill>
                  <a:srgbClr val="DBBD7B"/>
                </a:solidFill>
                <a:latin typeface="Microsoft YaHei"/>
                <a:ea typeface="Microsoft YaHei"/>
              </a:rPr>
              <a:t>感谢聆听  /  请批评指正</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4 Reading and Thinking — 说课与无生试讲</dc:title>
  <dc:subject>Listening to How Bodies Talk / 20 slides / 15-minute budget</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
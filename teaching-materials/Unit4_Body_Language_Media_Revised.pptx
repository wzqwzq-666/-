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4"/>
    <p:sldId id="260" r:id="rId5"/>
    <p:sldId id="263" r:id="rId6"/>
  </p:sldIdLst>
  <p:sldSz cx="1219136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microsoft.com/office/2007/relationships/media" Target="../media/media3.mp4"/><Relationship Id="rId7" Type="http://schemas.openxmlformats.org/officeDocument/2006/relationships/video" Target="../media/media3.mp4"/><Relationship Id="rId6" Type="http://schemas.openxmlformats.org/officeDocument/2006/relationships/image" Target="../media/image8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10.png"/><Relationship Id="rId11" Type="http://schemas.microsoft.com/office/2007/relationships/media" Target="../media/media4.mp4"/><Relationship Id="rId10" Type="http://schemas.openxmlformats.org/officeDocument/2006/relationships/video" Target="../media/media4.mp4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201168" y="0"/>
            <a:ext cx="11996928" cy="77724"/>
          </a:xfrm>
          <a:prstGeom prst="rect">
            <a:avLst/>
          </a:prstGeom>
          <a:solidFill>
            <a:srgbClr val="7533BB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文本1"/>
          <p:cNvSpPr txBox="1"/>
          <p:nvPr/>
        </p:nvSpPr>
        <p:spPr>
          <a:xfrm>
            <a:off x="266490" y="84896"/>
            <a:ext cx="9832086" cy="95580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000"/>
              </a:lnSpc>
            </a:pPr>
            <a:r>
              <a:rPr lang="zh-CN" altLang="en-US" sz="25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Let's enjoy a short video clip  and answer the following questions.</a:t>
            </a:r>
            <a:endParaRPr lang="zh-CN" altLang="en-US" sz="25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5" name="文本2"/>
          <p:cNvSpPr txBox="1"/>
          <p:nvPr/>
        </p:nvSpPr>
        <p:spPr>
          <a:xfrm>
            <a:off x="10676382" y="255778"/>
            <a:ext cx="976884" cy="784860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3400"/>
              </a:lnSpc>
            </a:pPr>
            <a:r>
              <a:rPr lang="zh-CN" altLang="en-US" sz="2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03</a:t>
            </a:r>
            <a:endParaRPr lang="zh-CN" altLang="en-US" sz="2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6" name="形状3"/>
          <p:cNvSpPr txBox="1"/>
          <p:nvPr/>
        </p:nvSpPr>
        <p:spPr>
          <a:xfrm>
            <a:off x="658368" y="6455664"/>
            <a:ext cx="10881360" cy="12801"/>
          </a:xfrm>
          <a:prstGeom prst="rect">
            <a:avLst/>
          </a:prstGeom>
          <a:solidFill>
            <a:srgbClr val="DBD3E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文本3"/>
          <p:cNvSpPr txBox="1"/>
          <p:nvPr/>
        </p:nvSpPr>
        <p:spPr>
          <a:xfrm>
            <a:off x="581406" y="6473698"/>
            <a:ext cx="4762500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UNIT 04  /  USING LANGUAGE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8" name="文本4"/>
          <p:cNvSpPr txBox="1"/>
          <p:nvPr/>
        </p:nvSpPr>
        <p:spPr>
          <a:xfrm>
            <a:off x="6460998" y="6473698"/>
            <a:ext cx="5155692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EXPLORE  ·  LISTEN  ·  CLARIFY  ·  PERFORM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9" name="形状4"/>
          <p:cNvSpPr txBox="1"/>
          <p:nvPr/>
        </p:nvSpPr>
        <p:spPr>
          <a:xfrm>
            <a:off x="658206" y="1251509"/>
            <a:ext cx="7461504" cy="4224528"/>
          </a:xfrm>
          <a:prstGeom prst="rect">
            <a:avLst/>
          </a:prstGeom>
          <a:solidFill>
            <a:srgbClr val="24112F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5"/>
          <p:cNvSpPr txBox="1"/>
          <p:nvPr/>
        </p:nvSpPr>
        <p:spPr>
          <a:xfrm>
            <a:off x="8541649" y="1574635"/>
            <a:ext cx="757428" cy="62941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000"/>
              </a:lnSpc>
            </a:pPr>
            <a:r>
              <a:rPr lang="zh-CN" altLang="en-US" sz="2500" b="1" i="0" dirty="0">
                <a:solidFill>
                  <a:srgbClr val="E46B54">
                    <a:alpha val="100000"/>
                  </a:srgbClr>
                </a:solidFill>
                <a:latin typeface="Aptos"/>
                <a:ea typeface="Aptos"/>
              </a:rPr>
              <a:t>01</a:t>
            </a:r>
            <a:endParaRPr lang="zh-CN" altLang="en-US" sz="2500" b="1" i="0" dirty="0">
              <a:solidFill>
                <a:srgbClr val="E46B54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1" name="文本6"/>
          <p:cNvSpPr txBox="1"/>
          <p:nvPr/>
        </p:nvSpPr>
        <p:spPr>
          <a:xfrm>
            <a:off x="9394355" y="1473260"/>
            <a:ext cx="2549652" cy="83334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500"/>
              </a:lnSpc>
            </a:pPr>
            <a:r>
              <a:rPr lang="zh-CN" altLang="en-US" sz="2100" b="1" i="0" dirty="0">
                <a:solidFill>
                  <a:srgbClr val="45206C">
                    <a:alpha val="100000"/>
                  </a:srgbClr>
                </a:solidFill>
                <a:latin typeface="Aptos"/>
                <a:ea typeface="Aptos"/>
              </a:rPr>
              <a:t>Which gestures can you see ?</a:t>
            </a:r>
            <a:endParaRPr lang="zh-CN" altLang="en-US" sz="2100" b="1" i="0" dirty="0">
              <a:solidFill>
                <a:srgbClr val="45206C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2" name="文本7"/>
          <p:cNvSpPr txBox="1"/>
          <p:nvPr/>
        </p:nvSpPr>
        <p:spPr>
          <a:xfrm>
            <a:off x="8541963" y="2993631"/>
            <a:ext cx="757428" cy="62941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000"/>
              </a:lnSpc>
            </a:pPr>
            <a:r>
              <a:rPr lang="zh-CN" altLang="en-US" sz="2500" b="1" i="0" dirty="0">
                <a:solidFill>
                  <a:srgbClr val="E46B54">
                    <a:alpha val="100000"/>
                  </a:srgbClr>
                </a:solidFill>
                <a:latin typeface="Aptos"/>
                <a:ea typeface="Aptos"/>
              </a:rPr>
              <a:t>02</a:t>
            </a:r>
            <a:endParaRPr lang="zh-CN" altLang="en-US" sz="2500" b="1" i="0" dirty="0">
              <a:solidFill>
                <a:srgbClr val="E46B54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3" name="文本8"/>
          <p:cNvSpPr txBox="1"/>
          <p:nvPr/>
        </p:nvSpPr>
        <p:spPr>
          <a:xfrm>
            <a:off x="9285751" y="2890952"/>
            <a:ext cx="2912193" cy="83334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500"/>
              </a:lnSpc>
            </a:pPr>
            <a:r>
              <a:rPr lang="zh-CN" altLang="en-US" sz="2100" b="1" i="0" dirty="0">
                <a:solidFill>
                  <a:srgbClr val="45206C">
                    <a:alpha val="100000"/>
                  </a:srgbClr>
                </a:solidFill>
                <a:latin typeface="Aptos"/>
                <a:ea typeface="Aptos"/>
              </a:rPr>
              <a:t>What do they have in common?</a:t>
            </a:r>
            <a:endParaRPr lang="zh-CN" altLang="en-US" sz="2100" b="1" i="0" dirty="0">
              <a:solidFill>
                <a:srgbClr val="45206C">
                  <a:alpha val="100000"/>
                </a:srgbClr>
              </a:solidFill>
              <a:latin typeface="Aptos"/>
              <a:ea typeface="Aptos"/>
            </a:endParaRPr>
          </a:p>
        </p:txBody>
      </p:sp>
      <p:pic>
        <p:nvPicPr>
          <p:cNvPr id="15" name="Video 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7406640" cy="4166235"/>
          </a:xfrm>
          <a:prstGeom prst="rect">
            <a:avLst/>
          </a:prstGeom>
        </p:spPr>
      </p:pic>
      <p:pic>
        <p:nvPicPr>
          <p:cNvPr id="14" name="视频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85800" y="1280160"/>
            <a:ext cx="7406640" cy="416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201168" y="0"/>
            <a:ext cx="11996928" cy="77724"/>
          </a:xfrm>
          <a:prstGeom prst="rect">
            <a:avLst/>
          </a:prstGeom>
          <a:solidFill>
            <a:srgbClr val="7533BB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658368" y="384048"/>
            <a:ext cx="1346073" cy="603790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2145954" y="424815"/>
            <a:ext cx="8822436" cy="615601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</a:p>
        </p:txBody>
      </p:sp>
      <p:sp>
        <p:nvSpPr>
          <p:cNvPr id="6" name="文本2"/>
          <p:cNvSpPr txBox="1"/>
          <p:nvPr/>
        </p:nvSpPr>
        <p:spPr>
          <a:xfrm>
            <a:off x="10676382" y="255778"/>
            <a:ext cx="976884" cy="784860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3400"/>
              </a:lnSpc>
            </a:pPr>
            <a:r>
              <a:rPr lang="zh-CN" altLang="en-US" sz="2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04</a:t>
            </a:r>
            <a:endParaRPr lang="zh-CN" altLang="en-US" sz="2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7" name="形状4"/>
          <p:cNvSpPr txBox="1"/>
          <p:nvPr/>
        </p:nvSpPr>
        <p:spPr>
          <a:xfrm>
            <a:off x="658368" y="6455664"/>
            <a:ext cx="10881360" cy="12801"/>
          </a:xfrm>
          <a:prstGeom prst="rect">
            <a:avLst/>
          </a:prstGeom>
          <a:solidFill>
            <a:srgbClr val="DBD3E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文本3"/>
          <p:cNvSpPr txBox="1"/>
          <p:nvPr/>
        </p:nvSpPr>
        <p:spPr>
          <a:xfrm>
            <a:off x="581406" y="6473698"/>
            <a:ext cx="4762500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UNIT 04  /  USING LANGUAGE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9" name="文本4"/>
          <p:cNvSpPr txBox="1"/>
          <p:nvPr/>
        </p:nvSpPr>
        <p:spPr>
          <a:xfrm>
            <a:off x="6460998" y="6473698"/>
            <a:ext cx="5155692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EXPLORE  ·  LISTEN  ·  CLARIFY  ·  PERFORM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0" name="形状5"/>
          <p:cNvSpPr txBox="1"/>
          <p:nvPr/>
        </p:nvSpPr>
        <p:spPr>
          <a:xfrm>
            <a:off x="592865" y="1211066"/>
            <a:ext cx="3493008" cy="3168796"/>
          </a:xfrm>
          <a:prstGeom prst="rect">
            <a:avLst/>
          </a:prstGeom>
          <a:solidFill>
            <a:srgbClr val="FFFFFF">
              <a:alpha val="100000"/>
            </a:srgbClr>
          </a:solidFill>
          <a:ln w="10160">
            <a:solidFill>
              <a:srgbClr val="DBD3E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1" name="图片1"/>
          <p:cNvPicPr>
            <a:picLocks noChangeAspect="1"/>
          </p:cNvPicPr>
          <p:nvPr/>
        </p:nvPicPr>
        <p:blipFill>
          <a:blip r:embed="rId1"/>
          <a:srcRect t="5135" b="5135"/>
          <a:stretch>
            <a:fillRect/>
          </a:stretch>
        </p:blipFill>
        <p:spPr>
          <a:xfrm>
            <a:off x="623154" y="1205713"/>
            <a:ext cx="3432753" cy="3080194"/>
          </a:xfrm>
          <a:prstGeom prst="rect">
            <a:avLst/>
          </a:prstGeom>
        </p:spPr>
      </p:pic>
      <p:sp>
        <p:nvSpPr>
          <p:cNvPr id="12" name="形状6"/>
          <p:cNvSpPr txBox="1"/>
          <p:nvPr/>
        </p:nvSpPr>
        <p:spPr>
          <a:xfrm>
            <a:off x="676894" y="4379843"/>
            <a:ext cx="3493008" cy="73152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文本5"/>
          <p:cNvSpPr txBox="1"/>
          <p:nvPr/>
        </p:nvSpPr>
        <p:spPr>
          <a:xfrm>
            <a:off x="755228" y="4457481"/>
            <a:ext cx="3336036" cy="68427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500"/>
              </a:lnSpc>
            </a:pPr>
            <a:r>
              <a:rPr lang="zh-CN" altLang="en-US" sz="21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Gesture / hand signal</a:t>
            </a:r>
            <a:endParaRPr lang="zh-CN" altLang="en-US" sz="21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4" name="文本6"/>
          <p:cNvSpPr txBox="1"/>
          <p:nvPr/>
        </p:nvSpPr>
        <p:spPr>
          <a:xfrm>
            <a:off x="755971" y="4777845"/>
            <a:ext cx="3336036" cy="67513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600"/>
              </a:lnSpc>
            </a:pPr>
            <a:r>
              <a:rPr lang="zh-CN" altLang="en-US" sz="14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Hands communicate a message.</a:t>
            </a:r>
            <a:endParaRPr lang="zh-CN" altLang="en-US" sz="14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5" name="形状7"/>
          <p:cNvSpPr txBox="1"/>
          <p:nvPr/>
        </p:nvSpPr>
        <p:spPr>
          <a:xfrm>
            <a:off x="4361650" y="1210742"/>
            <a:ext cx="3493008" cy="3242024"/>
          </a:xfrm>
          <a:prstGeom prst="rect">
            <a:avLst/>
          </a:prstGeom>
          <a:solidFill>
            <a:srgbClr val="FFFFFF">
              <a:alpha val="100000"/>
            </a:srgbClr>
          </a:solidFill>
          <a:ln w="10160">
            <a:solidFill>
              <a:srgbClr val="DBD3E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6" name="图片2"/>
          <p:cNvPicPr>
            <a:picLocks noChangeAspect="1"/>
          </p:cNvPicPr>
          <p:nvPr/>
        </p:nvPicPr>
        <p:blipFill>
          <a:blip r:embed="rId2"/>
          <a:srcRect t="4059" b="4059"/>
          <a:stretch>
            <a:fillRect/>
          </a:stretch>
        </p:blipFill>
        <p:spPr>
          <a:xfrm>
            <a:off x="4300699" y="1227182"/>
            <a:ext cx="3414189" cy="3137059"/>
          </a:xfrm>
          <a:prstGeom prst="rect">
            <a:avLst/>
          </a:prstGeom>
        </p:spPr>
      </p:pic>
      <p:sp>
        <p:nvSpPr>
          <p:cNvPr id="17" name="形状8"/>
          <p:cNvSpPr txBox="1"/>
          <p:nvPr/>
        </p:nvSpPr>
        <p:spPr>
          <a:xfrm>
            <a:off x="4301071" y="4380243"/>
            <a:ext cx="3493008" cy="73152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8" name="文本7"/>
          <p:cNvSpPr txBox="1"/>
          <p:nvPr/>
        </p:nvSpPr>
        <p:spPr>
          <a:xfrm>
            <a:off x="4532100" y="4457957"/>
            <a:ext cx="3336036" cy="68427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500"/>
              </a:lnSpc>
            </a:pPr>
            <a:r>
              <a:rPr lang="zh-CN" altLang="en-US" sz="21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Facial expression</a:t>
            </a:r>
            <a:endParaRPr lang="zh-CN" altLang="en-US" sz="21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9" name="文本8"/>
          <p:cNvSpPr txBox="1"/>
          <p:nvPr/>
        </p:nvSpPr>
        <p:spPr>
          <a:xfrm>
            <a:off x="4380195" y="4850473"/>
            <a:ext cx="3336036" cy="67513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600"/>
              </a:lnSpc>
            </a:pPr>
            <a:r>
              <a:rPr lang="zh-CN" altLang="en-US" sz="14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Faces communicate an emotion.</a:t>
            </a:r>
            <a:endParaRPr lang="zh-CN" altLang="en-US" sz="14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20" name="形状9"/>
          <p:cNvSpPr txBox="1"/>
          <p:nvPr/>
        </p:nvSpPr>
        <p:spPr>
          <a:xfrm>
            <a:off x="7907960" y="1211104"/>
            <a:ext cx="3493008" cy="3100340"/>
          </a:xfrm>
          <a:prstGeom prst="rect">
            <a:avLst/>
          </a:prstGeom>
          <a:solidFill>
            <a:srgbClr val="FFFFFF">
              <a:alpha val="100000"/>
            </a:srgbClr>
          </a:solidFill>
          <a:ln w="10160">
            <a:solidFill>
              <a:srgbClr val="DBD3E3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21" name="图片3"/>
          <p:cNvPicPr>
            <a:picLocks noChangeAspect="1"/>
          </p:cNvPicPr>
          <p:nvPr/>
        </p:nvPicPr>
        <p:blipFill>
          <a:blip r:embed="rId3"/>
          <a:srcRect t="4167" b="4167"/>
          <a:stretch>
            <a:fillRect/>
          </a:stretch>
        </p:blipFill>
        <p:spPr>
          <a:xfrm>
            <a:off x="7903921" y="1206036"/>
            <a:ext cx="3432715" cy="3146603"/>
          </a:xfrm>
          <a:prstGeom prst="rect">
            <a:avLst/>
          </a:prstGeom>
        </p:spPr>
      </p:pic>
      <p:sp>
        <p:nvSpPr>
          <p:cNvPr id="22" name="形状10"/>
          <p:cNvSpPr txBox="1"/>
          <p:nvPr/>
        </p:nvSpPr>
        <p:spPr>
          <a:xfrm>
            <a:off x="7874022" y="4380205"/>
            <a:ext cx="3493008" cy="73152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3" name="文本9"/>
          <p:cNvSpPr txBox="1"/>
          <p:nvPr/>
        </p:nvSpPr>
        <p:spPr>
          <a:xfrm>
            <a:off x="8125720" y="4457995"/>
            <a:ext cx="3336036" cy="68427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500"/>
              </a:lnSpc>
            </a:pPr>
            <a:r>
              <a:rPr lang="zh-CN" altLang="en-US" sz="21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Body posture</a:t>
            </a:r>
            <a:endParaRPr lang="zh-CN" altLang="en-US" sz="21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24" name="文本10"/>
          <p:cNvSpPr txBox="1"/>
          <p:nvPr/>
        </p:nvSpPr>
        <p:spPr>
          <a:xfrm>
            <a:off x="8070313" y="4850235"/>
            <a:ext cx="3336036" cy="67513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600"/>
              </a:lnSpc>
            </a:pPr>
            <a:r>
              <a:rPr lang="zh-CN" altLang="en-US" sz="14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The whole body communicates an attitude.</a:t>
            </a:r>
            <a:endParaRPr lang="zh-CN" altLang="en-US" sz="14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25" name="文本11"/>
          <p:cNvSpPr txBox="1"/>
          <p:nvPr/>
        </p:nvSpPr>
        <p:spPr>
          <a:xfrm>
            <a:off x="710136" y="307819"/>
            <a:ext cx="1244060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EBECFF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Step 1</a:t>
            </a:r>
            <a:endParaRPr lang="zh-CN" altLang="en-US" sz="3200" b="1" i="0" dirty="0">
              <a:solidFill>
                <a:srgbClr val="EBECFF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6" name="文本12"/>
          <p:cNvSpPr txBox="1"/>
          <p:nvPr/>
        </p:nvSpPr>
        <p:spPr>
          <a:xfrm>
            <a:off x="2145697" y="307858"/>
            <a:ext cx="2516248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6B0F99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Pre-listening</a:t>
            </a:r>
            <a:endParaRPr lang="zh-CN" altLang="en-US" sz="3200" b="1" i="0" dirty="0">
              <a:solidFill>
                <a:srgbClr val="6B0F99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  <p:grpSp>
        <p:nvGrpSpPr>
          <p:cNvPr id="27" name="组合1"/>
          <p:cNvGrpSpPr/>
          <p:nvPr/>
        </p:nvGrpSpPr>
        <p:grpSpPr>
          <a:xfrm>
            <a:off x="5910050" y="1690376"/>
            <a:ext cx="276999" cy="7336713"/>
            <a:chOff x="0" y="0"/>
            <a:chExt cx="276999" cy="7336713"/>
          </a:xfrm>
        </p:grpSpPr>
        <p:sp>
          <p:nvSpPr>
            <p:cNvPr id="28" name="形状11"/>
            <p:cNvSpPr txBox="1"/>
            <p:nvPr/>
          </p:nvSpPr>
          <p:spPr>
            <a:xfrm rot="5400000">
              <a:off x="0" y="0"/>
              <a:ext cx="276999" cy="7336713"/>
            </a:xfrm>
            <a:prstGeom prst="rightBracket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8323B3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9" name="形状12"/>
            <p:cNvSpPr txBox="1"/>
            <p:nvPr/>
          </p:nvSpPr>
          <p:spPr>
            <a:xfrm flipH="1">
              <a:off x="138498" y="3544796"/>
              <a:ext cx="31750" cy="468000"/>
            </a:xfrm>
            <a:prstGeom prst="line">
              <a:avLst/>
            </a:prstGeom>
            <a:solidFill>
              <a:srgbClr val="FFFFFF">
                <a:alpha val="0"/>
              </a:srgbClr>
            </a:solidFill>
            <a:ln w="31750">
              <a:solidFill>
                <a:srgbClr val="8323B3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30" name="文本13"/>
          <p:cNvSpPr txBox="1"/>
          <p:nvPr/>
        </p:nvSpPr>
        <p:spPr>
          <a:xfrm>
            <a:off x="4661306" y="5372586"/>
            <a:ext cx="2936098" cy="1170081"/>
          </a:xfrm>
          <a:prstGeom prst="rect">
            <a:avLst/>
          </a:prstGeom>
          <a:noFill/>
        </p:spPr>
        <p:txBody>
          <a:bodyPr anchor="ctr"/>
          <a:lstStyle/>
          <a:p>
            <a:pPr marL="0" algn="r">
              <a:lnSpc>
                <a:spcPts val="3800"/>
              </a:lnSpc>
            </a:pPr>
            <a:r>
              <a:rPr lang="zh-CN" altLang="en-US" sz="3200" b="1" i="0" dirty="0">
                <a:solidFill>
                  <a:srgbClr val="6B0F99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body language</a:t>
            </a:r>
            <a:endParaRPr lang="zh-CN" altLang="en-US" sz="3200" b="1" i="0" dirty="0">
              <a:solidFill>
                <a:srgbClr val="6B0F99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201168" y="0"/>
            <a:ext cx="11996928" cy="77724"/>
          </a:xfrm>
          <a:prstGeom prst="rect">
            <a:avLst/>
          </a:prstGeom>
          <a:solidFill>
            <a:srgbClr val="7533BB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465982" y="305572"/>
            <a:ext cx="1236536" cy="466268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454619" y="228638"/>
            <a:ext cx="1258919" cy="619125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</a:p>
        </p:txBody>
      </p:sp>
      <p:sp>
        <p:nvSpPr>
          <p:cNvPr id="6" name="文本2"/>
          <p:cNvSpPr txBox="1"/>
          <p:nvPr/>
        </p:nvSpPr>
        <p:spPr>
          <a:xfrm>
            <a:off x="10676382" y="255778"/>
            <a:ext cx="976884" cy="784860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3400"/>
              </a:lnSpc>
            </a:pPr>
            <a:r>
              <a:rPr lang="zh-CN" altLang="en-US" sz="2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05</a:t>
            </a:r>
            <a:endParaRPr lang="zh-CN" altLang="en-US" sz="2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7" name="文本3"/>
          <p:cNvSpPr txBox="1"/>
          <p:nvPr/>
        </p:nvSpPr>
        <p:spPr>
          <a:xfrm>
            <a:off x="287503" y="1040416"/>
            <a:ext cx="11507343" cy="55784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6B0F99">
                    <a:alpha val="100000"/>
                  </a:srgbClr>
                </a:solidFill>
                <a:latin typeface="Aptos"/>
                <a:ea typeface="Aptos"/>
              </a:rPr>
              <a:t>Discuss when and where people need to use body language to communicate.</a:t>
            </a:r>
            <a:endParaRPr lang="zh-CN" altLang="en-US" sz="2400" b="1" i="0" dirty="0">
              <a:solidFill>
                <a:srgbClr val="6B0F99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8" name="形状4"/>
          <p:cNvSpPr txBox="1"/>
          <p:nvPr/>
        </p:nvSpPr>
        <p:spPr>
          <a:xfrm>
            <a:off x="658368" y="6455664"/>
            <a:ext cx="10881360" cy="12801"/>
          </a:xfrm>
          <a:prstGeom prst="rect">
            <a:avLst/>
          </a:prstGeom>
          <a:solidFill>
            <a:srgbClr val="DBD3E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4"/>
          <p:cNvSpPr txBox="1"/>
          <p:nvPr/>
        </p:nvSpPr>
        <p:spPr>
          <a:xfrm>
            <a:off x="581406" y="6473698"/>
            <a:ext cx="4762500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UNIT 04  /  USING LANGUAGE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0" name="文本5"/>
          <p:cNvSpPr txBox="1"/>
          <p:nvPr/>
        </p:nvSpPr>
        <p:spPr>
          <a:xfrm>
            <a:off x="6460998" y="6473698"/>
            <a:ext cx="5155692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EXPLORE  ·  LISTEN  ·  CLARIFY  ·  PERFORM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1" name="形状5"/>
          <p:cNvSpPr txBox="1"/>
          <p:nvPr/>
        </p:nvSpPr>
        <p:spPr>
          <a:xfrm>
            <a:off x="731520" y="2670048"/>
            <a:ext cx="3529584" cy="2029968"/>
          </a:xfrm>
          <a:prstGeom prst="rect">
            <a:avLst/>
          </a:prstGeom>
          <a:solidFill>
            <a:srgbClr val="24112F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2" name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724912"/>
            <a:ext cx="3419856" cy="1923669"/>
          </a:xfrm>
          <a:prstGeom prst="rect">
            <a:avLst/>
          </a:prstGeom>
        </p:spPr>
      </p:pic>
      <p:sp>
        <p:nvSpPr>
          <p:cNvPr id="13" name="形状6"/>
          <p:cNvSpPr txBox="1"/>
          <p:nvPr/>
        </p:nvSpPr>
        <p:spPr>
          <a:xfrm>
            <a:off x="4407408" y="2670048"/>
            <a:ext cx="3529584" cy="2029968"/>
          </a:xfrm>
          <a:prstGeom prst="rect">
            <a:avLst/>
          </a:prstGeom>
          <a:solidFill>
            <a:srgbClr val="24112F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4" name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724912"/>
            <a:ext cx="3419856" cy="1923669"/>
          </a:xfrm>
          <a:prstGeom prst="rect">
            <a:avLst/>
          </a:prstGeom>
        </p:spPr>
      </p:pic>
      <p:sp>
        <p:nvSpPr>
          <p:cNvPr id="15" name="形状7"/>
          <p:cNvSpPr txBox="1"/>
          <p:nvPr/>
        </p:nvSpPr>
        <p:spPr>
          <a:xfrm>
            <a:off x="8083296" y="2670048"/>
            <a:ext cx="3529584" cy="2029968"/>
          </a:xfrm>
          <a:prstGeom prst="rect">
            <a:avLst/>
          </a:prstGeom>
          <a:solidFill>
            <a:srgbClr val="24112F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16" name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24912"/>
            <a:ext cx="3419856" cy="1923669"/>
          </a:xfrm>
          <a:prstGeom prst="rect">
            <a:avLst/>
          </a:prstGeom>
        </p:spPr>
      </p:pic>
      <p:sp>
        <p:nvSpPr>
          <p:cNvPr id="17" name="文本6"/>
          <p:cNvSpPr txBox="1"/>
          <p:nvPr/>
        </p:nvSpPr>
        <p:spPr>
          <a:xfrm>
            <a:off x="722376" y="5020056"/>
            <a:ext cx="3566160" cy="95097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200"/>
              </a:lnSpc>
            </a:pPr>
            <a:r>
              <a:rPr lang="zh-CN" altLang="en-US" sz="1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Mr Bean’s</a:t>
            </a:r>
            <a:endParaRPr lang="zh-CN" altLang="en-US" sz="1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  <a:p>
            <a:pPr marL="0" algn="l">
              <a:lnSpc>
                <a:spcPts val="2200"/>
              </a:lnSpc>
            </a:pPr>
            <a:r>
              <a:rPr lang="zh-CN" altLang="en-US" sz="1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physical comedy</a:t>
            </a:r>
            <a:endParaRPr lang="zh-CN" altLang="en-US" sz="1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8" name="文本7"/>
          <p:cNvSpPr txBox="1"/>
          <p:nvPr/>
        </p:nvSpPr>
        <p:spPr>
          <a:xfrm>
            <a:off x="4416552" y="5020056"/>
            <a:ext cx="7168896" cy="95097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Body language in classic action films</a:t>
            </a:r>
            <a:endParaRPr lang="zh-CN" altLang="en-US" sz="24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pic>
        <p:nvPicPr>
          <p:cNvPr id="19" name="视频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6384" y="2724912"/>
            <a:ext cx="3419856" cy="1923669"/>
          </a:xfrm>
          <a:prstGeom prst="rect">
            <a:avLst/>
          </a:prstGeom>
        </p:spPr>
      </p:pic>
      <p:pic>
        <p:nvPicPr>
          <p:cNvPr id="20" name="视频2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462272" y="2724912"/>
            <a:ext cx="3419856" cy="1923669"/>
          </a:xfrm>
          <a:prstGeom prst="rect">
            <a:avLst/>
          </a:prstGeom>
        </p:spPr>
      </p:pic>
      <p:pic>
        <p:nvPicPr>
          <p:cNvPr id="21" name="视频3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138160" y="2724912"/>
            <a:ext cx="3419856" cy="1923669"/>
          </a:xfrm>
          <a:prstGeom prst="rect">
            <a:avLst/>
          </a:prstGeom>
        </p:spPr>
      </p:pic>
      <p:sp>
        <p:nvSpPr>
          <p:cNvPr id="22" name="文本8"/>
          <p:cNvSpPr txBox="1"/>
          <p:nvPr/>
        </p:nvSpPr>
        <p:spPr>
          <a:xfrm>
            <a:off x="462410" y="198587"/>
            <a:ext cx="1244060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EBECFF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Step 1</a:t>
            </a:r>
            <a:endParaRPr lang="zh-CN" altLang="en-US" sz="3200" b="1" i="0" dirty="0">
              <a:solidFill>
                <a:srgbClr val="EBECFF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3" name="文本9"/>
          <p:cNvSpPr txBox="1"/>
          <p:nvPr/>
        </p:nvSpPr>
        <p:spPr>
          <a:xfrm>
            <a:off x="1877692" y="255661"/>
            <a:ext cx="2316226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6B0F99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Pre-listening</a:t>
            </a:r>
            <a:endParaRPr lang="zh-CN" altLang="en-US" sz="3200" b="1" i="0" dirty="0">
              <a:solidFill>
                <a:srgbClr val="6B0F99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24" name="Film label"/>
          <p:cNvSpPr/>
          <p:nvPr/>
        </p:nvSpPr>
        <p:spPr>
          <a:xfrm>
            <a:off x="4462272" y="4718304"/>
            <a:ext cx="3419856" cy="310896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en-US" sz="1400" b="1">
                <a:solidFill>
                  <a:srgbClr val="7653B5"/>
                </a:solidFill>
                <a:latin typeface="Aptos"/>
              </a:rPr>
              <a:t>Kung Fu Hustle · 6 s</a:t>
            </a:r>
          </a:p>
        </p:txBody>
      </p:sp>
      <p:sp>
        <p:nvSpPr>
          <p:cNvPr id="25" name="Film label"/>
          <p:cNvSpPr/>
          <p:nvPr/>
        </p:nvSpPr>
        <p:spPr>
          <a:xfrm>
            <a:off x="8138160" y="4718304"/>
            <a:ext cx="3419856" cy="310896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lstStyle/>
          <a:p>
            <a:pPr algn="ctr"/>
            <a:r>
              <a:rPr lang="en-US" sz="1400" b="1">
                <a:solidFill>
                  <a:srgbClr val="7653B5"/>
                </a:solidFill>
                <a:latin typeface="Aptos"/>
              </a:rPr>
              <a:t>The Matrix · 6 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201168" y="0"/>
            <a:ext cx="11996928" cy="77724"/>
          </a:xfrm>
          <a:prstGeom prst="rect">
            <a:avLst/>
          </a:prstGeom>
          <a:solidFill>
            <a:srgbClr val="7533BB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493966" y="255803"/>
            <a:ext cx="1147839" cy="377571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文本1"/>
          <p:cNvSpPr txBox="1"/>
          <p:nvPr/>
        </p:nvSpPr>
        <p:spPr>
          <a:xfrm>
            <a:off x="506158" y="255441"/>
            <a:ext cx="1123188" cy="419100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</a:p>
        </p:txBody>
      </p:sp>
      <p:sp>
        <p:nvSpPr>
          <p:cNvPr id="6" name="文本2"/>
          <p:cNvSpPr txBox="1"/>
          <p:nvPr/>
        </p:nvSpPr>
        <p:spPr>
          <a:xfrm>
            <a:off x="10676382" y="255778"/>
            <a:ext cx="976884" cy="784860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3400"/>
              </a:lnSpc>
            </a:pPr>
            <a:r>
              <a:rPr lang="zh-CN" altLang="en-US" sz="2900" b="1" i="0" dirty="0">
                <a:solidFill>
                  <a:srgbClr val="7533BB">
                    <a:alpha val="100000"/>
                  </a:srgbClr>
                </a:solidFill>
                <a:latin typeface="Aptos"/>
                <a:ea typeface="Aptos"/>
              </a:rPr>
              <a:t>08</a:t>
            </a:r>
            <a:endParaRPr lang="zh-CN" altLang="en-US" sz="2900" b="1" i="0" dirty="0">
              <a:solidFill>
                <a:srgbClr val="7533BB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7" name="文本3"/>
          <p:cNvSpPr txBox="1"/>
          <p:nvPr/>
        </p:nvSpPr>
        <p:spPr>
          <a:xfrm>
            <a:off x="506158" y="1120997"/>
            <a:ext cx="10934700" cy="87630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000"/>
              </a:lnSpc>
            </a:pPr>
            <a:r>
              <a:rPr lang="zh-CN" altLang="en-US" sz="3400" b="1" i="0" dirty="0">
                <a:solidFill>
                  <a:srgbClr val="45206C">
                    <a:alpha val="100000"/>
                  </a:srgbClr>
                </a:solidFill>
                <a:latin typeface="Aptos"/>
                <a:ea typeface="Aptos"/>
              </a:rPr>
              <a:t>Read clues. Check your interpretation.</a:t>
            </a:r>
            <a:endParaRPr lang="zh-CN" altLang="en-US" sz="3400" b="1" i="0" dirty="0">
              <a:solidFill>
                <a:srgbClr val="45206C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8" name="形状4"/>
          <p:cNvSpPr txBox="1"/>
          <p:nvPr/>
        </p:nvSpPr>
        <p:spPr>
          <a:xfrm>
            <a:off x="658368" y="6455664"/>
            <a:ext cx="10881360" cy="12801"/>
          </a:xfrm>
          <a:prstGeom prst="rect">
            <a:avLst/>
          </a:prstGeom>
          <a:solidFill>
            <a:srgbClr val="DBD3E3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4"/>
          <p:cNvSpPr txBox="1"/>
          <p:nvPr/>
        </p:nvSpPr>
        <p:spPr>
          <a:xfrm>
            <a:off x="581406" y="6473698"/>
            <a:ext cx="4762500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UNIT 04  /  USING LANGUAGE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0" name="文本5"/>
          <p:cNvSpPr txBox="1"/>
          <p:nvPr/>
        </p:nvSpPr>
        <p:spPr>
          <a:xfrm>
            <a:off x="6460998" y="6473698"/>
            <a:ext cx="5155692" cy="328266"/>
          </a:xfrm>
          <a:prstGeom prst="rect">
            <a:avLst/>
          </a:prstGeom>
          <a:noFill/>
        </p:spPr>
        <p:txBody>
          <a:bodyPr anchor="t"/>
          <a:lstStyle/>
          <a:p>
            <a:pPr marL="0" algn="r">
              <a:lnSpc>
                <a:spcPts val="1000"/>
              </a:lnSpc>
            </a:pPr>
            <a:r>
              <a:rPr lang="zh-CN" altLang="en-US" sz="900" b="0" i="0" dirty="0">
                <a:solidFill>
                  <a:srgbClr val="776D83">
                    <a:alpha val="100000"/>
                  </a:srgbClr>
                </a:solidFill>
                <a:latin typeface="Aptos"/>
                <a:ea typeface="Aptos"/>
              </a:rPr>
              <a:t>EXPLORE  ·  LISTEN  ·  CLARIFY  ·  PERFORM</a:t>
            </a:r>
            <a:endParaRPr lang="zh-CN" altLang="en-US" sz="900" b="0" i="0" dirty="0">
              <a:solidFill>
                <a:srgbClr val="776D83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1" name="形状5"/>
          <p:cNvSpPr txBox="1"/>
          <p:nvPr/>
        </p:nvSpPr>
        <p:spPr>
          <a:xfrm>
            <a:off x="676656" y="1956816"/>
            <a:ext cx="7616952" cy="4315968"/>
          </a:xfrm>
          <a:prstGeom prst="rect">
            <a:avLst/>
          </a:prstGeom>
          <a:solidFill>
            <a:srgbClr val="24112F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文本6"/>
          <p:cNvSpPr txBox="1"/>
          <p:nvPr/>
        </p:nvSpPr>
        <p:spPr>
          <a:xfrm>
            <a:off x="8600570" y="1781156"/>
            <a:ext cx="3015996" cy="158953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200" b="1" i="0" dirty="0">
                <a:solidFill>
                  <a:srgbClr val="45206C">
                    <a:alpha val="100000"/>
                  </a:srgbClr>
                </a:solidFill>
                <a:latin typeface="Aptos"/>
                <a:ea typeface="Aptos"/>
              </a:rPr>
              <a:t>How can the investigator find out what happened?</a:t>
            </a:r>
            <a:endParaRPr lang="zh-CN" altLang="en-US" sz="2200" b="1" i="0" dirty="0">
              <a:solidFill>
                <a:srgbClr val="45206C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3" name="文本7"/>
          <p:cNvSpPr txBox="1"/>
          <p:nvPr/>
        </p:nvSpPr>
        <p:spPr>
          <a:xfrm>
            <a:off x="8691905" y="3127677"/>
            <a:ext cx="3015996" cy="146151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200" b="1" i="0" dirty="0">
                <a:solidFill>
                  <a:srgbClr val="45206C">
                    <a:alpha val="100000"/>
                  </a:srgbClr>
                </a:solidFill>
                <a:latin typeface="Aptos"/>
                <a:ea typeface="Aptos"/>
              </a:rPr>
              <a:t>What’s the function of body language in this process?</a:t>
            </a:r>
            <a:endParaRPr lang="zh-CN" altLang="en-US" sz="2200" b="1" i="0" dirty="0">
              <a:solidFill>
                <a:srgbClr val="45206C">
                  <a:alpha val="100000"/>
                </a:srgbClr>
              </a:solidFill>
              <a:latin typeface="Aptos"/>
              <a:ea typeface="Aptos"/>
            </a:endParaRPr>
          </a:p>
        </p:txBody>
      </p:sp>
      <p:sp>
        <p:nvSpPr>
          <p:cNvPr id="14" name="形状6"/>
          <p:cNvSpPr txBox="1"/>
          <p:nvPr/>
        </p:nvSpPr>
        <p:spPr>
          <a:xfrm>
            <a:off x="8695782" y="4787846"/>
            <a:ext cx="2843784" cy="905256"/>
          </a:xfrm>
          <a:prstGeom prst="rect">
            <a:avLst/>
          </a:prstGeom>
          <a:solidFill>
            <a:srgbClr val="E46B5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文本8"/>
          <p:cNvSpPr txBox="1"/>
          <p:nvPr/>
        </p:nvSpPr>
        <p:spPr>
          <a:xfrm>
            <a:off x="8914486" y="4758519"/>
            <a:ext cx="2906154" cy="96328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FFFFFF">
                    <a:alpha val="100000"/>
                  </a:srgbClr>
                </a:solidFill>
                <a:latin typeface="Aptos"/>
                <a:ea typeface="Aptos"/>
              </a:rPr>
              <a:t>Function 2</a:t>
            </a:r>
            <a:endParaRPr lang="zh-CN" altLang="en-US" sz="2400" b="1" i="0" dirty="0">
              <a:solidFill>
                <a:srgbClr val="FFFFFF">
                  <a:alpha val="100000"/>
                </a:srgbClr>
              </a:solidFill>
              <a:latin typeface="Aptos"/>
              <a:ea typeface="Aptos"/>
            </a:endParaRPr>
          </a:p>
          <a:p>
            <a:pPr marL="0" algn="l">
              <a:lnSpc>
                <a:spcPts val="2800"/>
              </a:lnSpc>
            </a:pPr>
            <a:r>
              <a:rPr lang="zh-CN" altLang="en-US" sz="2400" b="1" i="0" dirty="0">
                <a:solidFill>
                  <a:srgbClr val="FFFFFF">
                    <a:alpha val="100000"/>
                  </a:srgbClr>
                </a:solidFill>
                <a:latin typeface="Aptos"/>
                <a:ea typeface="Aptos"/>
              </a:rPr>
              <a:t>To Seek Truth</a:t>
            </a:r>
            <a:endParaRPr lang="zh-CN" altLang="en-US" sz="2400" b="1" i="0" dirty="0">
              <a:solidFill>
                <a:srgbClr val="FFFFFF">
                  <a:alpha val="100000"/>
                </a:srgbClr>
              </a:solidFill>
              <a:latin typeface="Aptos"/>
              <a:ea typeface="Aptos"/>
            </a:endParaRPr>
          </a:p>
        </p:txBody>
      </p:sp>
      <p:pic>
        <p:nvPicPr>
          <p:cNvPr id="19" name="Video p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93392"/>
            <a:ext cx="7543800" cy="4243388"/>
          </a:xfrm>
          <a:prstGeom prst="rect">
            <a:avLst/>
          </a:prstGeom>
        </p:spPr>
      </p:pic>
      <p:pic>
        <p:nvPicPr>
          <p:cNvPr id="16" name="视频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13232" y="1993392"/>
            <a:ext cx="7543800" cy="4243388"/>
          </a:xfrm>
          <a:prstGeom prst="rect">
            <a:avLst/>
          </a:prstGeom>
        </p:spPr>
      </p:pic>
      <p:sp>
        <p:nvSpPr>
          <p:cNvPr id="17" name="文本9"/>
          <p:cNvSpPr txBox="1"/>
          <p:nvPr/>
        </p:nvSpPr>
        <p:spPr>
          <a:xfrm>
            <a:off x="446465" y="104632"/>
            <a:ext cx="1244060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800"/>
              </a:lnSpc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Step 2</a:t>
            </a:r>
            <a:endParaRPr lang="zh-CN" altLang="en-US" sz="3200" b="1" i="0" dirty="0">
              <a:solidFill>
                <a:srgbClr val="FFFFFF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18" name="文本10"/>
          <p:cNvSpPr txBox="1"/>
          <p:nvPr/>
        </p:nvSpPr>
        <p:spPr>
          <a:xfrm>
            <a:off x="1894761" y="174727"/>
            <a:ext cx="2741486" cy="680293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800"/>
              </a:lnSpc>
            </a:pPr>
            <a:r>
              <a:rPr lang="zh-CN" altLang="en-US" sz="3200" b="1" i="0" dirty="0">
                <a:solidFill>
                  <a:srgbClr val="6B0F99">
                    <a:alpha val="100000"/>
                  </a:srgbClr>
                </a:solidFill>
                <a:latin typeface="Calibri" panose="020F0502020204030204"/>
                <a:ea typeface="Calibri" panose="020F0502020204030204"/>
              </a:rPr>
              <a:t>While-listening</a:t>
            </a:r>
            <a:endParaRPr lang="zh-CN" altLang="en-US" sz="3200" b="1" i="0" dirty="0">
              <a:solidFill>
                <a:srgbClr val="6B0F99">
                  <a:alpha val="100000"/>
                </a:srgbClr>
              </a:solidFill>
              <a:latin typeface="Calibri" panose="020F0502020204030204"/>
              <a:ea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bldLvl="0" animBg="1"/>
      <p:bldP spid="1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</Words>
  <Application>WPS 演示</Application>
  <PresentationFormat>宽屏</PresentationFormat>
  <Paragraphs>76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Aptos</vt:lpstr>
      <vt:lpstr>Segoe UI</vt:lpstr>
      <vt:lpstr>Calibri</vt:lpstr>
      <vt:lpstr>等线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已修改-Unit4 Body Language Using Language 文</dc:title>
  <dc:creator>王子奇</dc:creator>
  <cp:lastModifiedBy>administrator</cp:lastModifiedBy>
  <cp:revision>4</cp:revision>
  <dcterms:created xsi:type="dcterms:W3CDTF">2026-10-09T05:15:00Z</dcterms:created>
  <dcterms:modified xsi:type="dcterms:W3CDTF">2026-10-09T05:20:30Z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Name">
    <vt:lpwstr>EasiNote5</vt:lpwstr>
  </property>
  <property fmtid="{D5CDD505-2E9C-101B-9397-08002B2CF9AE}" pid="3" name="ApplicationVersion">
    <vt:lpwstr>5.2.4.9612</vt:lpwstr>
  </property>
  <property fmtid="{D5CDD505-2E9C-101B-9397-08002B2CF9AE}" pid="4" name="EasiNoteCoursewareInfo">
    <vt:lpwstr/>
  </property>
  <property fmtid="{D5CDD505-2E9C-101B-9397-08002B2CF9AE}" pid="5" name="EasiNoteDocumentName">
    <vt:lpwstr>已修改-Unit4 Body Language Using Language 文</vt:lpwstr>
  </property>
  <property fmtid="{D5CDD505-2E9C-101B-9397-08002B2CF9AE}" pid="6" name="EasiNoteAuthor">
    <vt:lpwstr>ynmqvhwwijxgqnirimrknh4432123511</vt:lpwstr>
  </property>
  <property fmtid="{D5CDD505-2E9C-101B-9397-08002B2CF9AE}" pid="7" name="EasiNoteUpstreamCoursewareInfo_0">
    <vt:lpwstr>0d1b7ff9-544f-4aa4-a135-f450857381bc</vt:lpwstr>
  </property>
  <property fmtid="{D5CDD505-2E9C-101B-9397-08002B2CF9AE}" pid="8" name="EasiNoteUpstreamCoursewareInfo_1">
    <vt:lpwstr>ea8cd0e0-5bed-4895-9c45-b325a8170a3e</vt:lpwstr>
  </property>
  <property fmtid="{D5CDD505-2E9C-101B-9397-08002B2CF9AE}" pid="9" name="KSOProductBuildVer">
    <vt:lpwstr>2052-12.1.0.28505</vt:lpwstr>
  </property>
</Properties>
</file>